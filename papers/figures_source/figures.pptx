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7" r:id="rId2"/>
    <p:sldId id="260" r:id="rId3"/>
    <p:sldId id="258" r:id="rId4"/>
    <p:sldId id="259" r:id="rId5"/>
    <p:sldId id="261" r:id="rId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47" userDrawn="1">
          <p15:clr>
            <a:srgbClr val="A4A3A4"/>
          </p15:clr>
        </p15:guide>
        <p15:guide id="2" pos="21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45" autoAdjust="0"/>
    <p:restoredTop sz="94660"/>
  </p:normalViewPr>
  <p:slideViewPr>
    <p:cSldViewPr snapToGrid="0" showGuides="1">
      <p:cViewPr>
        <p:scale>
          <a:sx n="123" d="100"/>
          <a:sy n="123" d="100"/>
        </p:scale>
        <p:origin x="2416" y="144"/>
      </p:cViewPr>
      <p:guideLst>
        <p:guide orient="horz" pos="3147"/>
        <p:guide pos="218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6518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16379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807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6831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4443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6070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27887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0251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174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1823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35487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342225" y="2246576"/>
            <a:ext cx="2943606" cy="6656522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3572100" y="2246576"/>
            <a:ext cx="2940300" cy="6656522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2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2026/1/27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342225" y="1118088"/>
            <a:ext cx="6172200" cy="792022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74325" y="3588281"/>
            <a:ext cx="5512050" cy="1471715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45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674325" y="5143203"/>
            <a:ext cx="5512050" cy="681253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18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3225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56" r:id="rId12"/>
    <p:sldLayoutId id="2147483658" r:id="rId13"/>
    <p:sldLayoutId id="2147483659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12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5" Type="http://schemas.openxmlformats.org/officeDocument/2006/relationships/image" Target="../media/image11.png"/><Relationship Id="rId10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14.png"/><Relationship Id="rId1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17" Type="http://schemas.openxmlformats.org/officeDocument/2006/relationships/image" Target="../media/image30.png"/><Relationship Id="rId2" Type="http://schemas.openxmlformats.org/officeDocument/2006/relationships/image" Target="../media/image15.png"/><Relationship Id="rId16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6B3EBAE-BCE5-9886-8F87-89D385722711}"/>
              </a:ext>
            </a:extLst>
          </p:cNvPr>
          <p:cNvGrpSpPr/>
          <p:nvPr/>
        </p:nvGrpSpPr>
        <p:grpSpPr>
          <a:xfrm>
            <a:off x="-456025" y="231984"/>
            <a:ext cx="7315412" cy="7003261"/>
            <a:chOff x="-456025" y="231984"/>
            <a:chExt cx="7315412" cy="7003261"/>
          </a:xfrm>
        </p:grpSpPr>
        <p:grpSp>
          <p:nvGrpSpPr>
            <p:cNvPr id="202" name="组合 201"/>
            <p:cNvGrpSpPr/>
            <p:nvPr/>
          </p:nvGrpSpPr>
          <p:grpSpPr>
            <a:xfrm>
              <a:off x="3542196" y="420967"/>
              <a:ext cx="3317191" cy="1744920"/>
              <a:chOff x="545" y="3376"/>
              <a:chExt cx="5225" cy="2749"/>
            </a:xfrm>
          </p:grpSpPr>
          <p:grpSp>
            <p:nvGrpSpPr>
              <p:cNvPr id="200" name="组合 199"/>
              <p:cNvGrpSpPr/>
              <p:nvPr/>
            </p:nvGrpSpPr>
            <p:grpSpPr>
              <a:xfrm>
                <a:off x="5074" y="3926"/>
                <a:ext cx="696" cy="1788"/>
                <a:chOff x="9318" y="5740"/>
                <a:chExt cx="696" cy="1788"/>
              </a:xfrm>
            </p:grpSpPr>
            <p:grpSp>
              <p:nvGrpSpPr>
                <p:cNvPr id="182" name="组合 181"/>
                <p:cNvGrpSpPr/>
                <p:nvPr/>
              </p:nvGrpSpPr>
              <p:grpSpPr>
                <a:xfrm>
                  <a:off x="9352" y="5740"/>
                  <a:ext cx="662" cy="1788"/>
                  <a:chOff x="9515" y="4321"/>
                  <a:chExt cx="631" cy="1789"/>
                </a:xfrm>
              </p:grpSpPr>
              <p:sp>
                <p:nvSpPr>
                  <p:cNvPr id="288" name="文本框 287"/>
                  <p:cNvSpPr txBox="1"/>
                  <p:nvPr/>
                </p:nvSpPr>
                <p:spPr>
                  <a:xfrm>
                    <a:off x="9520" y="4631"/>
                    <a:ext cx="624" cy="21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pPr algn="l"/>
                    <a:r>
                      <a:rPr lang="en-US" altLang="zh-CN" sz="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0.75</a:t>
                    </a:r>
                  </a:p>
                </p:txBody>
              </p:sp>
              <p:sp>
                <p:nvSpPr>
                  <p:cNvPr id="289" name="文本框 288"/>
                  <p:cNvSpPr txBox="1"/>
                  <p:nvPr/>
                </p:nvSpPr>
                <p:spPr>
                  <a:xfrm>
                    <a:off x="9520" y="4952"/>
                    <a:ext cx="624" cy="21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pPr algn="l"/>
                    <a:r>
                      <a:rPr lang="en-US" altLang="zh-CN" sz="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0.5</a:t>
                    </a:r>
                  </a:p>
                </p:txBody>
              </p:sp>
              <p:sp>
                <p:nvSpPr>
                  <p:cNvPr id="290" name="文本框 289"/>
                  <p:cNvSpPr txBox="1"/>
                  <p:nvPr/>
                </p:nvSpPr>
                <p:spPr>
                  <a:xfrm>
                    <a:off x="9515" y="5273"/>
                    <a:ext cx="624" cy="21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pPr algn="l"/>
                    <a:r>
                      <a:rPr lang="en-US" altLang="zh-CN" sz="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0.25</a:t>
                    </a:r>
                  </a:p>
                </p:txBody>
              </p:sp>
              <p:sp>
                <p:nvSpPr>
                  <p:cNvPr id="291" name="文本框 290"/>
                  <p:cNvSpPr txBox="1"/>
                  <p:nvPr/>
                </p:nvSpPr>
                <p:spPr>
                  <a:xfrm>
                    <a:off x="9522" y="5595"/>
                    <a:ext cx="624" cy="211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pPr algn="l"/>
                    <a:r>
                      <a:rPr lang="en-US" altLang="zh-CN" sz="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-1e-05</a:t>
                    </a:r>
                  </a:p>
                </p:txBody>
              </p:sp>
              <p:sp>
                <p:nvSpPr>
                  <p:cNvPr id="179" name="文本框 178"/>
                  <p:cNvSpPr txBox="1"/>
                  <p:nvPr/>
                </p:nvSpPr>
                <p:spPr>
                  <a:xfrm>
                    <a:off x="9520" y="4321"/>
                    <a:ext cx="624" cy="20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pPr algn="l"/>
                    <a:r>
                      <a:rPr lang="en-US" altLang="zh-CN" sz="6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</a:t>
                    </a:r>
                  </a:p>
                </p:txBody>
              </p:sp>
              <p:sp>
                <p:nvSpPr>
                  <p:cNvPr id="286" name="矩形 285"/>
                  <p:cNvSpPr/>
                  <p:nvPr/>
                </p:nvSpPr>
                <p:spPr>
                  <a:xfrm>
                    <a:off x="9525" y="5818"/>
                    <a:ext cx="285" cy="292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pic>
              <p:nvPicPr>
                <p:cNvPr id="178" name="图片 177"/>
                <p:cNvPicPr/>
                <p:nvPr/>
              </p:nvPicPr>
              <p:blipFill>
                <a:blip r:embed="rId2"/>
                <a:srcRect l="18039" t="-514"/>
                <a:stretch>
                  <a:fillRect/>
                </a:stretch>
              </p:blipFill>
              <p:spPr>
                <a:xfrm>
                  <a:off x="9318" y="5768"/>
                  <a:ext cx="170" cy="1474"/>
                </a:xfrm>
                <a:prstGeom prst="rect">
                  <a:avLst/>
                </a:prstGeom>
              </p:spPr>
            </p:pic>
          </p:grpSp>
          <p:grpSp>
            <p:nvGrpSpPr>
              <p:cNvPr id="362" name="组合 361"/>
              <p:cNvGrpSpPr/>
              <p:nvPr/>
            </p:nvGrpSpPr>
            <p:grpSpPr>
              <a:xfrm>
                <a:off x="545" y="4713"/>
                <a:ext cx="4467" cy="1412"/>
                <a:chOff x="5224" y="6037"/>
                <a:chExt cx="4469" cy="1413"/>
              </a:xfrm>
            </p:grpSpPr>
            <p:grpSp>
              <p:nvGrpSpPr>
                <p:cNvPr id="361" name="组合 360"/>
                <p:cNvGrpSpPr/>
                <p:nvPr/>
              </p:nvGrpSpPr>
              <p:grpSpPr>
                <a:xfrm>
                  <a:off x="5224" y="6174"/>
                  <a:ext cx="4469" cy="1276"/>
                  <a:chOff x="5224" y="6174"/>
                  <a:chExt cx="4469" cy="1276"/>
                </a:xfrm>
              </p:grpSpPr>
              <p:pic>
                <p:nvPicPr>
                  <p:cNvPr id="269" name="图片 268"/>
                  <p:cNvPicPr>
                    <a:picLocks noChangeAspect="1"/>
                  </p:cNvPicPr>
                  <p:nvPr/>
                </p:nvPicPr>
                <p:blipFill>
                  <a:blip r:embed="rId3"/>
                  <a:srcRect l="52206" t="9730" r="3796" b="66291"/>
                  <a:stretch>
                    <a:fillRect/>
                  </a:stretch>
                </p:blipFill>
                <p:spPr>
                  <a:xfrm>
                    <a:off x="5224" y="6174"/>
                    <a:ext cx="4469" cy="1276"/>
                  </a:xfrm>
                  <a:prstGeom prst="rect">
                    <a:avLst/>
                  </a:prstGeom>
                </p:spPr>
              </p:pic>
              <p:grpSp>
                <p:nvGrpSpPr>
                  <p:cNvPr id="313" name="组合 312"/>
                  <p:cNvGrpSpPr/>
                  <p:nvPr/>
                </p:nvGrpSpPr>
                <p:grpSpPr>
                  <a:xfrm>
                    <a:off x="6636" y="6310"/>
                    <a:ext cx="985" cy="213"/>
                    <a:chOff x="2873" y="8697"/>
                    <a:chExt cx="515" cy="120"/>
                  </a:xfrm>
                </p:grpSpPr>
                <p:sp>
                  <p:nvSpPr>
                    <p:cNvPr id="314" name="矩形 313"/>
                    <p:cNvSpPr/>
                    <p:nvPr/>
                  </p:nvSpPr>
                  <p:spPr>
                    <a:xfrm>
                      <a:off x="2873" y="8697"/>
                      <a:ext cx="120" cy="12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sz="600">
                          <a:solidFill>
                            <a:schemeClr val="tx1"/>
                          </a:solidFill>
                          <a:latin typeface="Calibri Light" panose="020F0302020204030204" charset="0"/>
                          <a:cs typeface="Calibri Light" panose="020F0302020204030204" charset="0"/>
                        </a:rPr>
                        <a:t>L</a:t>
                      </a:r>
                    </a:p>
                  </p:txBody>
                </p:sp>
                <p:sp>
                  <p:nvSpPr>
                    <p:cNvPr id="315" name="矩形 314"/>
                    <p:cNvSpPr/>
                    <p:nvPr/>
                  </p:nvSpPr>
                  <p:spPr>
                    <a:xfrm>
                      <a:off x="3268" y="8697"/>
                      <a:ext cx="120" cy="12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sz="600">
                          <a:solidFill>
                            <a:schemeClr val="tx1"/>
                          </a:solidFill>
                          <a:latin typeface="Calibri Light" panose="020F0302020204030204" charset="0"/>
                          <a:cs typeface="Calibri Light" panose="020F0302020204030204" charset="0"/>
                        </a:rPr>
                        <a:t>R</a:t>
                      </a:r>
                    </a:p>
                  </p:txBody>
                </p:sp>
              </p:grpSp>
              <p:grpSp>
                <p:nvGrpSpPr>
                  <p:cNvPr id="319" name="组合 318"/>
                  <p:cNvGrpSpPr/>
                  <p:nvPr/>
                </p:nvGrpSpPr>
                <p:grpSpPr>
                  <a:xfrm>
                    <a:off x="8724" y="6269"/>
                    <a:ext cx="963" cy="216"/>
                    <a:chOff x="3950" y="8681"/>
                    <a:chExt cx="503" cy="122"/>
                  </a:xfrm>
                </p:grpSpPr>
                <p:sp>
                  <p:nvSpPr>
                    <p:cNvPr id="320" name="矩形 319"/>
                    <p:cNvSpPr/>
                    <p:nvPr/>
                  </p:nvSpPr>
                  <p:spPr>
                    <a:xfrm>
                      <a:off x="3950" y="8683"/>
                      <a:ext cx="120" cy="12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sz="600">
                          <a:solidFill>
                            <a:schemeClr val="tx1"/>
                          </a:solidFill>
                          <a:latin typeface="Calibri Light" panose="020F0302020204030204" charset="0"/>
                          <a:cs typeface="Calibri Light" panose="020F0302020204030204" charset="0"/>
                        </a:rPr>
                        <a:t>L</a:t>
                      </a:r>
                    </a:p>
                  </p:txBody>
                </p:sp>
                <p:sp>
                  <p:nvSpPr>
                    <p:cNvPr id="321" name="矩形 320"/>
                    <p:cNvSpPr/>
                    <p:nvPr/>
                  </p:nvSpPr>
                  <p:spPr>
                    <a:xfrm>
                      <a:off x="4333" y="8681"/>
                      <a:ext cx="120" cy="12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sz="600">
                          <a:solidFill>
                            <a:schemeClr val="tx1"/>
                          </a:solidFill>
                          <a:latin typeface="Calibri Light" panose="020F0302020204030204" charset="0"/>
                          <a:cs typeface="Calibri Light" panose="020F0302020204030204" charset="0"/>
                        </a:rPr>
                        <a:t>R</a:t>
                      </a:r>
                    </a:p>
                  </p:txBody>
                </p:sp>
              </p:grpSp>
            </p:grpSp>
            <p:sp>
              <p:nvSpPr>
                <p:cNvPr id="270" name="文本框 269"/>
                <p:cNvSpPr txBox="1"/>
                <p:nvPr/>
              </p:nvSpPr>
              <p:spPr>
                <a:xfrm>
                  <a:off x="5784" y="6037"/>
                  <a:ext cx="3875" cy="271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B.Low-Efficiency Group (Diffuse Activation)</a:t>
                  </a:r>
                </a:p>
              </p:txBody>
            </p:sp>
          </p:grpSp>
          <p:grpSp>
            <p:nvGrpSpPr>
              <p:cNvPr id="120" name="组合 119"/>
              <p:cNvGrpSpPr/>
              <p:nvPr/>
            </p:nvGrpSpPr>
            <p:grpSpPr>
              <a:xfrm>
                <a:off x="639" y="3376"/>
                <a:ext cx="4404" cy="1415"/>
                <a:chOff x="5754" y="4328"/>
                <a:chExt cx="4404" cy="1415"/>
              </a:xfrm>
            </p:grpSpPr>
            <p:grpSp>
              <p:nvGrpSpPr>
                <p:cNvPr id="351" name="组合 350"/>
                <p:cNvGrpSpPr/>
                <p:nvPr/>
              </p:nvGrpSpPr>
              <p:grpSpPr>
                <a:xfrm>
                  <a:off x="5754" y="4328"/>
                  <a:ext cx="4404" cy="1415"/>
                  <a:chOff x="6505" y="6390"/>
                  <a:chExt cx="2880" cy="1186"/>
                </a:xfrm>
              </p:grpSpPr>
              <p:pic>
                <p:nvPicPr>
                  <p:cNvPr id="347" name="图片 346"/>
                  <p:cNvPicPr>
                    <a:picLocks noChangeAspect="1"/>
                  </p:cNvPicPr>
                  <p:nvPr/>
                </p:nvPicPr>
                <p:blipFill>
                  <a:blip r:embed="rId3"/>
                  <a:srcRect l="-985" t="7582" r="57786" b="65756"/>
                  <a:stretch>
                    <a:fillRect/>
                  </a:stretch>
                </p:blipFill>
                <p:spPr>
                  <a:xfrm>
                    <a:off x="6505" y="6390"/>
                    <a:ext cx="2869" cy="1186"/>
                  </a:xfrm>
                  <a:prstGeom prst="rect">
                    <a:avLst/>
                  </a:prstGeom>
                </p:spPr>
              </p:pic>
              <p:grpSp>
                <p:nvGrpSpPr>
                  <p:cNvPr id="310" name="组合 309"/>
                  <p:cNvGrpSpPr/>
                  <p:nvPr/>
                </p:nvGrpSpPr>
                <p:grpSpPr>
                  <a:xfrm>
                    <a:off x="7335" y="6614"/>
                    <a:ext cx="685" cy="178"/>
                    <a:chOff x="2824" y="8562"/>
                    <a:chExt cx="547" cy="120"/>
                  </a:xfrm>
                </p:grpSpPr>
                <p:sp>
                  <p:nvSpPr>
                    <p:cNvPr id="311" name="矩形 310"/>
                    <p:cNvSpPr/>
                    <p:nvPr/>
                  </p:nvSpPr>
                  <p:spPr>
                    <a:xfrm>
                      <a:off x="2824" y="8562"/>
                      <a:ext cx="120" cy="12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sz="600">
                          <a:solidFill>
                            <a:schemeClr val="tx1"/>
                          </a:solidFill>
                          <a:latin typeface="Calibri Light" panose="020F0302020204030204" charset="0"/>
                          <a:cs typeface="Calibri Light" panose="020F0302020204030204" charset="0"/>
                        </a:rPr>
                        <a:t>L</a:t>
                      </a:r>
                    </a:p>
                  </p:txBody>
                </p:sp>
                <p:sp>
                  <p:nvSpPr>
                    <p:cNvPr id="312" name="矩形 311"/>
                    <p:cNvSpPr/>
                    <p:nvPr/>
                  </p:nvSpPr>
                  <p:spPr>
                    <a:xfrm>
                      <a:off x="3251" y="8562"/>
                      <a:ext cx="120" cy="12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sz="600">
                          <a:solidFill>
                            <a:schemeClr val="tx1"/>
                          </a:solidFill>
                          <a:latin typeface="Calibri Light" panose="020F0302020204030204" charset="0"/>
                          <a:cs typeface="Calibri Light" panose="020F0302020204030204" charset="0"/>
                        </a:rPr>
                        <a:t>R</a:t>
                      </a:r>
                    </a:p>
                  </p:txBody>
                </p:sp>
              </p:grpSp>
              <p:grpSp>
                <p:nvGrpSpPr>
                  <p:cNvPr id="348" name="组合 347"/>
                  <p:cNvGrpSpPr/>
                  <p:nvPr/>
                </p:nvGrpSpPr>
                <p:grpSpPr>
                  <a:xfrm>
                    <a:off x="8758" y="6556"/>
                    <a:ext cx="627" cy="178"/>
                    <a:chOff x="3933" y="8534"/>
                    <a:chExt cx="501" cy="120"/>
                  </a:xfrm>
                </p:grpSpPr>
                <p:sp>
                  <p:nvSpPr>
                    <p:cNvPr id="349" name="矩形 348"/>
                    <p:cNvSpPr/>
                    <p:nvPr/>
                  </p:nvSpPr>
                  <p:spPr>
                    <a:xfrm>
                      <a:off x="3933" y="8534"/>
                      <a:ext cx="120" cy="12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sz="600">
                          <a:solidFill>
                            <a:schemeClr val="tx1"/>
                          </a:solidFill>
                          <a:latin typeface="Calibri Light" panose="020F0302020204030204" charset="0"/>
                          <a:cs typeface="Calibri Light" panose="020F0302020204030204" charset="0"/>
                        </a:rPr>
                        <a:t>L</a:t>
                      </a:r>
                    </a:p>
                  </p:txBody>
                </p:sp>
                <p:sp>
                  <p:nvSpPr>
                    <p:cNvPr id="350" name="矩形 349"/>
                    <p:cNvSpPr/>
                    <p:nvPr/>
                  </p:nvSpPr>
                  <p:spPr>
                    <a:xfrm>
                      <a:off x="4314" y="8534"/>
                      <a:ext cx="120" cy="12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altLang="zh-CN" sz="600">
                          <a:solidFill>
                            <a:schemeClr val="tx1"/>
                          </a:solidFill>
                          <a:latin typeface="Calibri Light" panose="020F0302020204030204" charset="0"/>
                          <a:cs typeface="Calibri Light" panose="020F0302020204030204" charset="0"/>
                        </a:rPr>
                        <a:t>R</a:t>
                      </a:r>
                    </a:p>
                  </p:txBody>
                </p:sp>
              </p:grpSp>
            </p:grpSp>
            <p:sp>
              <p:nvSpPr>
                <p:cNvPr id="271" name="文本框 270"/>
                <p:cNvSpPr txBox="1"/>
                <p:nvPr/>
              </p:nvSpPr>
              <p:spPr>
                <a:xfrm>
                  <a:off x="6549" y="4332"/>
                  <a:ext cx="3216" cy="271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A.High-Efficiency Group (Sparser Activation)</a:t>
                  </a:r>
                </a:p>
              </p:txBody>
            </p:sp>
          </p:grpSp>
        </p:grpSp>
        <p:grpSp>
          <p:nvGrpSpPr>
            <p:cNvPr id="375" name="组合 374"/>
            <p:cNvGrpSpPr/>
            <p:nvPr/>
          </p:nvGrpSpPr>
          <p:grpSpPr>
            <a:xfrm>
              <a:off x="-92804" y="402099"/>
              <a:ext cx="3902613" cy="1765029"/>
              <a:chOff x="-174" y="3211"/>
              <a:chExt cx="6149" cy="2781"/>
            </a:xfrm>
          </p:grpSpPr>
          <p:grpSp>
            <p:nvGrpSpPr>
              <p:cNvPr id="43" name="组合 42"/>
              <p:cNvGrpSpPr/>
              <p:nvPr/>
            </p:nvGrpSpPr>
            <p:grpSpPr>
              <a:xfrm>
                <a:off x="-174" y="3211"/>
                <a:ext cx="4105" cy="2747"/>
                <a:chOff x="1039" y="7881"/>
                <a:chExt cx="4105" cy="2747"/>
              </a:xfrm>
            </p:grpSpPr>
            <p:pic>
              <p:nvPicPr>
                <p:cNvPr id="67" name="图片 66"/>
                <p:cNvPicPr>
                  <a:picLocks noChangeAspect="1"/>
                </p:cNvPicPr>
                <p:nvPr/>
              </p:nvPicPr>
              <p:blipFill>
                <a:blip r:embed="rId4"/>
                <a:srcRect l="7409" t="12263" r="54621" b="9946"/>
                <a:stretch>
                  <a:fillRect/>
                </a:stretch>
              </p:blipFill>
              <p:spPr>
                <a:xfrm>
                  <a:off x="1631" y="8117"/>
                  <a:ext cx="2313" cy="2324"/>
                </a:xfrm>
                <a:custGeom>
                  <a:avLst/>
                  <a:gdLst>
                    <a:gd name="csX0" fmla="*/ 681551 w 1359380"/>
                    <a:gd name="csY0" fmla="*/ 0 h 1366826"/>
                    <a:gd name="csX1" fmla="*/ 1349255 w 1359380"/>
                    <a:gd name="csY1" fmla="*/ 545682 h 1366826"/>
                    <a:gd name="csX2" fmla="*/ 1359380 w 1359380"/>
                    <a:gd name="csY2" fmla="*/ 646391 h 1366826"/>
                    <a:gd name="csX3" fmla="*/ 1314802 w 1359380"/>
                    <a:gd name="csY3" fmla="*/ 646391 h 1366826"/>
                    <a:gd name="csX4" fmla="*/ 1314802 w 1359380"/>
                    <a:gd name="csY4" fmla="*/ 683413 h 1366826"/>
                    <a:gd name="csX5" fmla="*/ 1313070 w 1359380"/>
                    <a:gd name="csY5" fmla="*/ 683413 h 1366826"/>
                    <a:gd name="csX6" fmla="*/ 1313070 w 1359380"/>
                    <a:gd name="csY6" fmla="*/ 729132 h 1366826"/>
                    <a:gd name="csX7" fmla="*/ 1358506 w 1359380"/>
                    <a:gd name="csY7" fmla="*/ 729132 h 1366826"/>
                    <a:gd name="csX8" fmla="*/ 1349255 w 1359380"/>
                    <a:gd name="csY8" fmla="*/ 821145 h 1366826"/>
                    <a:gd name="csX9" fmla="*/ 681551 w 1359380"/>
                    <a:gd name="csY9" fmla="*/ 1366826 h 1366826"/>
                    <a:gd name="csX10" fmla="*/ 0 w 1359380"/>
                    <a:gd name="csY10" fmla="*/ 683413 h 1366826"/>
                    <a:gd name="csX11" fmla="*/ 681551 w 1359380"/>
                    <a:gd name="csY11" fmla="*/ 0 h 136682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</a:cxnLst>
                  <a:rect l="l" t="t" r="r" b="b"/>
                  <a:pathLst>
                    <a:path w="1359380" h="1366826">
                      <a:moveTo>
                        <a:pt x="681551" y="0"/>
                      </a:moveTo>
                      <a:cubicBezTo>
                        <a:pt x="1010910" y="0"/>
                        <a:pt x="1285703" y="234262"/>
                        <a:pt x="1349255" y="545682"/>
                      </a:cubicBezTo>
                      <a:lnTo>
                        <a:pt x="1359380" y="646391"/>
                      </a:lnTo>
                      <a:lnTo>
                        <a:pt x="1314802" y="646391"/>
                      </a:lnTo>
                      <a:lnTo>
                        <a:pt x="1314802" y="683413"/>
                      </a:lnTo>
                      <a:lnTo>
                        <a:pt x="1313070" y="683413"/>
                      </a:lnTo>
                      <a:lnTo>
                        <a:pt x="1313070" y="729132"/>
                      </a:lnTo>
                      <a:lnTo>
                        <a:pt x="1358506" y="729132"/>
                      </a:lnTo>
                      <a:lnTo>
                        <a:pt x="1349255" y="821145"/>
                      </a:lnTo>
                      <a:cubicBezTo>
                        <a:pt x="1285703" y="1132565"/>
                        <a:pt x="1010910" y="1366826"/>
                        <a:pt x="681551" y="1366826"/>
                      </a:cubicBezTo>
                      <a:cubicBezTo>
                        <a:pt x="305141" y="1366826"/>
                        <a:pt x="0" y="1060852"/>
                        <a:pt x="0" y="683413"/>
                      </a:cubicBezTo>
                      <a:cubicBezTo>
                        <a:pt x="0" y="305974"/>
                        <a:pt x="305141" y="0"/>
                        <a:pt x="681551" y="0"/>
                      </a:cubicBezTo>
                      <a:close/>
                    </a:path>
                  </a:pathLst>
                </a:custGeom>
              </p:spPr>
            </p:pic>
            <p:sp>
              <p:nvSpPr>
                <p:cNvPr id="68" name="文本框 67"/>
                <p:cNvSpPr txBox="1"/>
                <p:nvPr/>
              </p:nvSpPr>
              <p:spPr>
                <a:xfrm>
                  <a:off x="1039" y="8479"/>
                  <a:ext cx="852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Social </a:t>
                  </a:r>
                </a:p>
                <a:p>
                  <a:pPr algn="ct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Cognition</a:t>
                  </a:r>
                </a:p>
              </p:txBody>
            </p:sp>
            <p:sp>
              <p:nvSpPr>
                <p:cNvPr id="69" name="文本框 68"/>
                <p:cNvSpPr txBox="1"/>
                <p:nvPr/>
              </p:nvSpPr>
              <p:spPr>
                <a:xfrm>
                  <a:off x="1113" y="9668"/>
                  <a:ext cx="840" cy="34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Relational </a:t>
                  </a:r>
                </a:p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Processing</a:t>
                  </a:r>
                </a:p>
              </p:txBody>
            </p:sp>
            <p:sp>
              <p:nvSpPr>
                <p:cNvPr id="70" name="文本框 69"/>
                <p:cNvSpPr txBox="1"/>
                <p:nvPr/>
              </p:nvSpPr>
              <p:spPr>
                <a:xfrm>
                  <a:off x="2138" y="10339"/>
                  <a:ext cx="804" cy="2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Emotion</a:t>
                  </a:r>
                </a:p>
              </p:txBody>
            </p:sp>
            <p:sp>
              <p:nvSpPr>
                <p:cNvPr id="71" name="文本框 70"/>
                <p:cNvSpPr txBox="1"/>
                <p:nvPr/>
              </p:nvSpPr>
              <p:spPr>
                <a:xfrm>
                  <a:off x="3224" y="10068"/>
                  <a:ext cx="842" cy="2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Gambling</a:t>
                  </a:r>
                </a:p>
              </p:txBody>
            </p:sp>
            <p:sp>
              <p:nvSpPr>
                <p:cNvPr id="72" name="文本框 71"/>
                <p:cNvSpPr txBox="1"/>
                <p:nvPr/>
              </p:nvSpPr>
              <p:spPr>
                <a:xfrm>
                  <a:off x="3715" y="9072"/>
                  <a:ext cx="729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Working</a:t>
                  </a:r>
                </a:p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Memory</a:t>
                  </a:r>
                </a:p>
                <a:p>
                  <a:endPara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6" name="文本框 75"/>
                <p:cNvSpPr txBox="1"/>
                <p:nvPr/>
              </p:nvSpPr>
              <p:spPr>
                <a:xfrm>
                  <a:off x="1897" y="8088"/>
                  <a:ext cx="850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Language</a:t>
                  </a:r>
                </a:p>
              </p:txBody>
            </p:sp>
            <p:sp>
              <p:nvSpPr>
                <p:cNvPr id="79" name="文本框 78"/>
                <p:cNvSpPr txBox="1"/>
                <p:nvPr/>
              </p:nvSpPr>
              <p:spPr>
                <a:xfrm>
                  <a:off x="1602" y="7881"/>
                  <a:ext cx="2160" cy="17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7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Composite Sparsity by rask</a:t>
                  </a:r>
                </a:p>
              </p:txBody>
            </p:sp>
            <p:grpSp>
              <p:nvGrpSpPr>
                <p:cNvPr id="42" name="组合 41"/>
                <p:cNvGrpSpPr/>
                <p:nvPr/>
              </p:nvGrpSpPr>
              <p:grpSpPr>
                <a:xfrm>
                  <a:off x="3336" y="7892"/>
                  <a:ext cx="1808" cy="305"/>
                  <a:chOff x="3336" y="7892"/>
                  <a:chExt cx="1808" cy="305"/>
                </a:xfrm>
              </p:grpSpPr>
              <p:sp>
                <p:nvSpPr>
                  <p:cNvPr id="74" name="文本框 73"/>
                  <p:cNvSpPr txBox="1"/>
                  <p:nvPr/>
                </p:nvSpPr>
                <p:spPr>
                  <a:xfrm>
                    <a:off x="3529" y="7932"/>
                    <a:ext cx="1615" cy="134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High Efficiency</a:t>
                    </a:r>
                  </a:p>
                </p:txBody>
              </p:sp>
              <p:sp>
                <p:nvSpPr>
                  <p:cNvPr id="41" name="文本框 40"/>
                  <p:cNvSpPr txBox="1"/>
                  <p:nvPr/>
                </p:nvSpPr>
                <p:spPr>
                  <a:xfrm>
                    <a:off x="3529" y="8051"/>
                    <a:ext cx="1238" cy="13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Low Efficiency</a:t>
                    </a:r>
                  </a:p>
                </p:txBody>
              </p:sp>
              <p:pic>
                <p:nvPicPr>
                  <p:cNvPr id="75" name="图片 74"/>
                  <p:cNvPicPr/>
                  <p:nvPr/>
                </p:nvPicPr>
                <p:blipFill>
                  <a:blip r:embed="rId4"/>
                  <a:srcRect l="45456" t="14481" r="50991" b="78265"/>
                  <a:stretch>
                    <a:fillRect/>
                  </a:stretch>
                </p:blipFill>
                <p:spPr>
                  <a:xfrm>
                    <a:off x="3336" y="7892"/>
                    <a:ext cx="319" cy="305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73" name="文本框 72"/>
                <p:cNvSpPr txBox="1"/>
                <p:nvPr/>
              </p:nvSpPr>
              <p:spPr>
                <a:xfrm>
                  <a:off x="3264" y="8221"/>
                  <a:ext cx="680" cy="28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Motor</a:t>
                  </a:r>
                </a:p>
              </p:txBody>
            </p:sp>
          </p:grpSp>
          <p:grpSp>
            <p:nvGrpSpPr>
              <p:cNvPr id="156" name="组合 155"/>
              <p:cNvGrpSpPr/>
              <p:nvPr/>
            </p:nvGrpSpPr>
            <p:grpSpPr>
              <a:xfrm>
                <a:off x="2352" y="3225"/>
                <a:ext cx="3623" cy="2767"/>
                <a:chOff x="7289" y="11931"/>
                <a:chExt cx="3623" cy="2767"/>
              </a:xfrm>
            </p:grpSpPr>
            <p:sp>
              <p:nvSpPr>
                <p:cNvPr id="7" name="文本框 6"/>
                <p:cNvSpPr txBox="1"/>
                <p:nvPr/>
              </p:nvSpPr>
              <p:spPr>
                <a:xfrm>
                  <a:off x="8529" y="11931"/>
                  <a:ext cx="2061" cy="17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7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Effect Size</a:t>
                  </a:r>
                  <a:r>
                    <a:rPr lang="zh-CN" altLang="en-US" sz="7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（</a:t>
                  </a:r>
                  <a:r>
                    <a:rPr lang="en-US" altLang="zh-CN" sz="7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Gini Coefficient</a:t>
                  </a:r>
                  <a:r>
                    <a:rPr lang="zh-CN" altLang="en-US" sz="7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）</a:t>
                  </a:r>
                </a:p>
              </p:txBody>
            </p:sp>
            <p:sp>
              <p:nvSpPr>
                <p:cNvPr id="18" name="文本框 17"/>
                <p:cNvSpPr txBox="1"/>
                <p:nvPr/>
              </p:nvSpPr>
              <p:spPr>
                <a:xfrm>
                  <a:off x="9144" y="14578"/>
                  <a:ext cx="908" cy="12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Cohen</a:t>
                  </a:r>
                  <a:r>
                    <a:rPr lang="zh-CN" altLang="en-US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‘</a:t>
                  </a:r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 d </a:t>
                  </a:r>
                </a:p>
              </p:txBody>
            </p:sp>
            <p:grpSp>
              <p:nvGrpSpPr>
                <p:cNvPr id="155" name="组合 154"/>
                <p:cNvGrpSpPr/>
                <p:nvPr/>
              </p:nvGrpSpPr>
              <p:grpSpPr>
                <a:xfrm>
                  <a:off x="7289" y="12308"/>
                  <a:ext cx="1361" cy="2062"/>
                  <a:chOff x="7289" y="12308"/>
                  <a:chExt cx="1361" cy="2062"/>
                </a:xfrm>
              </p:grpSpPr>
              <p:sp>
                <p:nvSpPr>
                  <p:cNvPr id="8" name="文本框 7"/>
                  <p:cNvSpPr txBox="1"/>
                  <p:nvPr/>
                </p:nvSpPr>
                <p:spPr>
                  <a:xfrm>
                    <a:off x="7743" y="12926"/>
                    <a:ext cx="907" cy="12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pPr algn="r"/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Relational </a:t>
                    </a:r>
                  </a:p>
                  <a:p>
                    <a:pPr algn="r"/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Processing</a:t>
                    </a:r>
                  </a:p>
                </p:txBody>
              </p:sp>
              <p:sp>
                <p:nvSpPr>
                  <p:cNvPr id="10" name="文本框 9"/>
                  <p:cNvSpPr txBox="1"/>
                  <p:nvPr/>
                </p:nvSpPr>
                <p:spPr>
                  <a:xfrm>
                    <a:off x="7289" y="12637"/>
                    <a:ext cx="1361" cy="12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pPr algn="r"/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Emotion</a:t>
                    </a:r>
                  </a:p>
                </p:txBody>
              </p:sp>
              <p:sp>
                <p:nvSpPr>
                  <p:cNvPr id="12" name="文本框 11"/>
                  <p:cNvSpPr txBox="1"/>
                  <p:nvPr/>
                </p:nvSpPr>
                <p:spPr>
                  <a:xfrm>
                    <a:off x="7289" y="12308"/>
                    <a:ext cx="1361" cy="128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pPr algn="r"/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Gambling</a:t>
                    </a:r>
                  </a:p>
                </p:txBody>
              </p:sp>
              <p:sp>
                <p:nvSpPr>
                  <p:cNvPr id="13" name="文本框 12"/>
                  <p:cNvSpPr txBox="1"/>
                  <p:nvPr/>
                </p:nvSpPr>
                <p:spPr>
                  <a:xfrm>
                    <a:off x="7289" y="13275"/>
                    <a:ext cx="1361" cy="12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pPr algn="r"/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Social </a:t>
                    </a:r>
                  </a:p>
                  <a:p>
                    <a:pPr algn="r"/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Cognition</a:t>
                    </a:r>
                  </a:p>
                </p:txBody>
              </p:sp>
              <p:sp>
                <p:nvSpPr>
                  <p:cNvPr id="14" name="文本框 13"/>
                  <p:cNvSpPr txBox="1"/>
                  <p:nvPr/>
                </p:nvSpPr>
                <p:spPr>
                  <a:xfrm>
                    <a:off x="7289" y="13584"/>
                    <a:ext cx="1361" cy="12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pPr algn="r"/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Language</a:t>
                    </a:r>
                  </a:p>
                </p:txBody>
              </p:sp>
              <p:sp>
                <p:nvSpPr>
                  <p:cNvPr id="15" name="文本框 14"/>
                  <p:cNvSpPr txBox="1"/>
                  <p:nvPr/>
                </p:nvSpPr>
                <p:spPr>
                  <a:xfrm>
                    <a:off x="7289" y="13903"/>
                    <a:ext cx="1361" cy="12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pPr algn="r"/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Motor</a:t>
                    </a:r>
                  </a:p>
                </p:txBody>
              </p:sp>
              <p:sp>
                <p:nvSpPr>
                  <p:cNvPr id="16" name="文本框 15"/>
                  <p:cNvSpPr txBox="1"/>
                  <p:nvPr/>
                </p:nvSpPr>
                <p:spPr>
                  <a:xfrm>
                    <a:off x="7289" y="14220"/>
                    <a:ext cx="1361" cy="15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pPr algn="r"/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Working </a:t>
                    </a:r>
                  </a:p>
                  <a:p>
                    <a:pPr algn="r"/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Memory</a:t>
                    </a:r>
                  </a:p>
                </p:txBody>
              </p:sp>
            </p:grpSp>
            <p:grpSp>
              <p:nvGrpSpPr>
                <p:cNvPr id="154" name="组合 153"/>
                <p:cNvGrpSpPr/>
                <p:nvPr/>
              </p:nvGrpSpPr>
              <p:grpSpPr>
                <a:xfrm>
                  <a:off x="8511" y="12143"/>
                  <a:ext cx="2401" cy="2381"/>
                  <a:chOff x="8511" y="12143"/>
                  <a:chExt cx="2401" cy="2381"/>
                </a:xfrm>
              </p:grpSpPr>
              <p:pic>
                <p:nvPicPr>
                  <p:cNvPr id="45" name="图片 44"/>
                  <p:cNvPicPr>
                    <a:picLocks noChangeAspect="1"/>
                  </p:cNvPicPr>
                  <p:nvPr/>
                </p:nvPicPr>
                <p:blipFill>
                  <a:blip r:embed="rId5"/>
                  <a:srcRect t="715"/>
                  <a:stretch>
                    <a:fillRect/>
                  </a:stretch>
                </p:blipFill>
                <p:spPr>
                  <a:xfrm>
                    <a:off x="8511" y="12143"/>
                    <a:ext cx="2095" cy="2381"/>
                  </a:xfrm>
                  <a:prstGeom prst="rect">
                    <a:avLst/>
                  </a:prstGeom>
                </p:spPr>
              </p:pic>
              <p:grpSp>
                <p:nvGrpSpPr>
                  <p:cNvPr id="56" name="组合 55"/>
                  <p:cNvGrpSpPr/>
                  <p:nvPr/>
                </p:nvGrpSpPr>
                <p:grpSpPr>
                  <a:xfrm>
                    <a:off x="9598" y="12322"/>
                    <a:ext cx="624" cy="120"/>
                    <a:chOff x="7214" y="8391"/>
                    <a:chExt cx="624" cy="120"/>
                  </a:xfrm>
                </p:grpSpPr>
                <p:sp>
                  <p:nvSpPr>
                    <p:cNvPr id="55" name="矩形 54"/>
                    <p:cNvSpPr/>
                    <p:nvPr/>
                  </p:nvSpPr>
                  <p:spPr>
                    <a:xfrm>
                      <a:off x="7346" y="8391"/>
                      <a:ext cx="300" cy="12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1" name="文本框 50"/>
                    <p:cNvSpPr txBox="1"/>
                    <p:nvPr/>
                  </p:nvSpPr>
                  <p:spPr>
                    <a:xfrm>
                      <a:off x="7214" y="8416"/>
                      <a:ext cx="624" cy="5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 anchorCtr="0">
                      <a:noAutofit/>
                    </a:bodyPr>
                    <a:lstStyle/>
                    <a:p>
                      <a:r>
                        <a:rPr lang="en-US" altLang="zh-CN" sz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d=0.66</a:t>
                      </a:r>
                    </a:p>
                  </p:txBody>
                </p:sp>
              </p:grpSp>
              <p:grpSp>
                <p:nvGrpSpPr>
                  <p:cNvPr id="57" name="组合 56"/>
                  <p:cNvGrpSpPr/>
                  <p:nvPr/>
                </p:nvGrpSpPr>
                <p:grpSpPr>
                  <a:xfrm>
                    <a:off x="9511" y="12637"/>
                    <a:ext cx="624" cy="120"/>
                    <a:chOff x="7214" y="8391"/>
                    <a:chExt cx="624" cy="120"/>
                  </a:xfrm>
                </p:grpSpPr>
                <p:sp>
                  <p:nvSpPr>
                    <p:cNvPr id="58" name="矩形 57"/>
                    <p:cNvSpPr/>
                    <p:nvPr/>
                  </p:nvSpPr>
                  <p:spPr>
                    <a:xfrm>
                      <a:off x="7346" y="8391"/>
                      <a:ext cx="300" cy="12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59" name="文本框 58"/>
                    <p:cNvSpPr txBox="1"/>
                    <p:nvPr/>
                  </p:nvSpPr>
                  <p:spPr>
                    <a:xfrm>
                      <a:off x="7214" y="8416"/>
                      <a:ext cx="624" cy="5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 anchorCtr="0">
                      <a:noAutofit/>
                    </a:bodyPr>
                    <a:lstStyle/>
                    <a:p>
                      <a:r>
                        <a:rPr lang="en-US" altLang="zh-CN" sz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d=0.38</a:t>
                      </a:r>
                    </a:p>
                  </p:txBody>
                </p:sp>
              </p:grpSp>
              <p:grpSp>
                <p:nvGrpSpPr>
                  <p:cNvPr id="60" name="组合 59"/>
                  <p:cNvGrpSpPr/>
                  <p:nvPr/>
                </p:nvGrpSpPr>
                <p:grpSpPr>
                  <a:xfrm>
                    <a:off x="8944" y="12964"/>
                    <a:ext cx="679" cy="120"/>
                    <a:chOff x="7209" y="8391"/>
                    <a:chExt cx="679" cy="120"/>
                  </a:xfrm>
                </p:grpSpPr>
                <p:sp>
                  <p:nvSpPr>
                    <p:cNvPr id="61" name="矩形 60"/>
                    <p:cNvSpPr/>
                    <p:nvPr/>
                  </p:nvSpPr>
                  <p:spPr>
                    <a:xfrm>
                      <a:off x="7346" y="8391"/>
                      <a:ext cx="394" cy="12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2" name="文本框 61"/>
                    <p:cNvSpPr txBox="1"/>
                    <p:nvPr/>
                  </p:nvSpPr>
                  <p:spPr>
                    <a:xfrm>
                      <a:off x="7209" y="8416"/>
                      <a:ext cx="679" cy="5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 anchorCtr="0">
                      <a:noAutofit/>
                    </a:bodyPr>
                    <a:lstStyle/>
                    <a:p>
                      <a:r>
                        <a:rPr lang="en-US" altLang="zh-CN" sz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d=</a:t>
                      </a:r>
                      <a:r>
                        <a:rPr lang="zh-CN" altLang="en-US" sz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﹣</a:t>
                      </a:r>
                      <a:r>
                        <a:rPr lang="en-US" altLang="zh-CN" sz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0.06</a:t>
                      </a:r>
                    </a:p>
                  </p:txBody>
                </p:sp>
              </p:grpSp>
              <p:grpSp>
                <p:nvGrpSpPr>
                  <p:cNvPr id="63" name="组合 62"/>
                  <p:cNvGrpSpPr/>
                  <p:nvPr/>
                </p:nvGrpSpPr>
                <p:grpSpPr>
                  <a:xfrm>
                    <a:off x="9490" y="13277"/>
                    <a:ext cx="624" cy="120"/>
                    <a:chOff x="7214" y="8391"/>
                    <a:chExt cx="624" cy="120"/>
                  </a:xfrm>
                </p:grpSpPr>
                <p:sp>
                  <p:nvSpPr>
                    <p:cNvPr id="64" name="矩形 63"/>
                    <p:cNvSpPr/>
                    <p:nvPr/>
                  </p:nvSpPr>
                  <p:spPr>
                    <a:xfrm>
                      <a:off x="7346" y="8391"/>
                      <a:ext cx="300" cy="12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65" name="文本框 64"/>
                    <p:cNvSpPr txBox="1"/>
                    <p:nvPr/>
                  </p:nvSpPr>
                  <p:spPr>
                    <a:xfrm>
                      <a:off x="7214" y="8416"/>
                      <a:ext cx="624" cy="5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 anchorCtr="0">
                      <a:noAutofit/>
                    </a:bodyPr>
                    <a:lstStyle/>
                    <a:p>
                      <a:r>
                        <a:rPr lang="en-US" altLang="zh-CN" sz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d=0.33</a:t>
                      </a:r>
                    </a:p>
                  </p:txBody>
                </p:sp>
              </p:grpSp>
              <p:grpSp>
                <p:nvGrpSpPr>
                  <p:cNvPr id="82" name="组合 81"/>
                  <p:cNvGrpSpPr/>
                  <p:nvPr/>
                </p:nvGrpSpPr>
                <p:grpSpPr>
                  <a:xfrm>
                    <a:off x="8871" y="13601"/>
                    <a:ext cx="679" cy="120"/>
                    <a:chOff x="7214" y="8391"/>
                    <a:chExt cx="679" cy="120"/>
                  </a:xfrm>
                </p:grpSpPr>
                <p:sp>
                  <p:nvSpPr>
                    <p:cNvPr id="95" name="矩形 94"/>
                    <p:cNvSpPr/>
                    <p:nvPr/>
                  </p:nvSpPr>
                  <p:spPr>
                    <a:xfrm>
                      <a:off x="7346" y="8391"/>
                      <a:ext cx="394" cy="12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0" name="文本框 99"/>
                    <p:cNvSpPr txBox="1"/>
                    <p:nvPr/>
                  </p:nvSpPr>
                  <p:spPr>
                    <a:xfrm>
                      <a:off x="7214" y="8416"/>
                      <a:ext cx="679" cy="5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 anchorCtr="0">
                      <a:noAutofit/>
                    </a:bodyPr>
                    <a:lstStyle/>
                    <a:p>
                      <a:r>
                        <a:rPr lang="en-US" altLang="zh-CN" sz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d=</a:t>
                      </a:r>
                      <a:r>
                        <a:rPr lang="zh-CN" altLang="en-US" sz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﹣</a:t>
                      </a:r>
                      <a:r>
                        <a:rPr lang="en-US" altLang="zh-CN" sz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</a:t>
                      </a:r>
                    </a:p>
                  </p:txBody>
                </p:sp>
              </p:grpSp>
              <p:grpSp>
                <p:nvGrpSpPr>
                  <p:cNvPr id="103" name="组合 102"/>
                  <p:cNvGrpSpPr/>
                  <p:nvPr/>
                </p:nvGrpSpPr>
                <p:grpSpPr>
                  <a:xfrm>
                    <a:off x="9764" y="13921"/>
                    <a:ext cx="705" cy="120"/>
                    <a:chOff x="7214" y="8391"/>
                    <a:chExt cx="705" cy="120"/>
                  </a:xfrm>
                </p:grpSpPr>
                <p:sp>
                  <p:nvSpPr>
                    <p:cNvPr id="104" name="矩形 103"/>
                    <p:cNvSpPr/>
                    <p:nvPr/>
                  </p:nvSpPr>
                  <p:spPr>
                    <a:xfrm>
                      <a:off x="7346" y="8391"/>
                      <a:ext cx="300" cy="12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5" name="文本框 104"/>
                    <p:cNvSpPr txBox="1"/>
                    <p:nvPr/>
                  </p:nvSpPr>
                  <p:spPr>
                    <a:xfrm>
                      <a:off x="7214" y="8416"/>
                      <a:ext cx="705" cy="5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 anchorCtr="0">
                      <a:noAutofit/>
                    </a:bodyPr>
                    <a:lstStyle/>
                    <a:p>
                      <a:r>
                        <a:rPr lang="en-US" altLang="zh-CN" sz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d=1.18**</a:t>
                      </a:r>
                    </a:p>
                  </p:txBody>
                </p:sp>
              </p:grpSp>
              <p:grpSp>
                <p:nvGrpSpPr>
                  <p:cNvPr id="106" name="组合 105"/>
                  <p:cNvGrpSpPr/>
                  <p:nvPr/>
                </p:nvGrpSpPr>
                <p:grpSpPr>
                  <a:xfrm>
                    <a:off x="10207" y="14224"/>
                    <a:ext cx="705" cy="120"/>
                    <a:chOff x="7192" y="8391"/>
                    <a:chExt cx="705" cy="120"/>
                  </a:xfrm>
                </p:grpSpPr>
                <p:sp>
                  <p:nvSpPr>
                    <p:cNvPr id="107" name="矩形 106"/>
                    <p:cNvSpPr/>
                    <p:nvPr/>
                  </p:nvSpPr>
                  <p:spPr>
                    <a:xfrm>
                      <a:off x="7346" y="8391"/>
                      <a:ext cx="300" cy="12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108" name="文本框 107"/>
                    <p:cNvSpPr txBox="1"/>
                    <p:nvPr/>
                  </p:nvSpPr>
                  <p:spPr>
                    <a:xfrm>
                      <a:off x="7192" y="8424"/>
                      <a:ext cx="705" cy="5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 anchorCtr="0">
                      <a:noAutofit/>
                    </a:bodyPr>
                    <a:lstStyle/>
                    <a:p>
                      <a:r>
                        <a:rPr lang="en-US" altLang="zh-CN" sz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d=2.52**</a:t>
                      </a:r>
                    </a:p>
                  </p:txBody>
                </p:sp>
              </p:grpSp>
            </p:grpSp>
          </p:grpSp>
        </p:grpSp>
        <p:sp>
          <p:nvSpPr>
            <p:cNvPr id="368" name="文本框 367"/>
            <p:cNvSpPr txBox="1"/>
            <p:nvPr/>
          </p:nvSpPr>
          <p:spPr>
            <a:xfrm>
              <a:off x="56429" y="231984"/>
              <a:ext cx="359908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</a:t>
              </a:r>
            </a:p>
          </p:txBody>
        </p:sp>
        <p:sp>
          <p:nvSpPr>
            <p:cNvPr id="369" name="文本框 368"/>
            <p:cNvSpPr txBox="1"/>
            <p:nvPr/>
          </p:nvSpPr>
          <p:spPr>
            <a:xfrm>
              <a:off x="3463677" y="231984"/>
              <a:ext cx="359908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b</a:t>
              </a: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-111760" y="2365693"/>
              <a:ext cx="3774440" cy="1830070"/>
              <a:chOff x="-216" y="3723"/>
              <a:chExt cx="5944" cy="2882"/>
            </a:xfrm>
          </p:grpSpPr>
          <p:sp>
            <p:nvSpPr>
              <p:cNvPr id="52" name="文本框 51"/>
              <p:cNvSpPr txBox="1"/>
              <p:nvPr/>
            </p:nvSpPr>
            <p:spPr>
              <a:xfrm>
                <a:off x="5207" y="3896"/>
                <a:ext cx="521" cy="255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 defTabSz="493395">
                  <a:lnSpc>
                    <a:spcPts val="2200"/>
                  </a:lnSpc>
                </a:pPr>
                <a:r>
                  <a:rPr lang="en-US" altLang="zh-CN" sz="7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rPr>
                  <a:t>2</a:t>
                </a:r>
              </a:p>
              <a:p>
                <a:pPr algn="ctr" defTabSz="493395">
                  <a:lnSpc>
                    <a:spcPts val="2200"/>
                  </a:lnSpc>
                </a:pPr>
                <a:r>
                  <a:rPr lang="en-US" altLang="zh-CN" sz="7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rPr>
                  <a:t>1</a:t>
                </a:r>
              </a:p>
              <a:p>
                <a:pPr algn="ctr" defTabSz="493395">
                  <a:lnSpc>
                    <a:spcPts val="2200"/>
                  </a:lnSpc>
                </a:pPr>
                <a:r>
                  <a:rPr lang="en-US" altLang="zh-CN" sz="7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rPr>
                  <a:t>0</a:t>
                </a:r>
              </a:p>
              <a:p>
                <a:pPr algn="ctr" defTabSz="493395">
                  <a:lnSpc>
                    <a:spcPts val="2200"/>
                  </a:lnSpc>
                </a:pPr>
                <a:r>
                  <a:rPr lang="en-US" altLang="zh-CN" sz="7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rPr>
                  <a:t>-1</a:t>
                </a:r>
              </a:p>
              <a:p>
                <a:pPr algn="ctr" defTabSz="493395">
                  <a:lnSpc>
                    <a:spcPts val="2200"/>
                  </a:lnSpc>
                </a:pPr>
                <a:r>
                  <a:rPr lang="en-US" altLang="zh-CN" sz="7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rPr>
                  <a:t>-2</a:t>
                </a:r>
              </a:p>
            </p:txBody>
          </p:sp>
          <p:grpSp>
            <p:nvGrpSpPr>
              <p:cNvPr id="176" name="组合 175"/>
              <p:cNvGrpSpPr/>
              <p:nvPr/>
            </p:nvGrpSpPr>
            <p:grpSpPr>
              <a:xfrm>
                <a:off x="-216" y="4203"/>
                <a:ext cx="1345" cy="1874"/>
                <a:chOff x="-121" y="1540"/>
                <a:chExt cx="1346" cy="1875"/>
              </a:xfrm>
            </p:grpSpPr>
            <p:sp>
              <p:nvSpPr>
                <p:cNvPr id="89" name="文本框 88"/>
                <p:cNvSpPr txBox="1"/>
                <p:nvPr/>
              </p:nvSpPr>
              <p:spPr>
                <a:xfrm>
                  <a:off x="-121" y="3003"/>
                  <a:ext cx="1345" cy="157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RelationalProcessing</a:t>
                  </a:r>
                </a:p>
              </p:txBody>
            </p:sp>
            <p:sp>
              <p:nvSpPr>
                <p:cNvPr id="90" name="文本框 89"/>
                <p:cNvSpPr txBox="1"/>
                <p:nvPr/>
              </p:nvSpPr>
              <p:spPr>
                <a:xfrm>
                  <a:off x="34" y="1540"/>
                  <a:ext cx="1191" cy="12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Working Memory</a:t>
                  </a:r>
                </a:p>
              </p:txBody>
            </p:sp>
            <p:sp>
              <p:nvSpPr>
                <p:cNvPr id="91" name="文本框 90"/>
                <p:cNvSpPr txBox="1"/>
                <p:nvPr/>
              </p:nvSpPr>
              <p:spPr>
                <a:xfrm>
                  <a:off x="34" y="1840"/>
                  <a:ext cx="1191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Language</a:t>
                  </a:r>
                </a:p>
              </p:txBody>
            </p:sp>
            <p:sp>
              <p:nvSpPr>
                <p:cNvPr id="92" name="文本框 91"/>
                <p:cNvSpPr txBox="1"/>
                <p:nvPr/>
              </p:nvSpPr>
              <p:spPr>
                <a:xfrm>
                  <a:off x="29" y="2413"/>
                  <a:ext cx="1191" cy="12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Motor</a:t>
                  </a:r>
                </a:p>
              </p:txBody>
            </p:sp>
            <p:sp>
              <p:nvSpPr>
                <p:cNvPr id="93" name="文本框 92"/>
                <p:cNvSpPr txBox="1"/>
                <p:nvPr/>
              </p:nvSpPr>
              <p:spPr>
                <a:xfrm>
                  <a:off x="515" y="3295"/>
                  <a:ext cx="710" cy="12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Emotion</a:t>
                  </a:r>
                </a:p>
              </p:txBody>
            </p:sp>
            <p:sp>
              <p:nvSpPr>
                <p:cNvPr id="96" name="文本框 95"/>
                <p:cNvSpPr txBox="1"/>
                <p:nvPr/>
              </p:nvSpPr>
              <p:spPr>
                <a:xfrm>
                  <a:off x="29" y="2712"/>
                  <a:ext cx="1191" cy="12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Gambling</a:t>
                  </a:r>
                </a:p>
              </p:txBody>
            </p:sp>
            <p:sp>
              <p:nvSpPr>
                <p:cNvPr id="97" name="文本框 96"/>
                <p:cNvSpPr txBox="1"/>
                <p:nvPr/>
              </p:nvSpPr>
              <p:spPr>
                <a:xfrm>
                  <a:off x="33" y="2131"/>
                  <a:ext cx="1191" cy="12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Social Cognition</a:t>
                  </a:r>
                </a:p>
              </p:txBody>
            </p:sp>
          </p:grpSp>
          <p:pic>
            <p:nvPicPr>
              <p:cNvPr id="4" name="图片 3"/>
              <p:cNvPicPr/>
              <p:nvPr/>
            </p:nvPicPr>
            <p:blipFill>
              <a:blip r:embed="rId6"/>
              <a:srcRect l="574"/>
              <a:stretch>
                <a:fillRect/>
              </a:stretch>
            </p:blipFill>
            <p:spPr>
              <a:xfrm>
                <a:off x="1006" y="3787"/>
                <a:ext cx="4413" cy="2414"/>
              </a:xfrm>
              <a:prstGeom prst="rect">
                <a:avLst/>
              </a:prstGeom>
            </p:spPr>
          </p:pic>
          <p:sp>
            <p:nvSpPr>
              <p:cNvPr id="54" name="文本框 53"/>
              <p:cNvSpPr txBox="1"/>
              <p:nvPr/>
            </p:nvSpPr>
            <p:spPr>
              <a:xfrm>
                <a:off x="1106" y="3723"/>
                <a:ext cx="4420" cy="14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7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N=20 subjects × 7 tasks × 360 parcels, hierarchically clustered</a:t>
                </a:r>
              </a:p>
            </p:txBody>
          </p:sp>
          <p:sp>
            <p:nvSpPr>
              <p:cNvPr id="77" name="文本框 76"/>
              <p:cNvSpPr txBox="1"/>
              <p:nvPr/>
            </p:nvSpPr>
            <p:spPr>
              <a:xfrm>
                <a:off x="1859" y="6448"/>
                <a:ext cx="2502" cy="15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Brain Region</a:t>
                </a:r>
                <a:r>
                  <a:rPr lang="zh-CN" altLang="en-US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en-US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HCP-MMP</a:t>
                </a:r>
                <a:r>
                  <a:rPr lang="zh-CN" altLang="en-US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Atlas)</a:t>
                </a:r>
              </a:p>
            </p:txBody>
          </p:sp>
          <p:grpSp>
            <p:nvGrpSpPr>
              <p:cNvPr id="173" name="组合 172"/>
              <p:cNvGrpSpPr/>
              <p:nvPr/>
            </p:nvGrpSpPr>
            <p:grpSpPr>
              <a:xfrm>
                <a:off x="660" y="6194"/>
                <a:ext cx="4524" cy="199"/>
                <a:chOff x="1200" y="3530"/>
                <a:chExt cx="4526" cy="199"/>
              </a:xfrm>
            </p:grpSpPr>
            <p:sp>
              <p:nvSpPr>
                <p:cNvPr id="80" name="文本框 79"/>
                <p:cNvSpPr txBox="1"/>
                <p:nvPr/>
              </p:nvSpPr>
              <p:spPr>
                <a:xfrm rot="19980000">
                  <a:off x="1200" y="3572"/>
                  <a:ext cx="850" cy="157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 POS1</a:t>
                  </a:r>
                </a:p>
              </p:txBody>
            </p:sp>
            <p:sp>
              <p:nvSpPr>
                <p:cNvPr id="81" name="文本框 80"/>
                <p:cNvSpPr txBox="1"/>
                <p:nvPr/>
              </p:nvSpPr>
              <p:spPr>
                <a:xfrm rot="19980000">
                  <a:off x="1936" y="3532"/>
                  <a:ext cx="849" cy="157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 i6-8</a:t>
                  </a:r>
                </a:p>
              </p:txBody>
            </p:sp>
            <p:sp>
              <p:nvSpPr>
                <p:cNvPr id="83" name="文本框 82"/>
                <p:cNvSpPr txBox="1"/>
                <p:nvPr/>
              </p:nvSpPr>
              <p:spPr>
                <a:xfrm rot="19980000">
                  <a:off x="2671" y="3532"/>
                  <a:ext cx="849" cy="157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 5mv</a:t>
                  </a:r>
                </a:p>
              </p:txBody>
            </p:sp>
            <p:sp>
              <p:nvSpPr>
                <p:cNvPr id="84" name="文本框 83"/>
                <p:cNvSpPr txBox="1"/>
                <p:nvPr/>
              </p:nvSpPr>
              <p:spPr>
                <a:xfrm rot="19980000">
                  <a:off x="3407" y="3530"/>
                  <a:ext cx="849" cy="157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 VIP</a:t>
                  </a:r>
                </a:p>
              </p:txBody>
            </p:sp>
            <p:sp>
              <p:nvSpPr>
                <p:cNvPr id="85" name="文本框 84"/>
                <p:cNvSpPr txBox="1"/>
                <p:nvPr/>
              </p:nvSpPr>
              <p:spPr>
                <a:xfrm rot="19980000">
                  <a:off x="4142" y="3530"/>
                  <a:ext cx="849" cy="157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 IFJa</a:t>
                  </a:r>
                </a:p>
              </p:txBody>
            </p:sp>
            <p:sp>
              <p:nvSpPr>
                <p:cNvPr id="86" name="文本框 85"/>
                <p:cNvSpPr txBox="1"/>
                <p:nvPr/>
              </p:nvSpPr>
              <p:spPr>
                <a:xfrm rot="19980000">
                  <a:off x="4877" y="3538"/>
                  <a:ext cx="849" cy="157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 8Av</a:t>
                  </a:r>
                </a:p>
              </p:txBody>
            </p:sp>
          </p:grpSp>
          <p:sp>
            <p:nvSpPr>
              <p:cNvPr id="87" name="文本框 86"/>
              <p:cNvSpPr txBox="1"/>
              <p:nvPr/>
            </p:nvSpPr>
            <p:spPr>
              <a:xfrm rot="16200000">
                <a:off x="4653" y="5048"/>
                <a:ext cx="1878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Activation</a:t>
                </a:r>
                <a:r>
                  <a:rPr lang="zh-CN" altLang="en-US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en-US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z-score)</a:t>
                </a:r>
              </a:p>
            </p:txBody>
          </p:sp>
        </p:grpSp>
        <p:grpSp>
          <p:nvGrpSpPr>
            <p:cNvPr id="367" name="组合 366"/>
            <p:cNvGrpSpPr/>
            <p:nvPr/>
          </p:nvGrpSpPr>
          <p:grpSpPr>
            <a:xfrm>
              <a:off x="-456025" y="4242120"/>
              <a:ext cx="4167272" cy="2993125"/>
              <a:chOff x="4283" y="676"/>
              <a:chExt cx="6566" cy="4716"/>
            </a:xfrm>
          </p:grpSpPr>
          <p:pic>
            <p:nvPicPr>
              <p:cNvPr id="6" name="图片 5"/>
              <p:cNvPicPr>
                <a:picLocks noChangeAspect="1"/>
              </p:cNvPicPr>
              <p:nvPr/>
            </p:nvPicPr>
            <p:blipFill>
              <a:blip r:embed="rId7"/>
              <a:srcRect r="804"/>
              <a:stretch>
                <a:fillRect/>
              </a:stretch>
            </p:blipFill>
            <p:spPr>
              <a:xfrm>
                <a:off x="6063" y="676"/>
                <a:ext cx="4305" cy="3798"/>
              </a:xfrm>
              <a:prstGeom prst="rect">
                <a:avLst/>
              </a:prstGeom>
            </p:spPr>
          </p:pic>
          <p:grpSp>
            <p:nvGrpSpPr>
              <p:cNvPr id="366" name="组合 365"/>
              <p:cNvGrpSpPr/>
              <p:nvPr/>
            </p:nvGrpSpPr>
            <p:grpSpPr>
              <a:xfrm>
                <a:off x="10144" y="772"/>
                <a:ext cx="645" cy="3548"/>
                <a:chOff x="10144" y="772"/>
                <a:chExt cx="645" cy="3548"/>
              </a:xfrm>
            </p:grpSpPr>
            <p:sp>
              <p:nvSpPr>
                <p:cNvPr id="126" name="文本框 125"/>
                <p:cNvSpPr txBox="1"/>
                <p:nvPr/>
              </p:nvSpPr>
              <p:spPr>
                <a:xfrm>
                  <a:off x="10184" y="772"/>
                  <a:ext cx="567" cy="229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 defTabSz="493395">
                    <a:lnSpc>
                      <a:spcPts val="2000"/>
                    </a:lnSpc>
                  </a:pPr>
                  <a:r>
                    <a:rPr lang="en-US" altLang="zh-CN" sz="600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等线" panose="02010600030101010101" charset="-122"/>
                      <a:cs typeface="Times New Roman" panose="02020603050405020304" pitchFamily="18" charset="0"/>
                    </a:rPr>
                    <a:t>0.6</a:t>
                  </a:r>
                </a:p>
              </p:txBody>
            </p:sp>
            <p:sp>
              <p:nvSpPr>
                <p:cNvPr id="127" name="文本框 126"/>
                <p:cNvSpPr txBox="1"/>
                <p:nvPr/>
              </p:nvSpPr>
              <p:spPr>
                <a:xfrm>
                  <a:off x="10171" y="1414"/>
                  <a:ext cx="567" cy="26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 defTabSz="493395">
                    <a:lnSpc>
                      <a:spcPts val="2000"/>
                    </a:lnSpc>
                  </a:pPr>
                  <a:r>
                    <a:rPr lang="en-US" altLang="zh-CN" sz="600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等线" panose="02010600030101010101" charset="-122"/>
                      <a:cs typeface="Times New Roman" panose="02020603050405020304" pitchFamily="18" charset="0"/>
                    </a:rPr>
                    <a:t>0.4</a:t>
                  </a:r>
                </a:p>
              </p:txBody>
            </p:sp>
            <p:sp>
              <p:nvSpPr>
                <p:cNvPr id="128" name="文本框 127"/>
                <p:cNvSpPr txBox="1"/>
                <p:nvPr/>
              </p:nvSpPr>
              <p:spPr>
                <a:xfrm>
                  <a:off x="10178" y="2070"/>
                  <a:ext cx="567" cy="26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 defTabSz="493395">
                    <a:lnSpc>
                      <a:spcPts val="2000"/>
                    </a:lnSpc>
                  </a:pPr>
                  <a:r>
                    <a:rPr lang="en-US" altLang="zh-CN" sz="600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等线" panose="02010600030101010101" charset="-122"/>
                      <a:cs typeface="Times New Roman" panose="02020603050405020304" pitchFamily="18" charset="0"/>
                    </a:rPr>
                    <a:t>0.2</a:t>
                  </a:r>
                </a:p>
              </p:txBody>
            </p:sp>
            <p:sp>
              <p:nvSpPr>
                <p:cNvPr id="129" name="文本框 128"/>
                <p:cNvSpPr txBox="1"/>
                <p:nvPr/>
              </p:nvSpPr>
              <p:spPr>
                <a:xfrm>
                  <a:off x="10144" y="2743"/>
                  <a:ext cx="567" cy="26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 defTabSz="493395">
                    <a:lnSpc>
                      <a:spcPts val="2000"/>
                    </a:lnSpc>
                  </a:pPr>
                  <a:r>
                    <a:rPr lang="en-US" altLang="zh-CN" sz="600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等线" panose="02010600030101010101" charset="-122"/>
                      <a:cs typeface="Times New Roman" panose="02020603050405020304" pitchFamily="18" charset="0"/>
                    </a:rPr>
                    <a:t>0</a:t>
                  </a:r>
                </a:p>
              </p:txBody>
            </p:sp>
            <p:sp>
              <p:nvSpPr>
                <p:cNvPr id="130" name="文本框 129"/>
                <p:cNvSpPr txBox="1"/>
                <p:nvPr/>
              </p:nvSpPr>
              <p:spPr>
                <a:xfrm>
                  <a:off x="10209" y="3394"/>
                  <a:ext cx="567" cy="26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 defTabSz="493395">
                    <a:lnSpc>
                      <a:spcPts val="2000"/>
                    </a:lnSpc>
                  </a:pPr>
                  <a:r>
                    <a:rPr lang="en-US" altLang="zh-CN" sz="600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等线" panose="02010600030101010101" charset="-122"/>
                      <a:cs typeface="Times New Roman" panose="02020603050405020304" pitchFamily="18" charset="0"/>
                    </a:rPr>
                    <a:t>-0.2</a:t>
                  </a:r>
                </a:p>
              </p:txBody>
            </p:sp>
            <p:sp>
              <p:nvSpPr>
                <p:cNvPr id="131" name="文本框 130"/>
                <p:cNvSpPr txBox="1"/>
                <p:nvPr/>
              </p:nvSpPr>
              <p:spPr>
                <a:xfrm>
                  <a:off x="10203" y="4057"/>
                  <a:ext cx="567" cy="26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 defTabSz="493395">
                    <a:lnSpc>
                      <a:spcPts val="2000"/>
                    </a:lnSpc>
                  </a:pPr>
                  <a:r>
                    <a:rPr lang="en-US" altLang="zh-CN" sz="600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等线" panose="02010600030101010101" charset="-122"/>
                      <a:cs typeface="Times New Roman" panose="02020603050405020304" pitchFamily="18" charset="0"/>
                    </a:rPr>
                    <a:t>-0.4</a:t>
                  </a:r>
                </a:p>
              </p:txBody>
            </p:sp>
            <p:sp>
              <p:nvSpPr>
                <p:cNvPr id="132" name="文本框 131"/>
                <p:cNvSpPr txBox="1"/>
                <p:nvPr/>
              </p:nvSpPr>
              <p:spPr>
                <a:xfrm rot="16200000">
                  <a:off x="9610" y="2233"/>
                  <a:ext cx="2059" cy="298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Activation Strength</a:t>
                  </a:r>
                  <a:r>
                    <a:rPr lang="zh-CN" altLang="en-US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 a.-u.)</a:t>
                  </a:r>
                </a:p>
              </p:txBody>
            </p:sp>
          </p:grpSp>
          <p:sp>
            <p:nvSpPr>
              <p:cNvPr id="134" name="文本框 133"/>
              <p:cNvSpPr txBox="1"/>
              <p:nvPr/>
            </p:nvSpPr>
            <p:spPr>
              <a:xfrm>
                <a:off x="7281" y="5094"/>
                <a:ext cx="2059" cy="298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Functional Brain Networks</a:t>
                </a:r>
              </a:p>
            </p:txBody>
          </p:sp>
          <p:grpSp>
            <p:nvGrpSpPr>
              <p:cNvPr id="143" name="组合 142"/>
              <p:cNvGrpSpPr/>
              <p:nvPr/>
            </p:nvGrpSpPr>
            <p:grpSpPr>
              <a:xfrm>
                <a:off x="4283" y="887"/>
                <a:ext cx="1933" cy="3319"/>
                <a:chOff x="2627" y="9134"/>
                <a:chExt cx="1933" cy="3319"/>
              </a:xfrm>
            </p:grpSpPr>
            <p:sp>
              <p:nvSpPr>
                <p:cNvPr id="144" name="文本框 143"/>
                <p:cNvSpPr txBox="1"/>
                <p:nvPr/>
              </p:nvSpPr>
              <p:spPr>
                <a:xfrm>
                  <a:off x="2627" y="11253"/>
                  <a:ext cx="1932" cy="12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Relational Processing</a:t>
                  </a:r>
                </a:p>
              </p:txBody>
            </p:sp>
            <p:sp>
              <p:nvSpPr>
                <p:cNvPr id="145" name="文本框 144"/>
                <p:cNvSpPr txBox="1"/>
                <p:nvPr/>
              </p:nvSpPr>
              <p:spPr>
                <a:xfrm>
                  <a:off x="2853" y="9134"/>
                  <a:ext cx="1701" cy="12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Working Memory</a:t>
                  </a:r>
                </a:p>
              </p:txBody>
            </p:sp>
            <p:sp>
              <p:nvSpPr>
                <p:cNvPr id="146" name="文本框 145"/>
                <p:cNvSpPr txBox="1"/>
                <p:nvPr/>
              </p:nvSpPr>
              <p:spPr>
                <a:xfrm>
                  <a:off x="2851" y="10203"/>
                  <a:ext cx="1701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Language</a:t>
                  </a:r>
                </a:p>
              </p:txBody>
            </p:sp>
            <p:sp>
              <p:nvSpPr>
                <p:cNvPr id="147" name="文本框 146"/>
                <p:cNvSpPr txBox="1"/>
                <p:nvPr/>
              </p:nvSpPr>
              <p:spPr>
                <a:xfrm>
                  <a:off x="2849" y="9668"/>
                  <a:ext cx="1701" cy="12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Motor</a:t>
                  </a:r>
                </a:p>
              </p:txBody>
            </p:sp>
            <p:sp>
              <p:nvSpPr>
                <p:cNvPr id="148" name="文本框 147"/>
                <p:cNvSpPr txBox="1"/>
                <p:nvPr/>
              </p:nvSpPr>
              <p:spPr>
                <a:xfrm>
                  <a:off x="3772" y="11786"/>
                  <a:ext cx="775" cy="12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Emotion</a:t>
                  </a:r>
                </a:p>
              </p:txBody>
            </p:sp>
            <p:sp>
              <p:nvSpPr>
                <p:cNvPr id="149" name="文本框 148"/>
                <p:cNvSpPr txBox="1"/>
                <p:nvPr/>
              </p:nvSpPr>
              <p:spPr>
                <a:xfrm>
                  <a:off x="2859" y="12333"/>
                  <a:ext cx="1701" cy="12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Gambling</a:t>
                  </a:r>
                </a:p>
              </p:txBody>
            </p:sp>
            <p:sp>
              <p:nvSpPr>
                <p:cNvPr id="150" name="文本框 149"/>
                <p:cNvSpPr txBox="1"/>
                <p:nvPr/>
              </p:nvSpPr>
              <p:spPr>
                <a:xfrm>
                  <a:off x="2849" y="10726"/>
                  <a:ext cx="1701" cy="12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Social Cognition</a:t>
                  </a:r>
                </a:p>
              </p:txBody>
            </p:sp>
          </p:grpSp>
          <p:grpSp>
            <p:nvGrpSpPr>
              <p:cNvPr id="262" name="组合 261"/>
              <p:cNvGrpSpPr/>
              <p:nvPr/>
            </p:nvGrpSpPr>
            <p:grpSpPr>
              <a:xfrm>
                <a:off x="5525" y="4155"/>
                <a:ext cx="5324" cy="792"/>
                <a:chOff x="-426" y="14365"/>
                <a:chExt cx="5324" cy="792"/>
              </a:xfrm>
            </p:grpSpPr>
            <p:sp>
              <p:nvSpPr>
                <p:cNvPr id="137" name="文本框 136"/>
                <p:cNvSpPr txBox="1"/>
                <p:nvPr/>
              </p:nvSpPr>
              <p:spPr>
                <a:xfrm rot="18900000">
                  <a:off x="-15" y="14929"/>
                  <a:ext cx="1510" cy="14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Frontoparietal Control</a:t>
                  </a:r>
                </a:p>
              </p:txBody>
            </p:sp>
            <p:sp>
              <p:nvSpPr>
                <p:cNvPr id="138" name="文本框 137"/>
                <p:cNvSpPr txBox="1"/>
                <p:nvPr/>
              </p:nvSpPr>
              <p:spPr>
                <a:xfrm rot="18900000">
                  <a:off x="789" y="14640"/>
                  <a:ext cx="1510" cy="14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Default Mode</a:t>
                  </a:r>
                </a:p>
              </p:txBody>
            </p:sp>
            <p:sp>
              <p:nvSpPr>
                <p:cNvPr id="139" name="文本框 138"/>
                <p:cNvSpPr txBox="1"/>
                <p:nvPr/>
              </p:nvSpPr>
              <p:spPr>
                <a:xfrm rot="18900000">
                  <a:off x="911" y="15017"/>
                  <a:ext cx="1662" cy="14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Ventral Attention/Salience</a:t>
                  </a:r>
                </a:p>
              </p:txBody>
            </p:sp>
            <p:sp>
              <p:nvSpPr>
                <p:cNvPr id="140" name="文本框 139"/>
                <p:cNvSpPr txBox="1"/>
                <p:nvPr/>
              </p:nvSpPr>
              <p:spPr>
                <a:xfrm rot="18900000">
                  <a:off x="1921" y="14586"/>
                  <a:ext cx="1662" cy="14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Somatomotor</a:t>
                  </a:r>
                </a:p>
              </p:txBody>
            </p:sp>
            <p:sp>
              <p:nvSpPr>
                <p:cNvPr id="141" name="文本框 140"/>
                <p:cNvSpPr txBox="1"/>
                <p:nvPr/>
              </p:nvSpPr>
              <p:spPr>
                <a:xfrm rot="18900000">
                  <a:off x="2677" y="14365"/>
                  <a:ext cx="1662" cy="14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Visual</a:t>
                  </a:r>
                </a:p>
              </p:txBody>
            </p:sp>
            <p:sp>
              <p:nvSpPr>
                <p:cNvPr id="142" name="文本框 141"/>
                <p:cNvSpPr txBox="1"/>
                <p:nvPr/>
              </p:nvSpPr>
              <p:spPr>
                <a:xfrm rot="18900000">
                  <a:off x="3236" y="14367"/>
                  <a:ext cx="1662" cy="14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Limbic</a:t>
                  </a:r>
                </a:p>
              </p:txBody>
            </p:sp>
            <p:sp>
              <p:nvSpPr>
                <p:cNvPr id="9" name="文本框 8"/>
                <p:cNvSpPr txBox="1"/>
                <p:nvPr/>
              </p:nvSpPr>
              <p:spPr>
                <a:xfrm rot="18900000">
                  <a:off x="-426" y="14680"/>
                  <a:ext cx="1662" cy="14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Dorsal Attention</a:t>
                  </a:r>
                </a:p>
              </p:txBody>
            </p:sp>
          </p:grpSp>
        </p:grpSp>
        <p:sp>
          <p:nvSpPr>
            <p:cNvPr id="48" name="文本框 47"/>
            <p:cNvSpPr txBox="1"/>
            <p:nvPr/>
          </p:nvSpPr>
          <p:spPr>
            <a:xfrm>
              <a:off x="56429" y="2375565"/>
              <a:ext cx="359908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c</a:t>
              </a:r>
            </a:p>
          </p:txBody>
        </p:sp>
        <p:sp>
          <p:nvSpPr>
            <p:cNvPr id="117" name="文本框 116"/>
            <p:cNvSpPr txBox="1"/>
            <p:nvPr/>
          </p:nvSpPr>
          <p:spPr>
            <a:xfrm>
              <a:off x="3463677" y="2375564"/>
              <a:ext cx="359908" cy="35990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</a:t>
              </a:r>
            </a:p>
          </p:txBody>
        </p:sp>
        <p:sp>
          <p:nvSpPr>
            <p:cNvPr id="118" name="文本框 117"/>
            <p:cNvSpPr txBox="1"/>
            <p:nvPr/>
          </p:nvSpPr>
          <p:spPr>
            <a:xfrm>
              <a:off x="56429" y="4115333"/>
              <a:ext cx="359908" cy="35990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e</a:t>
              </a:r>
            </a:p>
          </p:txBody>
        </p:sp>
        <p:grpSp>
          <p:nvGrpSpPr>
            <p:cNvPr id="260" name="组合 259"/>
            <p:cNvGrpSpPr/>
            <p:nvPr/>
          </p:nvGrpSpPr>
          <p:grpSpPr>
            <a:xfrm>
              <a:off x="3811905" y="2205038"/>
              <a:ext cx="3042920" cy="4930140"/>
              <a:chOff x="6003" y="3470"/>
              <a:chExt cx="4792" cy="7764"/>
            </a:xfrm>
          </p:grpSpPr>
          <p:grpSp>
            <p:nvGrpSpPr>
              <p:cNvPr id="330" name="组合 329"/>
              <p:cNvGrpSpPr/>
              <p:nvPr/>
            </p:nvGrpSpPr>
            <p:grpSpPr>
              <a:xfrm>
                <a:off x="9901" y="6011"/>
                <a:ext cx="895" cy="2607"/>
                <a:chOff x="9407" y="6693"/>
                <a:chExt cx="895" cy="2609"/>
              </a:xfrm>
            </p:grpSpPr>
            <p:sp>
              <p:nvSpPr>
                <p:cNvPr id="331" name="文本框 330"/>
                <p:cNvSpPr txBox="1"/>
                <p:nvPr/>
              </p:nvSpPr>
              <p:spPr>
                <a:xfrm>
                  <a:off x="9407" y="6693"/>
                  <a:ext cx="886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0.0</a:t>
                  </a:r>
                </a:p>
              </p:txBody>
            </p:sp>
            <p:sp>
              <p:nvSpPr>
                <p:cNvPr id="332" name="文本框 331"/>
                <p:cNvSpPr txBox="1"/>
                <p:nvPr/>
              </p:nvSpPr>
              <p:spPr>
                <a:xfrm>
                  <a:off x="9416" y="7189"/>
                  <a:ext cx="886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0.2</a:t>
                  </a:r>
                </a:p>
              </p:txBody>
            </p:sp>
            <p:sp>
              <p:nvSpPr>
                <p:cNvPr id="333" name="文本框 332"/>
                <p:cNvSpPr txBox="1"/>
                <p:nvPr/>
              </p:nvSpPr>
              <p:spPr>
                <a:xfrm>
                  <a:off x="9416" y="7681"/>
                  <a:ext cx="886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0.4</a:t>
                  </a:r>
                </a:p>
              </p:txBody>
            </p:sp>
            <p:sp>
              <p:nvSpPr>
                <p:cNvPr id="334" name="文本框 333"/>
                <p:cNvSpPr txBox="1"/>
                <p:nvPr/>
              </p:nvSpPr>
              <p:spPr>
                <a:xfrm>
                  <a:off x="9416" y="8173"/>
                  <a:ext cx="886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0.6</a:t>
                  </a:r>
                </a:p>
              </p:txBody>
            </p:sp>
            <p:sp>
              <p:nvSpPr>
                <p:cNvPr id="352" name="文本框 351"/>
                <p:cNvSpPr txBox="1"/>
                <p:nvPr/>
              </p:nvSpPr>
              <p:spPr>
                <a:xfrm>
                  <a:off x="9416" y="8665"/>
                  <a:ext cx="886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0.8</a:t>
                  </a:r>
                </a:p>
              </p:txBody>
            </p:sp>
            <p:sp>
              <p:nvSpPr>
                <p:cNvPr id="356" name="文本框 355"/>
                <p:cNvSpPr txBox="1"/>
                <p:nvPr/>
              </p:nvSpPr>
              <p:spPr>
                <a:xfrm>
                  <a:off x="9416" y="9157"/>
                  <a:ext cx="886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1.0</a:t>
                  </a:r>
                </a:p>
              </p:txBody>
            </p:sp>
            <p:pic>
              <p:nvPicPr>
                <p:cNvPr id="357" name="图片 356"/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 rot="5400000" flipV="1">
                  <a:off x="8361" y="7913"/>
                  <a:ext cx="2608" cy="170"/>
                </a:xfrm>
                <a:prstGeom prst="rect">
                  <a:avLst/>
                </a:prstGeom>
                <a:solidFill>
                  <a:schemeClr val="bg1"/>
                </a:solidFill>
              </p:spPr>
            </p:pic>
          </p:grpSp>
          <p:grpSp>
            <p:nvGrpSpPr>
              <p:cNvPr id="259" name="组合 258"/>
              <p:cNvGrpSpPr/>
              <p:nvPr/>
            </p:nvGrpSpPr>
            <p:grpSpPr>
              <a:xfrm>
                <a:off x="6003" y="3470"/>
                <a:ext cx="4080" cy="7765"/>
                <a:chOff x="6003" y="3470"/>
                <a:chExt cx="4080" cy="7765"/>
              </a:xfrm>
            </p:grpSpPr>
            <p:pic>
              <p:nvPicPr>
                <p:cNvPr id="309" name="图片 308"/>
                <p:cNvPicPr>
                  <a:picLocks noChangeAspect="1"/>
                </p:cNvPicPr>
                <p:nvPr/>
              </p:nvPicPr>
              <p:blipFill>
                <a:blip r:embed="rId9"/>
                <a:srcRect l="52304" t="1619" r="-759"/>
                <a:stretch>
                  <a:fillRect/>
                </a:stretch>
              </p:blipFill>
              <p:spPr>
                <a:xfrm>
                  <a:off x="6007" y="9965"/>
                  <a:ext cx="3999" cy="1270"/>
                </a:xfrm>
                <a:prstGeom prst="rect">
                  <a:avLst/>
                </a:prstGeom>
                <a:solidFill>
                  <a:schemeClr val="bg1"/>
                </a:solidFill>
              </p:spPr>
            </p:pic>
            <p:sp>
              <p:nvSpPr>
                <p:cNvPr id="326" name="文本框 325"/>
                <p:cNvSpPr txBox="1"/>
                <p:nvPr/>
              </p:nvSpPr>
              <p:spPr>
                <a:xfrm>
                  <a:off x="6761" y="11003"/>
                  <a:ext cx="2446" cy="147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Emotion</a:t>
                  </a:r>
                </a:p>
              </p:txBody>
            </p:sp>
            <p:pic>
              <p:nvPicPr>
                <p:cNvPr id="322" name="图片 321"/>
                <p:cNvPicPr>
                  <a:picLocks noChangeAspect="1"/>
                </p:cNvPicPr>
                <p:nvPr/>
              </p:nvPicPr>
              <p:blipFill>
                <a:blip r:embed="rId10"/>
                <a:srcRect l="52732" t="12368" r="-886" b="11462"/>
                <a:stretch>
                  <a:fillRect/>
                </a:stretch>
              </p:blipFill>
              <p:spPr>
                <a:xfrm>
                  <a:off x="6019" y="8952"/>
                  <a:ext cx="3988" cy="1066"/>
                </a:xfrm>
                <a:prstGeom prst="rect">
                  <a:avLst/>
                </a:prstGeom>
                <a:solidFill>
                  <a:schemeClr val="bg1"/>
                </a:solidFill>
              </p:spPr>
            </p:pic>
            <p:sp>
              <p:nvSpPr>
                <p:cNvPr id="329" name="文本框 328"/>
                <p:cNvSpPr txBox="1"/>
                <p:nvPr/>
              </p:nvSpPr>
              <p:spPr>
                <a:xfrm>
                  <a:off x="6755" y="9912"/>
                  <a:ext cx="2457" cy="148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Social </a:t>
                  </a:r>
                </a:p>
              </p:txBody>
            </p:sp>
            <p:pic>
              <p:nvPicPr>
                <p:cNvPr id="318" name="图片 317"/>
                <p:cNvPicPr>
                  <a:picLocks noChangeAspect="1"/>
                </p:cNvPicPr>
                <p:nvPr/>
              </p:nvPicPr>
              <p:blipFill>
                <a:blip r:embed="rId11"/>
                <a:srcRect l="52731" t="5987" r="-1298" b="8761"/>
                <a:stretch>
                  <a:fillRect/>
                </a:stretch>
              </p:blipFill>
              <p:spPr>
                <a:xfrm>
                  <a:off x="6003" y="7921"/>
                  <a:ext cx="4015" cy="1025"/>
                </a:xfrm>
                <a:prstGeom prst="rect">
                  <a:avLst/>
                </a:prstGeom>
                <a:solidFill>
                  <a:schemeClr val="bg1"/>
                </a:solidFill>
              </p:spPr>
            </p:pic>
            <p:sp>
              <p:nvSpPr>
                <p:cNvPr id="328" name="文本框 327"/>
                <p:cNvSpPr txBox="1"/>
                <p:nvPr/>
              </p:nvSpPr>
              <p:spPr>
                <a:xfrm>
                  <a:off x="6761" y="8822"/>
                  <a:ext cx="2446" cy="147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Motor</a:t>
                  </a:r>
                </a:p>
              </p:txBody>
            </p:sp>
            <p:pic>
              <p:nvPicPr>
                <p:cNvPr id="316" name="图片 315"/>
                <p:cNvPicPr>
                  <a:picLocks noChangeAspect="1"/>
                </p:cNvPicPr>
                <p:nvPr/>
              </p:nvPicPr>
              <p:blipFill>
                <a:blip r:embed="rId12"/>
                <a:srcRect r="2052" b="9176"/>
                <a:stretch>
                  <a:fillRect/>
                </a:stretch>
              </p:blipFill>
              <p:spPr>
                <a:xfrm>
                  <a:off x="6043" y="6693"/>
                  <a:ext cx="3939" cy="1168"/>
                </a:xfrm>
                <a:prstGeom prst="rect">
                  <a:avLst/>
                </a:prstGeom>
                <a:solidFill>
                  <a:schemeClr val="bg1"/>
                </a:solidFill>
              </p:spPr>
            </p:pic>
            <p:sp>
              <p:nvSpPr>
                <p:cNvPr id="327" name="文本框 326"/>
                <p:cNvSpPr txBox="1"/>
                <p:nvPr/>
              </p:nvSpPr>
              <p:spPr>
                <a:xfrm>
                  <a:off x="6768" y="7733"/>
                  <a:ext cx="2431" cy="146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Gambling</a:t>
                  </a:r>
                </a:p>
              </p:txBody>
            </p:sp>
            <p:pic>
              <p:nvPicPr>
                <p:cNvPr id="323" name="图片 322"/>
                <p:cNvPicPr>
                  <a:picLocks noChangeAspect="1"/>
                </p:cNvPicPr>
                <p:nvPr/>
              </p:nvPicPr>
              <p:blipFill>
                <a:blip r:embed="rId9"/>
                <a:srcRect r="52197" b="2968"/>
                <a:stretch>
                  <a:fillRect/>
                </a:stretch>
              </p:blipFill>
              <p:spPr>
                <a:xfrm>
                  <a:off x="6049" y="5583"/>
                  <a:ext cx="3947" cy="1264"/>
                </a:xfrm>
                <a:prstGeom prst="rect">
                  <a:avLst/>
                </a:prstGeom>
                <a:solidFill>
                  <a:schemeClr val="bg1"/>
                </a:solidFill>
              </p:spPr>
            </p:pic>
            <p:sp>
              <p:nvSpPr>
                <p:cNvPr id="325" name="文本框 324"/>
                <p:cNvSpPr txBox="1"/>
                <p:nvPr/>
              </p:nvSpPr>
              <p:spPr>
                <a:xfrm>
                  <a:off x="6783" y="6646"/>
                  <a:ext cx="2402" cy="144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Relational</a:t>
                  </a:r>
                </a:p>
              </p:txBody>
            </p:sp>
            <p:pic>
              <p:nvPicPr>
                <p:cNvPr id="308" name="图片 307"/>
                <p:cNvPicPr>
                  <a:picLocks noChangeAspect="1"/>
                </p:cNvPicPr>
                <p:nvPr/>
              </p:nvPicPr>
              <p:blipFill>
                <a:blip r:embed="rId10"/>
                <a:srcRect r="51252" b="7170"/>
                <a:stretch>
                  <a:fillRect/>
                </a:stretch>
              </p:blipFill>
              <p:spPr>
                <a:xfrm>
                  <a:off x="6003" y="4415"/>
                  <a:ext cx="4055" cy="1310"/>
                </a:xfrm>
                <a:prstGeom prst="rect">
                  <a:avLst/>
                </a:prstGeom>
                <a:solidFill>
                  <a:schemeClr val="bg1"/>
                </a:solidFill>
              </p:spPr>
            </p:pic>
            <p:sp>
              <p:nvSpPr>
                <p:cNvPr id="324" name="文本框 323"/>
                <p:cNvSpPr txBox="1"/>
                <p:nvPr/>
              </p:nvSpPr>
              <p:spPr>
                <a:xfrm>
                  <a:off x="6777" y="5566"/>
                  <a:ext cx="2414" cy="137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Language</a:t>
                  </a:r>
                </a:p>
              </p:txBody>
            </p:sp>
            <p:pic>
              <p:nvPicPr>
                <p:cNvPr id="307" name="图片 306"/>
                <p:cNvPicPr>
                  <a:picLocks noChangeAspect="1"/>
                </p:cNvPicPr>
                <p:nvPr/>
              </p:nvPicPr>
              <p:blipFill>
                <a:blip r:embed="rId11"/>
                <a:srcRect r="50798" b="9076"/>
                <a:stretch>
                  <a:fillRect/>
                </a:stretch>
              </p:blipFill>
              <p:spPr>
                <a:xfrm>
                  <a:off x="6003" y="3470"/>
                  <a:ext cx="4080" cy="1096"/>
                </a:xfrm>
                <a:prstGeom prst="rect">
                  <a:avLst/>
                </a:prstGeom>
                <a:solidFill>
                  <a:schemeClr val="bg1"/>
                </a:solidFill>
              </p:spPr>
            </p:pic>
            <p:sp>
              <p:nvSpPr>
                <p:cNvPr id="317" name="文本框 316"/>
                <p:cNvSpPr txBox="1"/>
                <p:nvPr/>
              </p:nvSpPr>
              <p:spPr>
                <a:xfrm>
                  <a:off x="6777" y="4478"/>
                  <a:ext cx="2414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Working Memory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345">
            <a:extLst>
              <a:ext uri="{FF2B5EF4-FFF2-40B4-BE49-F238E27FC236}">
                <a16:creationId xmlns:a16="http://schemas.microsoft.com/office/drawing/2014/main" id="{63274266-E3E2-EA67-9F77-628F3D7439C9}"/>
              </a:ext>
            </a:extLst>
          </p:cNvPr>
          <p:cNvGrpSpPr/>
          <p:nvPr/>
        </p:nvGrpSpPr>
        <p:grpSpPr>
          <a:xfrm>
            <a:off x="5022416" y="1856644"/>
            <a:ext cx="1908321" cy="1971170"/>
            <a:chOff x="7790" y="7565"/>
            <a:chExt cx="3007" cy="3106"/>
          </a:xfrm>
        </p:grpSpPr>
        <p:pic>
          <p:nvPicPr>
            <p:cNvPr id="58" name="图片 16">
              <a:extLst>
                <a:ext uri="{FF2B5EF4-FFF2-40B4-BE49-F238E27FC236}">
                  <a16:creationId xmlns:a16="http://schemas.microsoft.com/office/drawing/2014/main" id="{DA84B796-D6E4-5C9D-1D6D-9394575E03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861"/>
            <a:stretch>
              <a:fillRect/>
            </a:stretch>
          </p:blipFill>
          <p:spPr>
            <a:xfrm>
              <a:off x="8279" y="7878"/>
              <a:ext cx="2157" cy="2154"/>
            </a:xfrm>
            <a:prstGeom prst="rect">
              <a:avLst/>
            </a:prstGeom>
          </p:spPr>
        </p:pic>
        <p:sp>
          <p:nvSpPr>
            <p:cNvPr id="59" name="文本框 18">
              <a:extLst>
                <a:ext uri="{FF2B5EF4-FFF2-40B4-BE49-F238E27FC236}">
                  <a16:creationId xmlns:a16="http://schemas.microsoft.com/office/drawing/2014/main" id="{171BEC66-C493-178E-3FDA-963C82035D82}"/>
                </a:ext>
              </a:extLst>
            </p:cNvPr>
            <p:cNvSpPr txBox="1"/>
            <p:nvPr/>
          </p:nvSpPr>
          <p:spPr>
            <a:xfrm>
              <a:off x="7864" y="7565"/>
              <a:ext cx="2933" cy="298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Routing Consistency (Inter-Subject Similarity)</a:t>
              </a:r>
            </a:p>
          </p:txBody>
        </p:sp>
        <p:grpSp>
          <p:nvGrpSpPr>
            <p:cNvPr id="60" name="组合 19">
              <a:extLst>
                <a:ext uri="{FF2B5EF4-FFF2-40B4-BE49-F238E27FC236}">
                  <a16:creationId xmlns:a16="http://schemas.microsoft.com/office/drawing/2014/main" id="{F9FEBC89-01DE-EBA7-FC33-B38E28705245}"/>
                </a:ext>
              </a:extLst>
            </p:cNvPr>
            <p:cNvGrpSpPr/>
            <p:nvPr/>
          </p:nvGrpSpPr>
          <p:grpSpPr>
            <a:xfrm>
              <a:off x="7922" y="7838"/>
              <a:ext cx="522" cy="2200"/>
              <a:chOff x="7998" y="9191"/>
              <a:chExt cx="522" cy="2200"/>
            </a:xfrm>
          </p:grpSpPr>
          <p:sp>
            <p:nvSpPr>
              <p:cNvPr id="67" name="文本框 20">
                <a:extLst>
                  <a:ext uri="{FF2B5EF4-FFF2-40B4-BE49-F238E27FC236}">
                    <a16:creationId xmlns:a16="http://schemas.microsoft.com/office/drawing/2014/main" id="{EF8CA2CC-ADB7-92BF-B492-F2FD81173A23}"/>
                  </a:ext>
                </a:extLst>
              </p:cNvPr>
              <p:cNvSpPr txBox="1"/>
              <p:nvPr/>
            </p:nvSpPr>
            <p:spPr>
              <a:xfrm>
                <a:off x="8008" y="11278"/>
                <a:ext cx="510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r>
                  <a:rPr lang="en-US" altLang="zh-CN" sz="7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0.0</a:t>
                </a:r>
              </a:p>
            </p:txBody>
          </p:sp>
          <p:sp>
            <p:nvSpPr>
              <p:cNvPr id="68" name="文本框 21">
                <a:extLst>
                  <a:ext uri="{FF2B5EF4-FFF2-40B4-BE49-F238E27FC236}">
                    <a16:creationId xmlns:a16="http://schemas.microsoft.com/office/drawing/2014/main" id="{1DEA3D9C-CB4D-7768-2150-6B7E38AA123A}"/>
                  </a:ext>
                </a:extLst>
              </p:cNvPr>
              <p:cNvSpPr txBox="1"/>
              <p:nvPr/>
            </p:nvSpPr>
            <p:spPr>
              <a:xfrm>
                <a:off x="8010" y="10849"/>
                <a:ext cx="510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r>
                  <a:rPr lang="en-US" altLang="zh-CN" sz="7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</a:t>
                </a:r>
              </a:p>
            </p:txBody>
          </p:sp>
          <p:sp>
            <p:nvSpPr>
              <p:cNvPr id="69" name="文本框 22">
                <a:extLst>
                  <a:ext uri="{FF2B5EF4-FFF2-40B4-BE49-F238E27FC236}">
                    <a16:creationId xmlns:a16="http://schemas.microsoft.com/office/drawing/2014/main" id="{726CCD28-F044-1A89-44D4-70A5755BA794}"/>
                  </a:ext>
                </a:extLst>
              </p:cNvPr>
              <p:cNvSpPr txBox="1"/>
              <p:nvPr/>
            </p:nvSpPr>
            <p:spPr>
              <a:xfrm>
                <a:off x="8004" y="10447"/>
                <a:ext cx="510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r>
                  <a:rPr lang="en-US" altLang="zh-CN" sz="7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0.4</a:t>
                </a:r>
              </a:p>
            </p:txBody>
          </p:sp>
          <p:sp>
            <p:nvSpPr>
              <p:cNvPr id="70" name="文本框 23">
                <a:extLst>
                  <a:ext uri="{FF2B5EF4-FFF2-40B4-BE49-F238E27FC236}">
                    <a16:creationId xmlns:a16="http://schemas.microsoft.com/office/drawing/2014/main" id="{435716E2-734D-1AA4-5A3F-F81344A22C96}"/>
                  </a:ext>
                </a:extLst>
              </p:cNvPr>
              <p:cNvSpPr txBox="1"/>
              <p:nvPr/>
            </p:nvSpPr>
            <p:spPr>
              <a:xfrm>
                <a:off x="8002" y="10011"/>
                <a:ext cx="510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r>
                  <a:rPr lang="en-US" altLang="zh-CN" sz="7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0.6</a:t>
                </a:r>
              </a:p>
            </p:txBody>
          </p:sp>
          <p:sp>
            <p:nvSpPr>
              <p:cNvPr id="71" name="文本框 24">
                <a:extLst>
                  <a:ext uri="{FF2B5EF4-FFF2-40B4-BE49-F238E27FC236}">
                    <a16:creationId xmlns:a16="http://schemas.microsoft.com/office/drawing/2014/main" id="{45B79F05-B58B-D6AE-495A-BFDC28C28314}"/>
                  </a:ext>
                </a:extLst>
              </p:cNvPr>
              <p:cNvSpPr txBox="1"/>
              <p:nvPr/>
            </p:nvSpPr>
            <p:spPr>
              <a:xfrm>
                <a:off x="7998" y="9589"/>
                <a:ext cx="510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r>
                  <a:rPr lang="en-US" altLang="zh-CN" sz="7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0.8</a:t>
                </a:r>
              </a:p>
            </p:txBody>
          </p:sp>
          <p:sp>
            <p:nvSpPr>
              <p:cNvPr id="72" name="文本框 190">
                <a:extLst>
                  <a:ext uri="{FF2B5EF4-FFF2-40B4-BE49-F238E27FC236}">
                    <a16:creationId xmlns:a16="http://schemas.microsoft.com/office/drawing/2014/main" id="{DA75FF13-5615-9234-7E7A-0CBF0DAC7DD1}"/>
                  </a:ext>
                </a:extLst>
              </p:cNvPr>
              <p:cNvSpPr txBox="1"/>
              <p:nvPr/>
            </p:nvSpPr>
            <p:spPr>
              <a:xfrm>
                <a:off x="8002" y="9191"/>
                <a:ext cx="510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r>
                  <a:rPr lang="en-US" altLang="zh-CN" sz="7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1.0</a:t>
                </a:r>
              </a:p>
            </p:txBody>
          </p:sp>
        </p:grpSp>
        <p:sp>
          <p:nvSpPr>
            <p:cNvPr id="61" name="文本框 25">
              <a:extLst>
                <a:ext uri="{FF2B5EF4-FFF2-40B4-BE49-F238E27FC236}">
                  <a16:creationId xmlns:a16="http://schemas.microsoft.com/office/drawing/2014/main" id="{A2E28832-B1E6-C22B-B5C8-CBB1A29BEC4C}"/>
                </a:ext>
              </a:extLst>
            </p:cNvPr>
            <p:cNvSpPr txBox="1"/>
            <p:nvPr/>
          </p:nvSpPr>
          <p:spPr>
            <a:xfrm rot="16200000">
              <a:off x="7113" y="8757"/>
              <a:ext cx="1651" cy="298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Inter-Subject Correlation</a:t>
              </a:r>
              <a:r>
                <a:rPr lang="zh-CN" alt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 r)</a:t>
              </a:r>
            </a:p>
          </p:txBody>
        </p:sp>
        <p:sp>
          <p:nvSpPr>
            <p:cNvPr id="62" name="文本框 26">
              <a:extLst>
                <a:ext uri="{FF2B5EF4-FFF2-40B4-BE49-F238E27FC236}">
                  <a16:creationId xmlns:a16="http://schemas.microsoft.com/office/drawing/2014/main" id="{0E9D204F-D121-41E1-26A7-9B0B80C6EEAC}"/>
                </a:ext>
              </a:extLst>
            </p:cNvPr>
            <p:cNvSpPr txBox="1"/>
            <p:nvPr/>
          </p:nvSpPr>
          <p:spPr>
            <a:xfrm>
              <a:off x="8299" y="10017"/>
              <a:ext cx="1052" cy="298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High</a:t>
              </a:r>
            </a:p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Efficency</a:t>
              </a:r>
            </a:p>
          </p:txBody>
        </p:sp>
        <p:sp>
          <p:nvSpPr>
            <p:cNvPr id="63" name="文本框 27">
              <a:extLst>
                <a:ext uri="{FF2B5EF4-FFF2-40B4-BE49-F238E27FC236}">
                  <a16:creationId xmlns:a16="http://schemas.microsoft.com/office/drawing/2014/main" id="{4B74E2FB-D4FA-DA4E-6757-AA976523A71E}"/>
                </a:ext>
              </a:extLst>
            </p:cNvPr>
            <p:cNvSpPr txBox="1"/>
            <p:nvPr/>
          </p:nvSpPr>
          <p:spPr>
            <a:xfrm>
              <a:off x="9391" y="10005"/>
              <a:ext cx="1052" cy="298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Low</a:t>
              </a:r>
            </a:p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Efficency</a:t>
              </a:r>
            </a:p>
          </p:txBody>
        </p:sp>
        <p:grpSp>
          <p:nvGrpSpPr>
            <p:cNvPr id="64" name="组合 28">
              <a:extLst>
                <a:ext uri="{FF2B5EF4-FFF2-40B4-BE49-F238E27FC236}">
                  <a16:creationId xmlns:a16="http://schemas.microsoft.com/office/drawing/2014/main" id="{D17078D2-5E77-7A14-19CE-96F65361EFDF}"/>
                </a:ext>
              </a:extLst>
            </p:cNvPr>
            <p:cNvGrpSpPr/>
            <p:nvPr/>
          </p:nvGrpSpPr>
          <p:grpSpPr>
            <a:xfrm>
              <a:off x="8543" y="10444"/>
              <a:ext cx="1798" cy="227"/>
              <a:chOff x="8410" y="8135"/>
              <a:chExt cx="1798" cy="227"/>
            </a:xfrm>
          </p:grpSpPr>
          <p:sp>
            <p:nvSpPr>
              <p:cNvPr id="65" name="圆角矩形 29">
                <a:extLst>
                  <a:ext uri="{FF2B5EF4-FFF2-40B4-BE49-F238E27FC236}">
                    <a16:creationId xmlns:a16="http://schemas.microsoft.com/office/drawing/2014/main" id="{21699306-E1B4-FA1B-06D7-CA41B93874DF}"/>
                  </a:ext>
                </a:extLst>
              </p:cNvPr>
              <p:cNvSpPr/>
              <p:nvPr/>
            </p:nvSpPr>
            <p:spPr>
              <a:xfrm>
                <a:off x="8514" y="8135"/>
                <a:ext cx="1343" cy="227"/>
              </a:xfrm>
              <a:prstGeom prst="roundRect">
                <a:avLst/>
              </a:prstGeom>
              <a:noFill/>
              <a:ln w="9525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文本框 30">
                <a:extLst>
                  <a:ext uri="{FF2B5EF4-FFF2-40B4-BE49-F238E27FC236}">
                    <a16:creationId xmlns:a16="http://schemas.microsoft.com/office/drawing/2014/main" id="{90DBC713-D853-E80C-014B-542137279E0E}"/>
                  </a:ext>
                </a:extLst>
              </p:cNvPr>
              <p:cNvSpPr txBox="1"/>
              <p:nvPr/>
            </p:nvSpPr>
            <p:spPr>
              <a:xfrm>
                <a:off x="8410" y="8198"/>
                <a:ext cx="1798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r>
                  <a:rPr lang="en-US" altLang="zh-CN" sz="600"/>
                  <a:t>t=3.14, p=0.002, d=0.67</a:t>
                </a:r>
              </a:p>
            </p:txBody>
          </p:sp>
        </p:grpSp>
      </p:grpSp>
      <p:grpSp>
        <p:nvGrpSpPr>
          <p:cNvPr id="6" name="组合 38">
            <a:extLst>
              <a:ext uri="{FF2B5EF4-FFF2-40B4-BE49-F238E27FC236}">
                <a16:creationId xmlns:a16="http://schemas.microsoft.com/office/drawing/2014/main" id="{BC2385C5-A4EC-94DE-78AE-3427210AF229}"/>
              </a:ext>
            </a:extLst>
          </p:cNvPr>
          <p:cNvGrpSpPr/>
          <p:nvPr/>
        </p:nvGrpSpPr>
        <p:grpSpPr>
          <a:xfrm>
            <a:off x="90366" y="1880133"/>
            <a:ext cx="2660603" cy="1983232"/>
            <a:chOff x="-121" y="7519"/>
            <a:chExt cx="4191" cy="3124"/>
          </a:xfrm>
        </p:grpSpPr>
        <p:pic>
          <p:nvPicPr>
            <p:cNvPr id="38" name="图片 31">
              <a:extLst>
                <a:ext uri="{FF2B5EF4-FFF2-40B4-BE49-F238E27FC236}">
                  <a16:creationId xmlns:a16="http://schemas.microsoft.com/office/drawing/2014/main" id="{103288D7-61AF-1664-AD1D-C6C4888CFF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28" y="7874"/>
              <a:ext cx="2115" cy="2040"/>
            </a:xfrm>
            <a:prstGeom prst="rect">
              <a:avLst/>
            </a:prstGeom>
          </p:spPr>
        </p:pic>
        <p:sp>
          <p:nvSpPr>
            <p:cNvPr id="39" name="文本框 32">
              <a:extLst>
                <a:ext uri="{FF2B5EF4-FFF2-40B4-BE49-F238E27FC236}">
                  <a16:creationId xmlns:a16="http://schemas.microsoft.com/office/drawing/2014/main" id="{ECEF072C-E1BB-1534-13D6-294FB4FBB706}"/>
                </a:ext>
              </a:extLst>
            </p:cNvPr>
            <p:cNvSpPr txBox="1"/>
            <p:nvPr/>
          </p:nvSpPr>
          <p:spPr>
            <a:xfrm>
              <a:off x="292" y="7519"/>
              <a:ext cx="3746" cy="22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High-Efficiency Group Mean Routing Profile</a:t>
              </a:r>
            </a:p>
          </p:txBody>
        </p:sp>
        <p:sp>
          <p:nvSpPr>
            <p:cNvPr id="40" name="文本框 33">
              <a:extLst>
                <a:ext uri="{FF2B5EF4-FFF2-40B4-BE49-F238E27FC236}">
                  <a16:creationId xmlns:a16="http://schemas.microsoft.com/office/drawing/2014/main" id="{16975A9A-4F90-0530-F4E1-37B53FFF4620}"/>
                </a:ext>
              </a:extLst>
            </p:cNvPr>
            <p:cNvSpPr txBox="1"/>
            <p:nvPr/>
          </p:nvSpPr>
          <p:spPr>
            <a:xfrm>
              <a:off x="2011" y="10473"/>
              <a:ext cx="2059" cy="17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Brain Network</a:t>
              </a:r>
            </a:p>
          </p:txBody>
        </p:sp>
        <p:grpSp>
          <p:nvGrpSpPr>
            <p:cNvPr id="41" name="组合 263">
              <a:extLst>
                <a:ext uri="{FF2B5EF4-FFF2-40B4-BE49-F238E27FC236}">
                  <a16:creationId xmlns:a16="http://schemas.microsoft.com/office/drawing/2014/main" id="{14FD9F90-371B-AEFB-EB29-B8067825D9FB}"/>
                </a:ext>
              </a:extLst>
            </p:cNvPr>
            <p:cNvGrpSpPr/>
            <p:nvPr/>
          </p:nvGrpSpPr>
          <p:grpSpPr>
            <a:xfrm>
              <a:off x="-121" y="7939"/>
              <a:ext cx="1390" cy="1890"/>
              <a:chOff x="-201" y="8073"/>
              <a:chExt cx="1390" cy="1891"/>
            </a:xfrm>
          </p:grpSpPr>
          <p:sp>
            <p:nvSpPr>
              <p:cNvPr id="51" name="文本框 34">
                <a:extLst>
                  <a:ext uri="{FF2B5EF4-FFF2-40B4-BE49-F238E27FC236}">
                    <a16:creationId xmlns:a16="http://schemas.microsoft.com/office/drawing/2014/main" id="{EED5077D-5148-D70D-A03D-C4015CE6878D}"/>
                  </a:ext>
                </a:extLst>
              </p:cNvPr>
              <p:cNvSpPr txBox="1"/>
              <p:nvPr/>
            </p:nvSpPr>
            <p:spPr>
              <a:xfrm>
                <a:off x="-75" y="8073"/>
                <a:ext cx="1255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Working Memory</a:t>
                </a:r>
              </a:p>
            </p:txBody>
          </p:sp>
          <p:sp>
            <p:nvSpPr>
              <p:cNvPr id="52" name="文本框 35">
                <a:extLst>
                  <a:ext uri="{FF2B5EF4-FFF2-40B4-BE49-F238E27FC236}">
                    <a16:creationId xmlns:a16="http://schemas.microsoft.com/office/drawing/2014/main" id="{34DDBBB6-504F-86C3-32DE-210EC7DEF233}"/>
                  </a:ext>
                </a:extLst>
              </p:cNvPr>
              <p:cNvSpPr txBox="1"/>
              <p:nvPr/>
            </p:nvSpPr>
            <p:spPr>
              <a:xfrm>
                <a:off x="-87" y="8368"/>
                <a:ext cx="1255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Motor</a:t>
                </a:r>
              </a:p>
            </p:txBody>
          </p:sp>
          <p:sp>
            <p:nvSpPr>
              <p:cNvPr id="53" name="文本框 36">
                <a:extLst>
                  <a:ext uri="{FF2B5EF4-FFF2-40B4-BE49-F238E27FC236}">
                    <a16:creationId xmlns:a16="http://schemas.microsoft.com/office/drawing/2014/main" id="{69B12BA1-5841-084B-3AEB-8C37F4E6A71B}"/>
                  </a:ext>
                </a:extLst>
              </p:cNvPr>
              <p:cNvSpPr txBox="1"/>
              <p:nvPr/>
            </p:nvSpPr>
            <p:spPr>
              <a:xfrm>
                <a:off x="-91" y="8673"/>
                <a:ext cx="1255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Language</a:t>
                </a:r>
              </a:p>
            </p:txBody>
          </p:sp>
          <p:sp>
            <p:nvSpPr>
              <p:cNvPr id="54" name="文本框 37">
                <a:extLst>
                  <a:ext uri="{FF2B5EF4-FFF2-40B4-BE49-F238E27FC236}">
                    <a16:creationId xmlns:a16="http://schemas.microsoft.com/office/drawing/2014/main" id="{B6DB84F0-7758-B20D-4D43-E48BE3CB046D}"/>
                  </a:ext>
                </a:extLst>
              </p:cNvPr>
              <p:cNvSpPr txBox="1"/>
              <p:nvPr/>
            </p:nvSpPr>
            <p:spPr>
              <a:xfrm>
                <a:off x="-70" y="8971"/>
                <a:ext cx="1255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Social Cognition</a:t>
                </a:r>
              </a:p>
            </p:txBody>
          </p:sp>
          <p:sp>
            <p:nvSpPr>
              <p:cNvPr id="55" name="文本框 39">
                <a:extLst>
                  <a:ext uri="{FF2B5EF4-FFF2-40B4-BE49-F238E27FC236}">
                    <a16:creationId xmlns:a16="http://schemas.microsoft.com/office/drawing/2014/main" id="{42E38E41-977A-6B3D-0F16-6935DAD83F67}"/>
                  </a:ext>
                </a:extLst>
              </p:cNvPr>
              <p:cNvSpPr txBox="1"/>
              <p:nvPr/>
            </p:nvSpPr>
            <p:spPr>
              <a:xfrm>
                <a:off x="-191" y="9268"/>
                <a:ext cx="1380" cy="12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Relational Processing</a:t>
                </a:r>
              </a:p>
            </p:txBody>
          </p:sp>
          <p:sp>
            <p:nvSpPr>
              <p:cNvPr id="56" name="文本框 45">
                <a:extLst>
                  <a:ext uri="{FF2B5EF4-FFF2-40B4-BE49-F238E27FC236}">
                    <a16:creationId xmlns:a16="http://schemas.microsoft.com/office/drawing/2014/main" id="{CEF2D263-81F9-A6A8-A6C0-0FF9839F08BD}"/>
                  </a:ext>
                </a:extLst>
              </p:cNvPr>
              <p:cNvSpPr txBox="1"/>
              <p:nvPr/>
            </p:nvSpPr>
            <p:spPr>
              <a:xfrm>
                <a:off x="-201" y="9568"/>
                <a:ext cx="1380" cy="12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Emotion</a:t>
                </a:r>
              </a:p>
            </p:txBody>
          </p:sp>
          <p:sp>
            <p:nvSpPr>
              <p:cNvPr id="57" name="文本框 97">
                <a:extLst>
                  <a:ext uri="{FF2B5EF4-FFF2-40B4-BE49-F238E27FC236}">
                    <a16:creationId xmlns:a16="http://schemas.microsoft.com/office/drawing/2014/main" id="{DA610DE5-814E-4530-6CED-469D00264839}"/>
                  </a:ext>
                </a:extLst>
              </p:cNvPr>
              <p:cNvSpPr txBox="1"/>
              <p:nvPr/>
            </p:nvSpPr>
            <p:spPr>
              <a:xfrm>
                <a:off x="-195" y="9844"/>
                <a:ext cx="1380" cy="12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Gambling</a:t>
                </a:r>
              </a:p>
            </p:txBody>
          </p:sp>
        </p:grpSp>
        <p:sp>
          <p:nvSpPr>
            <p:cNvPr id="42" name="文本框 98">
              <a:extLst>
                <a:ext uri="{FF2B5EF4-FFF2-40B4-BE49-F238E27FC236}">
                  <a16:creationId xmlns:a16="http://schemas.microsoft.com/office/drawing/2014/main" id="{ED4770CB-8B06-BFCC-6560-951E8DBE0EB2}"/>
                </a:ext>
              </a:extLst>
            </p:cNvPr>
            <p:cNvSpPr txBox="1"/>
            <p:nvPr/>
          </p:nvSpPr>
          <p:spPr>
            <a:xfrm rot="16200000">
              <a:off x="-407" y="8598"/>
              <a:ext cx="1081" cy="198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Cognitive Tasks</a:t>
              </a:r>
            </a:p>
          </p:txBody>
        </p:sp>
        <p:grpSp>
          <p:nvGrpSpPr>
            <p:cNvPr id="43" name="组合 265">
              <a:extLst>
                <a:ext uri="{FF2B5EF4-FFF2-40B4-BE49-F238E27FC236}">
                  <a16:creationId xmlns:a16="http://schemas.microsoft.com/office/drawing/2014/main" id="{503B173A-1C12-70D0-774C-0473AD04006B}"/>
                </a:ext>
              </a:extLst>
            </p:cNvPr>
            <p:cNvGrpSpPr/>
            <p:nvPr/>
          </p:nvGrpSpPr>
          <p:grpSpPr>
            <a:xfrm>
              <a:off x="790" y="9660"/>
              <a:ext cx="3240" cy="817"/>
              <a:chOff x="710" y="9795"/>
              <a:chExt cx="3241" cy="817"/>
            </a:xfrm>
          </p:grpSpPr>
          <p:sp>
            <p:nvSpPr>
              <p:cNvPr id="44" name="文本框 100">
                <a:extLst>
                  <a:ext uri="{FF2B5EF4-FFF2-40B4-BE49-F238E27FC236}">
                    <a16:creationId xmlns:a16="http://schemas.microsoft.com/office/drawing/2014/main" id="{000046AF-AFED-9E25-B223-6B4ABC904483}"/>
                  </a:ext>
                </a:extLst>
              </p:cNvPr>
              <p:cNvSpPr txBox="1"/>
              <p:nvPr/>
            </p:nvSpPr>
            <p:spPr>
              <a:xfrm rot="18900000">
                <a:off x="1749" y="10337"/>
                <a:ext cx="1587" cy="14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Frontoparietal Control</a:t>
                </a:r>
              </a:p>
            </p:txBody>
          </p:sp>
          <p:sp>
            <p:nvSpPr>
              <p:cNvPr id="45" name="文本框 101">
                <a:extLst>
                  <a:ext uri="{FF2B5EF4-FFF2-40B4-BE49-F238E27FC236}">
                    <a16:creationId xmlns:a16="http://schemas.microsoft.com/office/drawing/2014/main" id="{9A32F3B6-5B45-BDCC-9A66-477A30AFA95D}"/>
                  </a:ext>
                </a:extLst>
              </p:cNvPr>
              <p:cNvSpPr txBox="1"/>
              <p:nvPr/>
            </p:nvSpPr>
            <p:spPr>
              <a:xfrm rot="18900000">
                <a:off x="2365" y="10039"/>
                <a:ext cx="1587" cy="14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Default Mode</a:t>
                </a:r>
              </a:p>
            </p:txBody>
          </p:sp>
          <p:sp>
            <p:nvSpPr>
              <p:cNvPr id="46" name="文本框 108">
                <a:extLst>
                  <a:ext uri="{FF2B5EF4-FFF2-40B4-BE49-F238E27FC236}">
                    <a16:creationId xmlns:a16="http://schemas.microsoft.com/office/drawing/2014/main" id="{DDD30BFC-25B0-41B2-CBFF-CEE45C05DAD2}"/>
                  </a:ext>
                </a:extLst>
              </p:cNvPr>
              <p:cNvSpPr txBox="1"/>
              <p:nvPr/>
            </p:nvSpPr>
            <p:spPr>
              <a:xfrm rot="18900000">
                <a:off x="977" y="10472"/>
                <a:ext cx="1587" cy="14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Ventral Attention/Salience</a:t>
                </a:r>
              </a:p>
            </p:txBody>
          </p:sp>
          <p:sp>
            <p:nvSpPr>
              <p:cNvPr id="47" name="文本框 109">
                <a:extLst>
                  <a:ext uri="{FF2B5EF4-FFF2-40B4-BE49-F238E27FC236}">
                    <a16:creationId xmlns:a16="http://schemas.microsoft.com/office/drawing/2014/main" id="{33D2712B-98A9-C21D-F055-8D5C690EADB7}"/>
                  </a:ext>
                </a:extLst>
              </p:cNvPr>
              <p:cNvSpPr txBox="1"/>
              <p:nvPr/>
            </p:nvSpPr>
            <p:spPr>
              <a:xfrm rot="18900000">
                <a:off x="786" y="10019"/>
                <a:ext cx="1587" cy="14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Somatomotor</a:t>
                </a:r>
              </a:p>
            </p:txBody>
          </p:sp>
          <p:sp>
            <p:nvSpPr>
              <p:cNvPr id="48" name="文本框 110">
                <a:extLst>
                  <a:ext uri="{FF2B5EF4-FFF2-40B4-BE49-F238E27FC236}">
                    <a16:creationId xmlns:a16="http://schemas.microsoft.com/office/drawing/2014/main" id="{96BEEE44-69F6-7030-06B0-494C04AB8320}"/>
                  </a:ext>
                </a:extLst>
              </p:cNvPr>
              <p:cNvSpPr txBox="1"/>
              <p:nvPr/>
            </p:nvSpPr>
            <p:spPr>
              <a:xfrm rot="18900000">
                <a:off x="710" y="9795"/>
                <a:ext cx="1587" cy="14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Visual</a:t>
                </a:r>
              </a:p>
            </p:txBody>
          </p:sp>
          <p:sp>
            <p:nvSpPr>
              <p:cNvPr id="49" name="文本框 111">
                <a:extLst>
                  <a:ext uri="{FF2B5EF4-FFF2-40B4-BE49-F238E27FC236}">
                    <a16:creationId xmlns:a16="http://schemas.microsoft.com/office/drawing/2014/main" id="{4C64F362-4315-4919-D1D7-AABF59F22C72}"/>
                  </a:ext>
                </a:extLst>
              </p:cNvPr>
              <p:cNvSpPr txBox="1"/>
              <p:nvPr/>
            </p:nvSpPr>
            <p:spPr>
              <a:xfrm rot="18900000">
                <a:off x="1959" y="9826"/>
                <a:ext cx="1587" cy="14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Limbic</a:t>
                </a:r>
              </a:p>
            </p:txBody>
          </p:sp>
          <p:sp>
            <p:nvSpPr>
              <p:cNvPr id="50" name="文本框 112">
                <a:extLst>
                  <a:ext uri="{FF2B5EF4-FFF2-40B4-BE49-F238E27FC236}">
                    <a16:creationId xmlns:a16="http://schemas.microsoft.com/office/drawing/2014/main" id="{8A8716C8-DF4B-2401-E43D-134B5FA568C9}"/>
                  </a:ext>
                </a:extLst>
              </p:cNvPr>
              <p:cNvSpPr txBox="1"/>
              <p:nvPr/>
            </p:nvSpPr>
            <p:spPr>
              <a:xfrm rot="18900000">
                <a:off x="1011" y="10129"/>
                <a:ext cx="1587" cy="14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Dorsal Attention</a:t>
                </a:r>
              </a:p>
            </p:txBody>
          </p:sp>
        </p:grpSp>
      </p:grpSp>
      <p:pic>
        <p:nvPicPr>
          <p:cNvPr id="10" name="图片 114">
            <a:extLst>
              <a:ext uri="{FF2B5EF4-FFF2-40B4-BE49-F238E27FC236}">
                <a16:creationId xmlns:a16="http://schemas.microsoft.com/office/drawing/2014/main" id="{CB3C6186-E212-1C26-BFC8-D8BCDDDAA71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1"/>
          <a:stretch>
            <a:fillRect/>
          </a:stretch>
        </p:blipFill>
        <p:spPr>
          <a:xfrm>
            <a:off x="3104386" y="2105420"/>
            <a:ext cx="1486434" cy="1295294"/>
          </a:xfrm>
          <a:prstGeom prst="rect">
            <a:avLst/>
          </a:prstGeom>
        </p:spPr>
      </p:pic>
      <p:sp>
        <p:nvSpPr>
          <p:cNvPr id="11" name="文本框 191">
            <a:extLst>
              <a:ext uri="{FF2B5EF4-FFF2-40B4-BE49-F238E27FC236}">
                <a16:creationId xmlns:a16="http://schemas.microsoft.com/office/drawing/2014/main" id="{B9A3EF8F-B0A3-6B1E-FE03-E9B1BDC57FFA}"/>
              </a:ext>
            </a:extLst>
          </p:cNvPr>
          <p:cNvSpPr txBox="1"/>
          <p:nvPr/>
        </p:nvSpPr>
        <p:spPr>
          <a:xfrm>
            <a:off x="2864475" y="1850296"/>
            <a:ext cx="1862802" cy="20118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Low-Efficiency Group  Mean Routing Profile</a:t>
            </a:r>
          </a:p>
        </p:txBody>
      </p:sp>
      <p:sp>
        <p:nvSpPr>
          <p:cNvPr id="12" name="文本框 152">
            <a:extLst>
              <a:ext uri="{FF2B5EF4-FFF2-40B4-BE49-F238E27FC236}">
                <a16:creationId xmlns:a16="http://schemas.microsoft.com/office/drawing/2014/main" id="{D88EB408-5D7E-5C58-00B1-318E41023E31}"/>
              </a:ext>
            </a:extLst>
          </p:cNvPr>
          <p:cNvSpPr txBox="1"/>
          <p:nvPr/>
        </p:nvSpPr>
        <p:spPr>
          <a:xfrm>
            <a:off x="3673699" y="3755477"/>
            <a:ext cx="1306818" cy="10788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 Network</a:t>
            </a:r>
          </a:p>
        </p:txBody>
      </p:sp>
      <p:grpSp>
        <p:nvGrpSpPr>
          <p:cNvPr id="13" name="组合 341">
            <a:extLst>
              <a:ext uri="{FF2B5EF4-FFF2-40B4-BE49-F238E27FC236}">
                <a16:creationId xmlns:a16="http://schemas.microsoft.com/office/drawing/2014/main" id="{614B21A3-9065-481A-13C7-A0F389004DD3}"/>
              </a:ext>
            </a:extLst>
          </p:cNvPr>
          <p:cNvGrpSpPr/>
          <p:nvPr/>
        </p:nvGrpSpPr>
        <p:grpSpPr>
          <a:xfrm>
            <a:off x="4465152" y="2395449"/>
            <a:ext cx="359232" cy="686677"/>
            <a:chOff x="6836" y="8408"/>
            <a:chExt cx="566" cy="1082"/>
          </a:xfrm>
        </p:grpSpPr>
        <p:sp>
          <p:nvSpPr>
            <p:cNvPr id="31" name="文本框 157">
              <a:extLst>
                <a:ext uri="{FF2B5EF4-FFF2-40B4-BE49-F238E27FC236}">
                  <a16:creationId xmlns:a16="http://schemas.microsoft.com/office/drawing/2014/main" id="{783F4077-F2D4-48D1-587D-CF3ADD38CD77}"/>
                </a:ext>
              </a:extLst>
            </p:cNvPr>
            <p:cNvSpPr txBox="1"/>
            <p:nvPr/>
          </p:nvSpPr>
          <p:spPr>
            <a:xfrm>
              <a:off x="6836" y="8408"/>
              <a:ext cx="567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700">
                  <a:latin typeface="Times New Roman" panose="02020603050405020304" pitchFamily="18" charset="0"/>
                  <a:cs typeface="Times New Roman" panose="02020603050405020304" pitchFamily="18" charset="0"/>
                </a:rPr>
                <a:t>0.6</a:t>
              </a:r>
            </a:p>
          </p:txBody>
        </p:sp>
        <p:sp>
          <p:nvSpPr>
            <p:cNvPr id="32" name="文本框 158">
              <a:extLst>
                <a:ext uri="{FF2B5EF4-FFF2-40B4-BE49-F238E27FC236}">
                  <a16:creationId xmlns:a16="http://schemas.microsoft.com/office/drawing/2014/main" id="{8EF1AAF9-9563-F2C2-8B0D-1C5986AB1EE0}"/>
                </a:ext>
              </a:extLst>
            </p:cNvPr>
            <p:cNvSpPr txBox="1"/>
            <p:nvPr/>
          </p:nvSpPr>
          <p:spPr>
            <a:xfrm>
              <a:off x="6836" y="8566"/>
              <a:ext cx="567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700">
                  <a:latin typeface="Times New Roman" panose="02020603050405020304" pitchFamily="18" charset="0"/>
                  <a:cs typeface="Times New Roman" panose="02020603050405020304" pitchFamily="18" charset="0"/>
                </a:rPr>
                <a:t>0.4</a:t>
              </a:r>
            </a:p>
          </p:txBody>
        </p:sp>
        <p:sp>
          <p:nvSpPr>
            <p:cNvPr id="33" name="文本框 159">
              <a:extLst>
                <a:ext uri="{FF2B5EF4-FFF2-40B4-BE49-F238E27FC236}">
                  <a16:creationId xmlns:a16="http://schemas.microsoft.com/office/drawing/2014/main" id="{D3077BD4-88FE-9F71-FE57-3601A2375AEB}"/>
                </a:ext>
              </a:extLst>
            </p:cNvPr>
            <p:cNvSpPr txBox="1"/>
            <p:nvPr/>
          </p:nvSpPr>
          <p:spPr>
            <a:xfrm>
              <a:off x="6836" y="8724"/>
              <a:ext cx="567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700">
                  <a:latin typeface="Times New Roman" panose="02020603050405020304" pitchFamily="18" charset="0"/>
                  <a:cs typeface="Times New Roman" panose="02020603050405020304" pitchFamily="18" charset="0"/>
                </a:rPr>
                <a:t>0.2</a:t>
              </a:r>
            </a:p>
          </p:txBody>
        </p:sp>
        <p:sp>
          <p:nvSpPr>
            <p:cNvPr id="34" name="文本框 160">
              <a:extLst>
                <a:ext uri="{FF2B5EF4-FFF2-40B4-BE49-F238E27FC236}">
                  <a16:creationId xmlns:a16="http://schemas.microsoft.com/office/drawing/2014/main" id="{1D1BDB25-9125-8848-A288-511BF4F472F1}"/>
                </a:ext>
              </a:extLst>
            </p:cNvPr>
            <p:cNvSpPr txBox="1"/>
            <p:nvPr/>
          </p:nvSpPr>
          <p:spPr>
            <a:xfrm>
              <a:off x="6836" y="8882"/>
              <a:ext cx="567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700">
                  <a:latin typeface="Times New Roman" panose="02020603050405020304" pitchFamily="18" charset="0"/>
                  <a:cs typeface="Times New Roman" panose="02020603050405020304" pitchFamily="18" charset="0"/>
                </a:rPr>
                <a:t>0.0</a:t>
              </a:r>
            </a:p>
          </p:txBody>
        </p:sp>
        <p:sp>
          <p:nvSpPr>
            <p:cNvPr id="35" name="文本框 161">
              <a:extLst>
                <a:ext uri="{FF2B5EF4-FFF2-40B4-BE49-F238E27FC236}">
                  <a16:creationId xmlns:a16="http://schemas.microsoft.com/office/drawing/2014/main" id="{FFCE9848-EAFB-1249-E867-FB40CBE682BB}"/>
                </a:ext>
              </a:extLst>
            </p:cNvPr>
            <p:cNvSpPr txBox="1"/>
            <p:nvPr/>
          </p:nvSpPr>
          <p:spPr>
            <a:xfrm>
              <a:off x="6836" y="9040"/>
              <a:ext cx="567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700">
                  <a:latin typeface="Times New Roman" panose="02020603050405020304" pitchFamily="18" charset="0"/>
                  <a:cs typeface="Times New Roman" panose="02020603050405020304" pitchFamily="18" charset="0"/>
                </a:rPr>
                <a:t>-0.2</a:t>
              </a:r>
            </a:p>
          </p:txBody>
        </p:sp>
        <p:sp>
          <p:nvSpPr>
            <p:cNvPr id="36" name="文本框 162">
              <a:extLst>
                <a:ext uri="{FF2B5EF4-FFF2-40B4-BE49-F238E27FC236}">
                  <a16:creationId xmlns:a16="http://schemas.microsoft.com/office/drawing/2014/main" id="{201FCF36-F029-00C1-FFF6-CC1A2BB3DBCF}"/>
                </a:ext>
              </a:extLst>
            </p:cNvPr>
            <p:cNvSpPr txBox="1"/>
            <p:nvPr/>
          </p:nvSpPr>
          <p:spPr>
            <a:xfrm>
              <a:off x="6836" y="9205"/>
              <a:ext cx="567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700">
                  <a:latin typeface="Times New Roman" panose="02020603050405020304" pitchFamily="18" charset="0"/>
                  <a:cs typeface="Times New Roman" panose="02020603050405020304" pitchFamily="18" charset="0"/>
                </a:rPr>
                <a:t>-0.4</a:t>
              </a:r>
            </a:p>
          </p:txBody>
        </p:sp>
        <p:sp>
          <p:nvSpPr>
            <p:cNvPr id="37" name="文本框 163">
              <a:extLst>
                <a:ext uri="{FF2B5EF4-FFF2-40B4-BE49-F238E27FC236}">
                  <a16:creationId xmlns:a16="http://schemas.microsoft.com/office/drawing/2014/main" id="{2A7365D6-577D-0B9D-1347-7B41C3FEC444}"/>
                </a:ext>
              </a:extLst>
            </p:cNvPr>
            <p:cNvSpPr txBox="1"/>
            <p:nvPr/>
          </p:nvSpPr>
          <p:spPr>
            <a:xfrm>
              <a:off x="6836" y="9370"/>
              <a:ext cx="567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700">
                  <a:latin typeface="Times New Roman" panose="02020603050405020304" pitchFamily="18" charset="0"/>
                  <a:cs typeface="Times New Roman" panose="02020603050405020304" pitchFamily="18" charset="0"/>
                </a:rPr>
                <a:t>-0.6</a:t>
              </a:r>
            </a:p>
          </p:txBody>
        </p:sp>
      </p:grpSp>
      <p:sp>
        <p:nvSpPr>
          <p:cNvPr id="14" name="文本框 164">
            <a:extLst>
              <a:ext uri="{FF2B5EF4-FFF2-40B4-BE49-F238E27FC236}">
                <a16:creationId xmlns:a16="http://schemas.microsoft.com/office/drawing/2014/main" id="{ACD9F145-24B3-6B4A-A3E7-22BB258EF71A}"/>
              </a:ext>
            </a:extLst>
          </p:cNvPr>
          <p:cNvSpPr txBox="1"/>
          <p:nvPr/>
        </p:nvSpPr>
        <p:spPr>
          <a:xfrm rot="16200000">
            <a:off x="4422022" y="2632162"/>
            <a:ext cx="746333" cy="18913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Activation</a:t>
            </a:r>
            <a:r>
              <a: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a.-u.)</a:t>
            </a:r>
          </a:p>
        </p:txBody>
      </p:sp>
      <p:grpSp>
        <p:nvGrpSpPr>
          <p:cNvPr id="15" name="组合 342">
            <a:extLst>
              <a:ext uri="{FF2B5EF4-FFF2-40B4-BE49-F238E27FC236}">
                <a16:creationId xmlns:a16="http://schemas.microsoft.com/office/drawing/2014/main" id="{19B90952-FE59-BD16-7E5C-8874B48BFFB8}"/>
              </a:ext>
            </a:extLst>
          </p:cNvPr>
          <p:cNvGrpSpPr/>
          <p:nvPr/>
        </p:nvGrpSpPr>
        <p:grpSpPr>
          <a:xfrm>
            <a:off x="2868918" y="3233483"/>
            <a:ext cx="2008780" cy="518499"/>
            <a:chOff x="4321" y="9663"/>
            <a:chExt cx="3165" cy="817"/>
          </a:xfrm>
        </p:grpSpPr>
        <p:sp>
          <p:nvSpPr>
            <p:cNvPr id="24" name="文本框 165">
              <a:extLst>
                <a:ext uri="{FF2B5EF4-FFF2-40B4-BE49-F238E27FC236}">
                  <a16:creationId xmlns:a16="http://schemas.microsoft.com/office/drawing/2014/main" id="{AADF4324-EEB7-50AC-06ED-766EC6E9B4FE}"/>
                </a:ext>
              </a:extLst>
            </p:cNvPr>
            <p:cNvSpPr txBox="1"/>
            <p:nvPr/>
          </p:nvSpPr>
          <p:spPr>
            <a:xfrm rot="18900000">
              <a:off x="5315" y="10214"/>
              <a:ext cx="1587" cy="14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Frontoparietal Control</a:t>
              </a:r>
            </a:p>
          </p:txBody>
        </p:sp>
        <p:sp>
          <p:nvSpPr>
            <p:cNvPr id="25" name="文本框 166">
              <a:extLst>
                <a:ext uri="{FF2B5EF4-FFF2-40B4-BE49-F238E27FC236}">
                  <a16:creationId xmlns:a16="http://schemas.microsoft.com/office/drawing/2014/main" id="{F5E3A524-DDC7-D61F-3192-24FE9CB5A497}"/>
                </a:ext>
              </a:extLst>
            </p:cNvPr>
            <p:cNvSpPr txBox="1"/>
            <p:nvPr/>
          </p:nvSpPr>
          <p:spPr>
            <a:xfrm rot="18900000">
              <a:off x="5900" y="9917"/>
              <a:ext cx="1587" cy="14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Default Mode</a:t>
              </a:r>
            </a:p>
          </p:txBody>
        </p:sp>
        <p:sp>
          <p:nvSpPr>
            <p:cNvPr id="26" name="文本框 167">
              <a:extLst>
                <a:ext uri="{FF2B5EF4-FFF2-40B4-BE49-F238E27FC236}">
                  <a16:creationId xmlns:a16="http://schemas.microsoft.com/office/drawing/2014/main" id="{55B18C00-BCCB-7EDA-6865-51B498AD34C9}"/>
                </a:ext>
              </a:extLst>
            </p:cNvPr>
            <p:cNvSpPr txBox="1"/>
            <p:nvPr/>
          </p:nvSpPr>
          <p:spPr>
            <a:xfrm rot="18900000">
              <a:off x="4584" y="10340"/>
              <a:ext cx="1587" cy="14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Ventral Attention/Salience</a:t>
              </a:r>
            </a:p>
          </p:txBody>
        </p:sp>
        <p:sp>
          <p:nvSpPr>
            <p:cNvPr id="27" name="文本框 168">
              <a:extLst>
                <a:ext uri="{FF2B5EF4-FFF2-40B4-BE49-F238E27FC236}">
                  <a16:creationId xmlns:a16="http://schemas.microsoft.com/office/drawing/2014/main" id="{A69B04ED-92B3-8243-3EC5-977BD6609165}"/>
                </a:ext>
              </a:extLst>
            </p:cNvPr>
            <p:cNvSpPr txBox="1"/>
            <p:nvPr/>
          </p:nvSpPr>
          <p:spPr>
            <a:xfrm rot="18900000">
              <a:off x="4403" y="9917"/>
              <a:ext cx="1587" cy="14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Somatomotor</a:t>
              </a:r>
            </a:p>
          </p:txBody>
        </p:sp>
        <p:sp>
          <p:nvSpPr>
            <p:cNvPr id="28" name="文本框 169">
              <a:extLst>
                <a:ext uri="{FF2B5EF4-FFF2-40B4-BE49-F238E27FC236}">
                  <a16:creationId xmlns:a16="http://schemas.microsoft.com/office/drawing/2014/main" id="{2EC36322-ED4C-F042-EA21-CE5C0C7098F1}"/>
                </a:ext>
              </a:extLst>
            </p:cNvPr>
            <p:cNvSpPr txBox="1"/>
            <p:nvPr/>
          </p:nvSpPr>
          <p:spPr>
            <a:xfrm rot="18900000">
              <a:off x="4321" y="9663"/>
              <a:ext cx="1587" cy="14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Visual</a:t>
              </a:r>
            </a:p>
          </p:txBody>
        </p:sp>
        <p:sp>
          <p:nvSpPr>
            <p:cNvPr id="29" name="文本框 170">
              <a:extLst>
                <a:ext uri="{FF2B5EF4-FFF2-40B4-BE49-F238E27FC236}">
                  <a16:creationId xmlns:a16="http://schemas.microsoft.com/office/drawing/2014/main" id="{E857C3B7-E92F-6D49-262D-C0021AFE27FB}"/>
                </a:ext>
              </a:extLst>
            </p:cNvPr>
            <p:cNvSpPr txBox="1"/>
            <p:nvPr/>
          </p:nvSpPr>
          <p:spPr>
            <a:xfrm rot="18900000">
              <a:off x="5541" y="9694"/>
              <a:ext cx="1587" cy="14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Limbic</a:t>
              </a:r>
            </a:p>
          </p:txBody>
        </p:sp>
        <p:sp>
          <p:nvSpPr>
            <p:cNvPr id="30" name="文本框 171">
              <a:extLst>
                <a:ext uri="{FF2B5EF4-FFF2-40B4-BE49-F238E27FC236}">
                  <a16:creationId xmlns:a16="http://schemas.microsoft.com/office/drawing/2014/main" id="{14458684-ED07-0026-B616-F764F2EC6340}"/>
                </a:ext>
              </a:extLst>
            </p:cNvPr>
            <p:cNvSpPr txBox="1"/>
            <p:nvPr/>
          </p:nvSpPr>
          <p:spPr>
            <a:xfrm rot="18900000">
              <a:off x="4637" y="10007"/>
              <a:ext cx="1587" cy="14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Dorsal Attention</a:t>
              </a:r>
            </a:p>
          </p:txBody>
        </p:sp>
      </p:grpSp>
      <p:grpSp>
        <p:nvGrpSpPr>
          <p:cNvPr id="16" name="组合 343">
            <a:extLst>
              <a:ext uri="{FF2B5EF4-FFF2-40B4-BE49-F238E27FC236}">
                <a16:creationId xmlns:a16="http://schemas.microsoft.com/office/drawing/2014/main" id="{B4487E21-3C91-6C08-5577-D92D39B35342}"/>
              </a:ext>
            </a:extLst>
          </p:cNvPr>
          <p:cNvGrpSpPr/>
          <p:nvPr/>
        </p:nvGrpSpPr>
        <p:grpSpPr>
          <a:xfrm>
            <a:off x="2321819" y="2159999"/>
            <a:ext cx="882213" cy="1155674"/>
            <a:chOff x="3459" y="8037"/>
            <a:chExt cx="1390" cy="1821"/>
          </a:xfrm>
        </p:grpSpPr>
        <p:sp>
          <p:nvSpPr>
            <p:cNvPr id="17" name="文本框 334">
              <a:extLst>
                <a:ext uri="{FF2B5EF4-FFF2-40B4-BE49-F238E27FC236}">
                  <a16:creationId xmlns:a16="http://schemas.microsoft.com/office/drawing/2014/main" id="{9BD86DA4-6698-0355-6F7A-D86ED2592E4B}"/>
                </a:ext>
              </a:extLst>
            </p:cNvPr>
            <p:cNvSpPr txBox="1"/>
            <p:nvPr/>
          </p:nvSpPr>
          <p:spPr>
            <a:xfrm>
              <a:off x="3585" y="8037"/>
              <a:ext cx="1255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Working Memory</a:t>
              </a:r>
            </a:p>
          </p:txBody>
        </p:sp>
        <p:sp>
          <p:nvSpPr>
            <p:cNvPr id="18" name="文本框 335">
              <a:extLst>
                <a:ext uri="{FF2B5EF4-FFF2-40B4-BE49-F238E27FC236}">
                  <a16:creationId xmlns:a16="http://schemas.microsoft.com/office/drawing/2014/main" id="{6125BC56-5995-FE0E-A78D-DE10ED3673D3}"/>
                </a:ext>
              </a:extLst>
            </p:cNvPr>
            <p:cNvSpPr txBox="1"/>
            <p:nvPr/>
          </p:nvSpPr>
          <p:spPr>
            <a:xfrm>
              <a:off x="3573" y="8322"/>
              <a:ext cx="1255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Motor</a:t>
              </a:r>
            </a:p>
          </p:txBody>
        </p:sp>
        <p:sp>
          <p:nvSpPr>
            <p:cNvPr id="19" name="文本框 336">
              <a:extLst>
                <a:ext uri="{FF2B5EF4-FFF2-40B4-BE49-F238E27FC236}">
                  <a16:creationId xmlns:a16="http://schemas.microsoft.com/office/drawing/2014/main" id="{5800BB72-E037-523F-062D-45FCC9A34918}"/>
                </a:ext>
              </a:extLst>
            </p:cNvPr>
            <p:cNvSpPr txBox="1"/>
            <p:nvPr/>
          </p:nvSpPr>
          <p:spPr>
            <a:xfrm>
              <a:off x="3569" y="8607"/>
              <a:ext cx="1255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Language</a:t>
              </a:r>
            </a:p>
          </p:txBody>
        </p:sp>
        <p:sp>
          <p:nvSpPr>
            <p:cNvPr id="20" name="文本框 337">
              <a:extLst>
                <a:ext uri="{FF2B5EF4-FFF2-40B4-BE49-F238E27FC236}">
                  <a16:creationId xmlns:a16="http://schemas.microsoft.com/office/drawing/2014/main" id="{AD9481AD-0253-ACDA-7168-F3A2F65036A4}"/>
                </a:ext>
              </a:extLst>
            </p:cNvPr>
            <p:cNvSpPr txBox="1"/>
            <p:nvPr/>
          </p:nvSpPr>
          <p:spPr>
            <a:xfrm>
              <a:off x="3590" y="8895"/>
              <a:ext cx="1255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Social Cognition</a:t>
              </a:r>
            </a:p>
          </p:txBody>
        </p:sp>
        <p:sp>
          <p:nvSpPr>
            <p:cNvPr id="21" name="文本框 338">
              <a:extLst>
                <a:ext uri="{FF2B5EF4-FFF2-40B4-BE49-F238E27FC236}">
                  <a16:creationId xmlns:a16="http://schemas.microsoft.com/office/drawing/2014/main" id="{400F7833-0EAE-C99C-138E-9649237AEB62}"/>
                </a:ext>
              </a:extLst>
            </p:cNvPr>
            <p:cNvSpPr txBox="1"/>
            <p:nvPr/>
          </p:nvSpPr>
          <p:spPr>
            <a:xfrm>
              <a:off x="3469" y="9182"/>
              <a:ext cx="1380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Relational Processing</a:t>
              </a:r>
            </a:p>
          </p:txBody>
        </p:sp>
        <p:sp>
          <p:nvSpPr>
            <p:cNvPr id="22" name="文本框 339">
              <a:extLst>
                <a:ext uri="{FF2B5EF4-FFF2-40B4-BE49-F238E27FC236}">
                  <a16:creationId xmlns:a16="http://schemas.microsoft.com/office/drawing/2014/main" id="{03CD4546-13E5-6124-3E39-3B3D08FEE028}"/>
                </a:ext>
              </a:extLst>
            </p:cNvPr>
            <p:cNvSpPr txBox="1"/>
            <p:nvPr/>
          </p:nvSpPr>
          <p:spPr>
            <a:xfrm>
              <a:off x="3459" y="9472"/>
              <a:ext cx="1380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Emotion</a:t>
              </a:r>
            </a:p>
          </p:txBody>
        </p:sp>
        <p:sp>
          <p:nvSpPr>
            <p:cNvPr id="23" name="文本框 340">
              <a:extLst>
                <a:ext uri="{FF2B5EF4-FFF2-40B4-BE49-F238E27FC236}">
                  <a16:creationId xmlns:a16="http://schemas.microsoft.com/office/drawing/2014/main" id="{34A5F295-080D-D9DF-58AA-9ADCD9574C1C}"/>
                </a:ext>
              </a:extLst>
            </p:cNvPr>
            <p:cNvSpPr txBox="1"/>
            <p:nvPr/>
          </p:nvSpPr>
          <p:spPr>
            <a:xfrm>
              <a:off x="3465" y="9738"/>
              <a:ext cx="1380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Gambling</a:t>
              </a:r>
            </a:p>
          </p:txBody>
        </p:sp>
      </p:grpSp>
      <p:sp>
        <p:nvSpPr>
          <p:cNvPr id="9" name="文本框 260">
            <a:extLst>
              <a:ext uri="{FF2B5EF4-FFF2-40B4-BE49-F238E27FC236}">
                <a16:creationId xmlns:a16="http://schemas.microsoft.com/office/drawing/2014/main" id="{214CB492-CCA4-7AC0-A981-937A1B8D30EA}"/>
              </a:ext>
            </a:extLst>
          </p:cNvPr>
          <p:cNvSpPr txBox="1"/>
          <p:nvPr/>
        </p:nvSpPr>
        <p:spPr>
          <a:xfrm rot="16200000">
            <a:off x="2128828" y="2565123"/>
            <a:ext cx="686259" cy="12569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Cognitive Tasks</a:t>
            </a:r>
          </a:p>
        </p:txBody>
      </p:sp>
    </p:spTree>
    <p:extLst>
      <p:ext uri="{BB962C8B-B14F-4D97-AF65-F5344CB8AC3E}">
        <p14:creationId xmlns:p14="http://schemas.microsoft.com/office/powerpoint/2010/main" val="2652713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组合 201"/>
          <p:cNvGrpSpPr/>
          <p:nvPr/>
        </p:nvGrpSpPr>
        <p:grpSpPr>
          <a:xfrm>
            <a:off x="346241" y="2406612"/>
            <a:ext cx="3317191" cy="1744920"/>
            <a:chOff x="545" y="3376"/>
            <a:chExt cx="5225" cy="2749"/>
          </a:xfrm>
        </p:grpSpPr>
        <p:grpSp>
          <p:nvGrpSpPr>
            <p:cNvPr id="200" name="组合 199"/>
            <p:cNvGrpSpPr/>
            <p:nvPr/>
          </p:nvGrpSpPr>
          <p:grpSpPr>
            <a:xfrm>
              <a:off x="5074" y="3926"/>
              <a:ext cx="696" cy="1788"/>
              <a:chOff x="9318" y="5740"/>
              <a:chExt cx="696" cy="1788"/>
            </a:xfrm>
          </p:grpSpPr>
          <p:grpSp>
            <p:nvGrpSpPr>
              <p:cNvPr id="182" name="组合 181"/>
              <p:cNvGrpSpPr/>
              <p:nvPr/>
            </p:nvGrpSpPr>
            <p:grpSpPr>
              <a:xfrm>
                <a:off x="9352" y="5740"/>
                <a:ext cx="662" cy="1788"/>
                <a:chOff x="9515" y="4321"/>
                <a:chExt cx="631" cy="1789"/>
              </a:xfrm>
            </p:grpSpPr>
            <p:sp>
              <p:nvSpPr>
                <p:cNvPr id="288" name="文本框 287"/>
                <p:cNvSpPr txBox="1"/>
                <p:nvPr/>
              </p:nvSpPr>
              <p:spPr>
                <a:xfrm>
                  <a:off x="9520" y="4631"/>
                  <a:ext cx="624" cy="211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l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0.75</a:t>
                  </a:r>
                </a:p>
              </p:txBody>
            </p:sp>
            <p:sp>
              <p:nvSpPr>
                <p:cNvPr id="289" name="文本框 288"/>
                <p:cNvSpPr txBox="1"/>
                <p:nvPr/>
              </p:nvSpPr>
              <p:spPr>
                <a:xfrm>
                  <a:off x="9520" y="4952"/>
                  <a:ext cx="624" cy="211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l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0.5</a:t>
                  </a:r>
                </a:p>
              </p:txBody>
            </p:sp>
            <p:sp>
              <p:nvSpPr>
                <p:cNvPr id="290" name="文本框 289"/>
                <p:cNvSpPr txBox="1"/>
                <p:nvPr/>
              </p:nvSpPr>
              <p:spPr>
                <a:xfrm>
                  <a:off x="9515" y="5273"/>
                  <a:ext cx="624" cy="211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l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0.25</a:t>
                  </a:r>
                </a:p>
              </p:txBody>
            </p:sp>
            <p:sp>
              <p:nvSpPr>
                <p:cNvPr id="291" name="文本框 290"/>
                <p:cNvSpPr txBox="1"/>
                <p:nvPr/>
              </p:nvSpPr>
              <p:spPr>
                <a:xfrm>
                  <a:off x="9522" y="5595"/>
                  <a:ext cx="624" cy="211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l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-1e-05</a:t>
                  </a:r>
                </a:p>
              </p:txBody>
            </p:sp>
            <p:sp>
              <p:nvSpPr>
                <p:cNvPr id="179" name="文本框 178"/>
                <p:cNvSpPr txBox="1"/>
                <p:nvPr/>
              </p:nvSpPr>
              <p:spPr>
                <a:xfrm>
                  <a:off x="9520" y="4321"/>
                  <a:ext cx="624" cy="20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l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  <p:sp>
              <p:nvSpPr>
                <p:cNvPr id="286" name="矩形 285"/>
                <p:cNvSpPr/>
                <p:nvPr/>
              </p:nvSpPr>
              <p:spPr>
                <a:xfrm>
                  <a:off x="9525" y="5818"/>
                  <a:ext cx="285" cy="2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pic>
            <p:nvPicPr>
              <p:cNvPr id="178" name="图片 177"/>
              <p:cNvPicPr/>
              <p:nvPr/>
            </p:nvPicPr>
            <p:blipFill>
              <a:blip r:embed="rId2"/>
              <a:srcRect l="18039" t="-514"/>
              <a:stretch>
                <a:fillRect/>
              </a:stretch>
            </p:blipFill>
            <p:spPr>
              <a:xfrm>
                <a:off x="9318" y="5768"/>
                <a:ext cx="170" cy="1474"/>
              </a:xfrm>
              <a:prstGeom prst="rect">
                <a:avLst/>
              </a:prstGeom>
            </p:spPr>
          </p:pic>
        </p:grpSp>
        <p:grpSp>
          <p:nvGrpSpPr>
            <p:cNvPr id="362" name="组合 361"/>
            <p:cNvGrpSpPr/>
            <p:nvPr/>
          </p:nvGrpSpPr>
          <p:grpSpPr>
            <a:xfrm>
              <a:off x="545" y="4713"/>
              <a:ext cx="4467" cy="1412"/>
              <a:chOff x="5224" y="6037"/>
              <a:chExt cx="4469" cy="1413"/>
            </a:xfrm>
          </p:grpSpPr>
          <p:grpSp>
            <p:nvGrpSpPr>
              <p:cNvPr id="361" name="组合 360"/>
              <p:cNvGrpSpPr/>
              <p:nvPr/>
            </p:nvGrpSpPr>
            <p:grpSpPr>
              <a:xfrm>
                <a:off x="5224" y="6174"/>
                <a:ext cx="4469" cy="1276"/>
                <a:chOff x="5224" y="6174"/>
                <a:chExt cx="4469" cy="1276"/>
              </a:xfrm>
            </p:grpSpPr>
            <p:pic>
              <p:nvPicPr>
                <p:cNvPr id="269" name="图片 268"/>
                <p:cNvPicPr>
                  <a:picLocks noChangeAspect="1"/>
                </p:cNvPicPr>
                <p:nvPr/>
              </p:nvPicPr>
              <p:blipFill>
                <a:blip r:embed="rId3"/>
                <a:srcRect l="52206" t="9730" r="3796" b="66291"/>
                <a:stretch>
                  <a:fillRect/>
                </a:stretch>
              </p:blipFill>
              <p:spPr>
                <a:xfrm>
                  <a:off x="5224" y="6174"/>
                  <a:ext cx="4469" cy="1276"/>
                </a:xfrm>
                <a:prstGeom prst="rect">
                  <a:avLst/>
                </a:prstGeom>
              </p:spPr>
            </p:pic>
            <p:grpSp>
              <p:nvGrpSpPr>
                <p:cNvPr id="313" name="组合 312"/>
                <p:cNvGrpSpPr/>
                <p:nvPr/>
              </p:nvGrpSpPr>
              <p:grpSpPr>
                <a:xfrm>
                  <a:off x="6636" y="6310"/>
                  <a:ext cx="985" cy="213"/>
                  <a:chOff x="2873" y="8697"/>
                  <a:chExt cx="515" cy="120"/>
                </a:xfrm>
              </p:grpSpPr>
              <p:sp>
                <p:nvSpPr>
                  <p:cNvPr id="314" name="矩形 313"/>
                  <p:cNvSpPr/>
                  <p:nvPr/>
                </p:nvSpPr>
                <p:spPr>
                  <a:xfrm>
                    <a:off x="2873" y="8697"/>
                    <a:ext cx="120" cy="1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600">
                        <a:solidFill>
                          <a:schemeClr val="tx1"/>
                        </a:solidFill>
                        <a:latin typeface="Calibri Light" panose="020F0302020204030204" charset="0"/>
                        <a:cs typeface="Calibri Light" panose="020F0302020204030204" charset="0"/>
                      </a:rPr>
                      <a:t>L</a:t>
                    </a:r>
                  </a:p>
                </p:txBody>
              </p:sp>
              <p:sp>
                <p:nvSpPr>
                  <p:cNvPr id="315" name="矩形 314"/>
                  <p:cNvSpPr/>
                  <p:nvPr/>
                </p:nvSpPr>
                <p:spPr>
                  <a:xfrm>
                    <a:off x="3268" y="8697"/>
                    <a:ext cx="120" cy="1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600">
                        <a:solidFill>
                          <a:schemeClr val="tx1"/>
                        </a:solidFill>
                        <a:latin typeface="Calibri Light" panose="020F0302020204030204" charset="0"/>
                        <a:cs typeface="Calibri Light" panose="020F0302020204030204" charset="0"/>
                      </a:rPr>
                      <a:t>R</a:t>
                    </a:r>
                  </a:p>
                </p:txBody>
              </p:sp>
            </p:grpSp>
            <p:grpSp>
              <p:nvGrpSpPr>
                <p:cNvPr id="319" name="组合 318"/>
                <p:cNvGrpSpPr/>
                <p:nvPr/>
              </p:nvGrpSpPr>
              <p:grpSpPr>
                <a:xfrm>
                  <a:off x="8724" y="6269"/>
                  <a:ext cx="963" cy="216"/>
                  <a:chOff x="3950" y="8681"/>
                  <a:chExt cx="503" cy="122"/>
                </a:xfrm>
              </p:grpSpPr>
              <p:sp>
                <p:nvSpPr>
                  <p:cNvPr id="320" name="矩形 319"/>
                  <p:cNvSpPr/>
                  <p:nvPr/>
                </p:nvSpPr>
                <p:spPr>
                  <a:xfrm>
                    <a:off x="3950" y="8683"/>
                    <a:ext cx="120" cy="1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600">
                        <a:solidFill>
                          <a:schemeClr val="tx1"/>
                        </a:solidFill>
                        <a:latin typeface="Calibri Light" panose="020F0302020204030204" charset="0"/>
                        <a:cs typeface="Calibri Light" panose="020F0302020204030204" charset="0"/>
                      </a:rPr>
                      <a:t>L</a:t>
                    </a:r>
                  </a:p>
                </p:txBody>
              </p:sp>
              <p:sp>
                <p:nvSpPr>
                  <p:cNvPr id="321" name="矩形 320"/>
                  <p:cNvSpPr/>
                  <p:nvPr/>
                </p:nvSpPr>
                <p:spPr>
                  <a:xfrm>
                    <a:off x="4333" y="8681"/>
                    <a:ext cx="120" cy="1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600">
                        <a:solidFill>
                          <a:schemeClr val="tx1"/>
                        </a:solidFill>
                        <a:latin typeface="Calibri Light" panose="020F0302020204030204" charset="0"/>
                        <a:cs typeface="Calibri Light" panose="020F0302020204030204" charset="0"/>
                      </a:rPr>
                      <a:t>R</a:t>
                    </a:r>
                  </a:p>
                </p:txBody>
              </p:sp>
            </p:grpSp>
          </p:grpSp>
          <p:sp>
            <p:nvSpPr>
              <p:cNvPr id="270" name="文本框 269"/>
              <p:cNvSpPr txBox="1"/>
              <p:nvPr/>
            </p:nvSpPr>
            <p:spPr>
              <a:xfrm>
                <a:off x="5784" y="6037"/>
                <a:ext cx="3875" cy="27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B.Low-Efficiency Group (Diffuse Activation)</a:t>
                </a:r>
              </a:p>
            </p:txBody>
          </p:sp>
        </p:grpSp>
        <p:grpSp>
          <p:nvGrpSpPr>
            <p:cNvPr id="120" name="组合 119"/>
            <p:cNvGrpSpPr/>
            <p:nvPr/>
          </p:nvGrpSpPr>
          <p:grpSpPr>
            <a:xfrm>
              <a:off x="639" y="3376"/>
              <a:ext cx="4404" cy="1415"/>
              <a:chOff x="5754" y="4328"/>
              <a:chExt cx="4404" cy="1415"/>
            </a:xfrm>
          </p:grpSpPr>
          <p:grpSp>
            <p:nvGrpSpPr>
              <p:cNvPr id="351" name="组合 350"/>
              <p:cNvGrpSpPr/>
              <p:nvPr/>
            </p:nvGrpSpPr>
            <p:grpSpPr>
              <a:xfrm>
                <a:off x="5754" y="4328"/>
                <a:ext cx="4404" cy="1415"/>
                <a:chOff x="6505" y="6390"/>
                <a:chExt cx="2880" cy="1186"/>
              </a:xfrm>
            </p:grpSpPr>
            <p:pic>
              <p:nvPicPr>
                <p:cNvPr id="347" name="图片 346"/>
                <p:cNvPicPr>
                  <a:picLocks noChangeAspect="1"/>
                </p:cNvPicPr>
                <p:nvPr/>
              </p:nvPicPr>
              <p:blipFill>
                <a:blip r:embed="rId3"/>
                <a:srcRect l="-985" t="7582" r="57786" b="65756"/>
                <a:stretch>
                  <a:fillRect/>
                </a:stretch>
              </p:blipFill>
              <p:spPr>
                <a:xfrm>
                  <a:off x="6505" y="6390"/>
                  <a:ext cx="2869" cy="1186"/>
                </a:xfrm>
                <a:prstGeom prst="rect">
                  <a:avLst/>
                </a:prstGeom>
              </p:spPr>
            </p:pic>
            <p:grpSp>
              <p:nvGrpSpPr>
                <p:cNvPr id="310" name="组合 309"/>
                <p:cNvGrpSpPr/>
                <p:nvPr/>
              </p:nvGrpSpPr>
              <p:grpSpPr>
                <a:xfrm>
                  <a:off x="7335" y="6614"/>
                  <a:ext cx="685" cy="178"/>
                  <a:chOff x="2824" y="8562"/>
                  <a:chExt cx="547" cy="120"/>
                </a:xfrm>
              </p:grpSpPr>
              <p:sp>
                <p:nvSpPr>
                  <p:cNvPr id="311" name="矩形 310"/>
                  <p:cNvSpPr/>
                  <p:nvPr/>
                </p:nvSpPr>
                <p:spPr>
                  <a:xfrm>
                    <a:off x="2824" y="8562"/>
                    <a:ext cx="120" cy="1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600">
                        <a:solidFill>
                          <a:schemeClr val="tx1"/>
                        </a:solidFill>
                        <a:latin typeface="Calibri Light" panose="020F0302020204030204" charset="0"/>
                        <a:cs typeface="Calibri Light" panose="020F0302020204030204" charset="0"/>
                      </a:rPr>
                      <a:t>L</a:t>
                    </a:r>
                  </a:p>
                </p:txBody>
              </p:sp>
              <p:sp>
                <p:nvSpPr>
                  <p:cNvPr id="312" name="矩形 311"/>
                  <p:cNvSpPr/>
                  <p:nvPr/>
                </p:nvSpPr>
                <p:spPr>
                  <a:xfrm>
                    <a:off x="3251" y="8562"/>
                    <a:ext cx="120" cy="1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600">
                        <a:solidFill>
                          <a:schemeClr val="tx1"/>
                        </a:solidFill>
                        <a:latin typeface="Calibri Light" panose="020F0302020204030204" charset="0"/>
                        <a:cs typeface="Calibri Light" panose="020F0302020204030204" charset="0"/>
                      </a:rPr>
                      <a:t>R</a:t>
                    </a:r>
                  </a:p>
                </p:txBody>
              </p:sp>
            </p:grpSp>
            <p:grpSp>
              <p:nvGrpSpPr>
                <p:cNvPr id="348" name="组合 347"/>
                <p:cNvGrpSpPr/>
                <p:nvPr/>
              </p:nvGrpSpPr>
              <p:grpSpPr>
                <a:xfrm>
                  <a:off x="8758" y="6556"/>
                  <a:ext cx="627" cy="178"/>
                  <a:chOff x="3933" y="8534"/>
                  <a:chExt cx="501" cy="120"/>
                </a:xfrm>
              </p:grpSpPr>
              <p:sp>
                <p:nvSpPr>
                  <p:cNvPr id="349" name="矩形 348"/>
                  <p:cNvSpPr/>
                  <p:nvPr/>
                </p:nvSpPr>
                <p:spPr>
                  <a:xfrm>
                    <a:off x="3933" y="8534"/>
                    <a:ext cx="120" cy="1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600">
                        <a:solidFill>
                          <a:schemeClr val="tx1"/>
                        </a:solidFill>
                        <a:latin typeface="Calibri Light" panose="020F0302020204030204" charset="0"/>
                        <a:cs typeface="Calibri Light" panose="020F0302020204030204" charset="0"/>
                      </a:rPr>
                      <a:t>L</a:t>
                    </a:r>
                  </a:p>
                </p:txBody>
              </p:sp>
              <p:sp>
                <p:nvSpPr>
                  <p:cNvPr id="350" name="矩形 349"/>
                  <p:cNvSpPr/>
                  <p:nvPr/>
                </p:nvSpPr>
                <p:spPr>
                  <a:xfrm>
                    <a:off x="4314" y="8534"/>
                    <a:ext cx="120" cy="1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600">
                        <a:solidFill>
                          <a:schemeClr val="tx1"/>
                        </a:solidFill>
                        <a:latin typeface="Calibri Light" panose="020F0302020204030204" charset="0"/>
                        <a:cs typeface="Calibri Light" panose="020F0302020204030204" charset="0"/>
                      </a:rPr>
                      <a:t>R</a:t>
                    </a:r>
                  </a:p>
                </p:txBody>
              </p:sp>
            </p:grpSp>
          </p:grpSp>
          <p:sp>
            <p:nvSpPr>
              <p:cNvPr id="271" name="文本框 270"/>
              <p:cNvSpPr txBox="1"/>
              <p:nvPr/>
            </p:nvSpPr>
            <p:spPr>
              <a:xfrm>
                <a:off x="6549" y="4332"/>
                <a:ext cx="3216" cy="271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A.High-Efficiency Group (Sparser Activation)</a:t>
                </a:r>
              </a:p>
            </p:txBody>
          </p:sp>
        </p:grpSp>
      </p:grpSp>
      <p:grpSp>
        <p:nvGrpSpPr>
          <p:cNvPr id="375" name="组合 374"/>
          <p:cNvGrpSpPr/>
          <p:nvPr/>
        </p:nvGrpSpPr>
        <p:grpSpPr>
          <a:xfrm>
            <a:off x="-92804" y="402099"/>
            <a:ext cx="4013681" cy="1765029"/>
            <a:chOff x="-174" y="3211"/>
            <a:chExt cx="6324" cy="2781"/>
          </a:xfrm>
        </p:grpSpPr>
        <p:grpSp>
          <p:nvGrpSpPr>
            <p:cNvPr id="43" name="组合 42"/>
            <p:cNvGrpSpPr/>
            <p:nvPr/>
          </p:nvGrpSpPr>
          <p:grpSpPr>
            <a:xfrm>
              <a:off x="-174" y="3211"/>
              <a:ext cx="4105" cy="2747"/>
              <a:chOff x="1039" y="7881"/>
              <a:chExt cx="4105" cy="2747"/>
            </a:xfrm>
          </p:grpSpPr>
          <p:pic>
            <p:nvPicPr>
              <p:cNvPr id="67" name="图片 66"/>
              <p:cNvPicPr>
                <a:picLocks noChangeAspect="1"/>
              </p:cNvPicPr>
              <p:nvPr/>
            </p:nvPicPr>
            <p:blipFill>
              <a:blip r:embed="rId4"/>
              <a:srcRect l="7409" t="12263" r="54621" b="9946"/>
              <a:stretch>
                <a:fillRect/>
              </a:stretch>
            </p:blipFill>
            <p:spPr>
              <a:xfrm>
                <a:off x="1631" y="8117"/>
                <a:ext cx="2313" cy="2324"/>
              </a:xfrm>
              <a:custGeom>
                <a:avLst/>
                <a:gdLst>
                  <a:gd name="csX0" fmla="*/ 681551 w 1359380"/>
                  <a:gd name="csY0" fmla="*/ 0 h 1366826"/>
                  <a:gd name="csX1" fmla="*/ 1349255 w 1359380"/>
                  <a:gd name="csY1" fmla="*/ 545682 h 1366826"/>
                  <a:gd name="csX2" fmla="*/ 1359380 w 1359380"/>
                  <a:gd name="csY2" fmla="*/ 646391 h 1366826"/>
                  <a:gd name="csX3" fmla="*/ 1314802 w 1359380"/>
                  <a:gd name="csY3" fmla="*/ 646391 h 1366826"/>
                  <a:gd name="csX4" fmla="*/ 1314802 w 1359380"/>
                  <a:gd name="csY4" fmla="*/ 683413 h 1366826"/>
                  <a:gd name="csX5" fmla="*/ 1313070 w 1359380"/>
                  <a:gd name="csY5" fmla="*/ 683413 h 1366826"/>
                  <a:gd name="csX6" fmla="*/ 1313070 w 1359380"/>
                  <a:gd name="csY6" fmla="*/ 729132 h 1366826"/>
                  <a:gd name="csX7" fmla="*/ 1358506 w 1359380"/>
                  <a:gd name="csY7" fmla="*/ 729132 h 1366826"/>
                  <a:gd name="csX8" fmla="*/ 1349255 w 1359380"/>
                  <a:gd name="csY8" fmla="*/ 821145 h 1366826"/>
                  <a:gd name="csX9" fmla="*/ 681551 w 1359380"/>
                  <a:gd name="csY9" fmla="*/ 1366826 h 1366826"/>
                  <a:gd name="csX10" fmla="*/ 0 w 1359380"/>
                  <a:gd name="csY10" fmla="*/ 683413 h 1366826"/>
                  <a:gd name="csX11" fmla="*/ 681551 w 1359380"/>
                  <a:gd name="csY11" fmla="*/ 0 h 13668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1359380" h="1366826">
                    <a:moveTo>
                      <a:pt x="681551" y="0"/>
                    </a:moveTo>
                    <a:cubicBezTo>
                      <a:pt x="1010910" y="0"/>
                      <a:pt x="1285703" y="234262"/>
                      <a:pt x="1349255" y="545682"/>
                    </a:cubicBezTo>
                    <a:lnTo>
                      <a:pt x="1359380" y="646391"/>
                    </a:lnTo>
                    <a:lnTo>
                      <a:pt x="1314802" y="646391"/>
                    </a:lnTo>
                    <a:lnTo>
                      <a:pt x="1314802" y="683413"/>
                    </a:lnTo>
                    <a:lnTo>
                      <a:pt x="1313070" y="683413"/>
                    </a:lnTo>
                    <a:lnTo>
                      <a:pt x="1313070" y="729132"/>
                    </a:lnTo>
                    <a:lnTo>
                      <a:pt x="1358506" y="729132"/>
                    </a:lnTo>
                    <a:lnTo>
                      <a:pt x="1349255" y="821145"/>
                    </a:lnTo>
                    <a:cubicBezTo>
                      <a:pt x="1285703" y="1132565"/>
                      <a:pt x="1010910" y="1366826"/>
                      <a:pt x="681551" y="1366826"/>
                    </a:cubicBezTo>
                    <a:cubicBezTo>
                      <a:pt x="305141" y="1366826"/>
                      <a:pt x="0" y="1060852"/>
                      <a:pt x="0" y="683413"/>
                    </a:cubicBezTo>
                    <a:cubicBezTo>
                      <a:pt x="0" y="305974"/>
                      <a:pt x="305141" y="0"/>
                      <a:pt x="681551" y="0"/>
                    </a:cubicBezTo>
                    <a:close/>
                  </a:path>
                </a:pathLst>
              </a:custGeom>
            </p:spPr>
          </p:pic>
          <p:sp>
            <p:nvSpPr>
              <p:cNvPr id="68" name="文本框 67"/>
              <p:cNvSpPr txBox="1"/>
              <p:nvPr/>
            </p:nvSpPr>
            <p:spPr>
              <a:xfrm>
                <a:off x="1039" y="8479"/>
                <a:ext cx="852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Social </a:t>
                </a:r>
              </a:p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Cognition</a:t>
                </a:r>
              </a:p>
            </p:txBody>
          </p:sp>
          <p:sp>
            <p:nvSpPr>
              <p:cNvPr id="69" name="文本框 68"/>
              <p:cNvSpPr txBox="1"/>
              <p:nvPr/>
            </p:nvSpPr>
            <p:spPr>
              <a:xfrm>
                <a:off x="1113" y="9668"/>
                <a:ext cx="840" cy="34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Relational </a:t>
                </a:r>
              </a:p>
              <a:p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Processing</a:t>
                </a:r>
              </a:p>
            </p:txBody>
          </p:sp>
          <p:sp>
            <p:nvSpPr>
              <p:cNvPr id="70" name="文本框 69"/>
              <p:cNvSpPr txBox="1"/>
              <p:nvPr/>
            </p:nvSpPr>
            <p:spPr>
              <a:xfrm>
                <a:off x="2138" y="10339"/>
                <a:ext cx="804" cy="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Emotion</a:t>
                </a:r>
              </a:p>
            </p:txBody>
          </p:sp>
          <p:sp>
            <p:nvSpPr>
              <p:cNvPr id="71" name="文本框 70"/>
              <p:cNvSpPr txBox="1"/>
              <p:nvPr/>
            </p:nvSpPr>
            <p:spPr>
              <a:xfrm>
                <a:off x="3224" y="10068"/>
                <a:ext cx="842" cy="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Gambling</a:t>
                </a:r>
              </a:p>
            </p:txBody>
          </p:sp>
          <p:sp>
            <p:nvSpPr>
              <p:cNvPr id="72" name="文本框 71"/>
              <p:cNvSpPr txBox="1"/>
              <p:nvPr/>
            </p:nvSpPr>
            <p:spPr>
              <a:xfrm>
                <a:off x="3715" y="9072"/>
                <a:ext cx="729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Working</a:t>
                </a:r>
              </a:p>
              <a:p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Memory</a:t>
                </a:r>
              </a:p>
              <a:p>
                <a:endPara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6" name="文本框 75"/>
              <p:cNvSpPr txBox="1"/>
              <p:nvPr/>
            </p:nvSpPr>
            <p:spPr>
              <a:xfrm>
                <a:off x="1897" y="8088"/>
                <a:ext cx="850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Language</a:t>
                </a:r>
              </a:p>
            </p:txBody>
          </p:sp>
          <p:sp>
            <p:nvSpPr>
              <p:cNvPr id="79" name="文本框 78"/>
              <p:cNvSpPr txBox="1"/>
              <p:nvPr/>
            </p:nvSpPr>
            <p:spPr>
              <a:xfrm>
                <a:off x="1602" y="7881"/>
                <a:ext cx="2160" cy="17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Composite Sparsity by rask</a:t>
                </a:r>
              </a:p>
            </p:txBody>
          </p:sp>
          <p:grpSp>
            <p:nvGrpSpPr>
              <p:cNvPr id="42" name="组合 41"/>
              <p:cNvGrpSpPr/>
              <p:nvPr/>
            </p:nvGrpSpPr>
            <p:grpSpPr>
              <a:xfrm>
                <a:off x="3336" y="7892"/>
                <a:ext cx="1808" cy="305"/>
                <a:chOff x="3336" y="7892"/>
                <a:chExt cx="1808" cy="305"/>
              </a:xfrm>
            </p:grpSpPr>
            <p:sp>
              <p:nvSpPr>
                <p:cNvPr id="74" name="文本框 73"/>
                <p:cNvSpPr txBox="1"/>
                <p:nvPr/>
              </p:nvSpPr>
              <p:spPr>
                <a:xfrm>
                  <a:off x="3529" y="7932"/>
                  <a:ext cx="1615" cy="134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High Efficiency</a:t>
                  </a:r>
                </a:p>
              </p:txBody>
            </p:sp>
            <p:sp>
              <p:nvSpPr>
                <p:cNvPr id="41" name="文本框 40"/>
                <p:cNvSpPr txBox="1"/>
                <p:nvPr/>
              </p:nvSpPr>
              <p:spPr>
                <a:xfrm>
                  <a:off x="3529" y="8051"/>
                  <a:ext cx="1238" cy="13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Low Efficiency</a:t>
                  </a:r>
                </a:p>
              </p:txBody>
            </p:sp>
            <p:pic>
              <p:nvPicPr>
                <p:cNvPr id="75" name="图片 74"/>
                <p:cNvPicPr/>
                <p:nvPr/>
              </p:nvPicPr>
              <p:blipFill>
                <a:blip r:embed="rId4"/>
                <a:srcRect l="45456" t="14481" r="50991" b="78265"/>
                <a:stretch>
                  <a:fillRect/>
                </a:stretch>
              </p:blipFill>
              <p:spPr>
                <a:xfrm>
                  <a:off x="3336" y="7892"/>
                  <a:ext cx="319" cy="305"/>
                </a:xfrm>
                <a:prstGeom prst="rect">
                  <a:avLst/>
                </a:prstGeom>
              </p:spPr>
            </p:pic>
          </p:grpSp>
          <p:sp>
            <p:nvSpPr>
              <p:cNvPr id="73" name="文本框 72"/>
              <p:cNvSpPr txBox="1"/>
              <p:nvPr/>
            </p:nvSpPr>
            <p:spPr>
              <a:xfrm>
                <a:off x="3264" y="8221"/>
                <a:ext cx="680" cy="2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Motor</a:t>
                </a:r>
              </a:p>
            </p:txBody>
          </p:sp>
        </p:grpSp>
        <p:grpSp>
          <p:nvGrpSpPr>
            <p:cNvPr id="156" name="组合 155"/>
            <p:cNvGrpSpPr/>
            <p:nvPr/>
          </p:nvGrpSpPr>
          <p:grpSpPr>
            <a:xfrm>
              <a:off x="2352" y="3225"/>
              <a:ext cx="3798" cy="2767"/>
              <a:chOff x="7289" y="11931"/>
              <a:chExt cx="3798" cy="2767"/>
            </a:xfrm>
          </p:grpSpPr>
          <p:sp>
            <p:nvSpPr>
              <p:cNvPr id="7" name="文本框 6"/>
              <p:cNvSpPr txBox="1"/>
              <p:nvPr/>
            </p:nvSpPr>
            <p:spPr>
              <a:xfrm>
                <a:off x="8529" y="11931"/>
                <a:ext cx="2061" cy="17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Effect Size</a:t>
                </a:r>
                <a:r>
                  <a:rPr lang="zh-CN" altLang="en-US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Gini Coefficient</a:t>
                </a:r>
                <a:r>
                  <a:rPr lang="zh-CN" altLang="en-US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）</a:t>
                </a: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9144" y="14578"/>
                <a:ext cx="908" cy="12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Cohen’s d </a:t>
                </a:r>
              </a:p>
            </p:txBody>
          </p:sp>
          <p:grpSp>
            <p:nvGrpSpPr>
              <p:cNvPr id="155" name="组合 154"/>
              <p:cNvGrpSpPr/>
              <p:nvPr/>
            </p:nvGrpSpPr>
            <p:grpSpPr>
              <a:xfrm>
                <a:off x="7289" y="12308"/>
                <a:ext cx="1361" cy="2062"/>
                <a:chOff x="7289" y="12308"/>
                <a:chExt cx="1361" cy="2062"/>
              </a:xfrm>
            </p:grpSpPr>
            <p:sp>
              <p:nvSpPr>
                <p:cNvPr id="8" name="文本框 7"/>
                <p:cNvSpPr txBox="1"/>
                <p:nvPr/>
              </p:nvSpPr>
              <p:spPr>
                <a:xfrm>
                  <a:off x="7743" y="12926"/>
                  <a:ext cx="907" cy="12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Relational </a:t>
                  </a:r>
                </a:p>
                <a:p>
                  <a:pPr algn="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Processing</a:t>
                  </a:r>
                </a:p>
              </p:txBody>
            </p:sp>
            <p:sp>
              <p:nvSpPr>
                <p:cNvPr id="10" name="文本框 9"/>
                <p:cNvSpPr txBox="1"/>
                <p:nvPr/>
              </p:nvSpPr>
              <p:spPr>
                <a:xfrm>
                  <a:off x="7289" y="12637"/>
                  <a:ext cx="1361" cy="12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Emotion</a:t>
                  </a:r>
                </a:p>
              </p:txBody>
            </p:sp>
            <p:sp>
              <p:nvSpPr>
                <p:cNvPr id="12" name="文本框 11"/>
                <p:cNvSpPr txBox="1"/>
                <p:nvPr/>
              </p:nvSpPr>
              <p:spPr>
                <a:xfrm>
                  <a:off x="7289" y="12308"/>
                  <a:ext cx="1361" cy="128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Gambling</a:t>
                  </a:r>
                </a:p>
              </p:txBody>
            </p:sp>
            <p:sp>
              <p:nvSpPr>
                <p:cNvPr id="13" name="文本框 12"/>
                <p:cNvSpPr txBox="1"/>
                <p:nvPr/>
              </p:nvSpPr>
              <p:spPr>
                <a:xfrm>
                  <a:off x="7289" y="13275"/>
                  <a:ext cx="1361" cy="12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Social </a:t>
                  </a:r>
                </a:p>
                <a:p>
                  <a:pPr algn="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Cognition</a:t>
                  </a:r>
                </a:p>
              </p:txBody>
            </p:sp>
            <p:sp>
              <p:nvSpPr>
                <p:cNvPr id="14" name="文本框 13"/>
                <p:cNvSpPr txBox="1"/>
                <p:nvPr/>
              </p:nvSpPr>
              <p:spPr>
                <a:xfrm>
                  <a:off x="7289" y="13584"/>
                  <a:ext cx="1361" cy="12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Language</a:t>
                  </a:r>
                </a:p>
              </p:txBody>
            </p:sp>
            <p:sp>
              <p:nvSpPr>
                <p:cNvPr id="15" name="文本框 14"/>
                <p:cNvSpPr txBox="1"/>
                <p:nvPr/>
              </p:nvSpPr>
              <p:spPr>
                <a:xfrm>
                  <a:off x="7289" y="13903"/>
                  <a:ext cx="1361" cy="12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Motor</a:t>
                  </a:r>
                </a:p>
              </p:txBody>
            </p:sp>
            <p:sp>
              <p:nvSpPr>
                <p:cNvPr id="16" name="文本框 15"/>
                <p:cNvSpPr txBox="1"/>
                <p:nvPr/>
              </p:nvSpPr>
              <p:spPr>
                <a:xfrm>
                  <a:off x="7289" y="14220"/>
                  <a:ext cx="1361" cy="15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Working </a:t>
                  </a:r>
                </a:p>
                <a:p>
                  <a:pPr algn="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Memory</a:t>
                  </a:r>
                </a:p>
              </p:txBody>
            </p:sp>
          </p:grpSp>
          <p:grpSp>
            <p:nvGrpSpPr>
              <p:cNvPr id="154" name="组合 153"/>
              <p:cNvGrpSpPr/>
              <p:nvPr/>
            </p:nvGrpSpPr>
            <p:grpSpPr>
              <a:xfrm>
                <a:off x="8511" y="12143"/>
                <a:ext cx="2576" cy="2381"/>
                <a:chOff x="8511" y="12143"/>
                <a:chExt cx="2576" cy="2381"/>
              </a:xfrm>
            </p:grpSpPr>
            <p:pic>
              <p:nvPicPr>
                <p:cNvPr id="45" name="图片 44"/>
                <p:cNvPicPr>
                  <a:picLocks noChangeAspect="1"/>
                </p:cNvPicPr>
                <p:nvPr/>
              </p:nvPicPr>
              <p:blipFill>
                <a:blip r:embed="rId5"/>
                <a:srcRect t="715"/>
                <a:stretch>
                  <a:fillRect/>
                </a:stretch>
              </p:blipFill>
              <p:spPr>
                <a:xfrm>
                  <a:off x="8511" y="12143"/>
                  <a:ext cx="2095" cy="2381"/>
                </a:xfrm>
                <a:prstGeom prst="rect">
                  <a:avLst/>
                </a:prstGeom>
              </p:spPr>
            </p:pic>
            <p:grpSp>
              <p:nvGrpSpPr>
                <p:cNvPr id="56" name="组合 55"/>
                <p:cNvGrpSpPr/>
                <p:nvPr/>
              </p:nvGrpSpPr>
              <p:grpSpPr>
                <a:xfrm>
                  <a:off x="9598" y="12322"/>
                  <a:ext cx="851" cy="120"/>
                  <a:chOff x="7214" y="8391"/>
                  <a:chExt cx="851" cy="120"/>
                </a:xfrm>
              </p:grpSpPr>
              <p:sp>
                <p:nvSpPr>
                  <p:cNvPr id="55" name="矩形 54"/>
                  <p:cNvSpPr/>
                  <p:nvPr/>
                </p:nvSpPr>
                <p:spPr>
                  <a:xfrm>
                    <a:off x="7346" y="8391"/>
                    <a:ext cx="300" cy="1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1" name="文本框 50"/>
                  <p:cNvSpPr txBox="1"/>
                  <p:nvPr/>
                </p:nvSpPr>
                <p:spPr>
                  <a:xfrm>
                    <a:off x="7214" y="8416"/>
                    <a:ext cx="851" cy="57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d=0.66</a:t>
                    </a:r>
                  </a:p>
                </p:txBody>
              </p:sp>
            </p:grpSp>
            <p:grpSp>
              <p:nvGrpSpPr>
                <p:cNvPr id="57" name="组合 56"/>
                <p:cNvGrpSpPr/>
                <p:nvPr/>
              </p:nvGrpSpPr>
              <p:grpSpPr>
                <a:xfrm>
                  <a:off x="9511" y="12637"/>
                  <a:ext cx="851" cy="120"/>
                  <a:chOff x="7214" y="8391"/>
                  <a:chExt cx="851" cy="120"/>
                </a:xfrm>
              </p:grpSpPr>
              <p:sp>
                <p:nvSpPr>
                  <p:cNvPr id="58" name="矩形 57"/>
                  <p:cNvSpPr/>
                  <p:nvPr/>
                </p:nvSpPr>
                <p:spPr>
                  <a:xfrm>
                    <a:off x="7346" y="8391"/>
                    <a:ext cx="300" cy="1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59" name="文本框 58"/>
                  <p:cNvSpPr txBox="1"/>
                  <p:nvPr/>
                </p:nvSpPr>
                <p:spPr>
                  <a:xfrm>
                    <a:off x="7214" y="8416"/>
                    <a:ext cx="851" cy="57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d=0.38</a:t>
                    </a:r>
                  </a:p>
                </p:txBody>
              </p:sp>
            </p:grpSp>
            <p:grpSp>
              <p:nvGrpSpPr>
                <p:cNvPr id="60" name="组合 59"/>
                <p:cNvGrpSpPr/>
                <p:nvPr/>
              </p:nvGrpSpPr>
              <p:grpSpPr>
                <a:xfrm>
                  <a:off x="8836" y="12964"/>
                  <a:ext cx="851" cy="120"/>
                  <a:chOff x="7101" y="8391"/>
                  <a:chExt cx="851" cy="120"/>
                </a:xfrm>
              </p:grpSpPr>
              <p:sp>
                <p:nvSpPr>
                  <p:cNvPr id="61" name="矩形 60"/>
                  <p:cNvSpPr/>
                  <p:nvPr/>
                </p:nvSpPr>
                <p:spPr>
                  <a:xfrm>
                    <a:off x="7346" y="8391"/>
                    <a:ext cx="394" cy="1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2" name="文本框 61"/>
                  <p:cNvSpPr txBox="1"/>
                  <p:nvPr/>
                </p:nvSpPr>
                <p:spPr>
                  <a:xfrm>
                    <a:off x="7101" y="8416"/>
                    <a:ext cx="851" cy="57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d=</a:t>
                    </a:r>
                    <a:r>
                      <a:rPr lang="zh-CN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﹣</a:t>
                    </a:r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0.06</a:t>
                    </a:r>
                  </a:p>
                </p:txBody>
              </p:sp>
            </p:grpSp>
            <p:grpSp>
              <p:nvGrpSpPr>
                <p:cNvPr id="63" name="组合 62"/>
                <p:cNvGrpSpPr/>
                <p:nvPr/>
              </p:nvGrpSpPr>
              <p:grpSpPr>
                <a:xfrm>
                  <a:off x="9490" y="13277"/>
                  <a:ext cx="851" cy="120"/>
                  <a:chOff x="7214" y="8391"/>
                  <a:chExt cx="851" cy="120"/>
                </a:xfrm>
              </p:grpSpPr>
              <p:sp>
                <p:nvSpPr>
                  <p:cNvPr id="64" name="矩形 63"/>
                  <p:cNvSpPr/>
                  <p:nvPr/>
                </p:nvSpPr>
                <p:spPr>
                  <a:xfrm>
                    <a:off x="7346" y="8391"/>
                    <a:ext cx="300" cy="1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" name="文本框 64"/>
                  <p:cNvSpPr txBox="1"/>
                  <p:nvPr/>
                </p:nvSpPr>
                <p:spPr>
                  <a:xfrm>
                    <a:off x="7214" y="8416"/>
                    <a:ext cx="851" cy="57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d=0.33</a:t>
                    </a:r>
                  </a:p>
                </p:txBody>
              </p:sp>
            </p:grpSp>
            <p:grpSp>
              <p:nvGrpSpPr>
                <p:cNvPr id="82" name="组合 81"/>
                <p:cNvGrpSpPr/>
                <p:nvPr/>
              </p:nvGrpSpPr>
              <p:grpSpPr>
                <a:xfrm>
                  <a:off x="8746" y="13601"/>
                  <a:ext cx="851" cy="120"/>
                  <a:chOff x="7089" y="8391"/>
                  <a:chExt cx="851" cy="120"/>
                </a:xfrm>
              </p:grpSpPr>
              <p:sp>
                <p:nvSpPr>
                  <p:cNvPr id="95" name="矩形 94"/>
                  <p:cNvSpPr/>
                  <p:nvPr/>
                </p:nvSpPr>
                <p:spPr>
                  <a:xfrm>
                    <a:off x="7346" y="8391"/>
                    <a:ext cx="394" cy="1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0" name="文本框 99"/>
                  <p:cNvSpPr txBox="1"/>
                  <p:nvPr/>
                </p:nvSpPr>
                <p:spPr>
                  <a:xfrm>
                    <a:off x="7089" y="8416"/>
                    <a:ext cx="851" cy="57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d=</a:t>
                    </a:r>
                    <a:r>
                      <a:rPr lang="zh-CN" altLang="en-US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﹣</a:t>
                    </a:r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0.29</a:t>
                    </a:r>
                  </a:p>
                </p:txBody>
              </p:sp>
            </p:grpSp>
            <p:grpSp>
              <p:nvGrpSpPr>
                <p:cNvPr id="103" name="组合 102"/>
                <p:cNvGrpSpPr/>
                <p:nvPr/>
              </p:nvGrpSpPr>
              <p:grpSpPr>
                <a:xfrm>
                  <a:off x="9772" y="13921"/>
                  <a:ext cx="851" cy="120"/>
                  <a:chOff x="7222" y="8391"/>
                  <a:chExt cx="851" cy="120"/>
                </a:xfrm>
              </p:grpSpPr>
              <p:sp>
                <p:nvSpPr>
                  <p:cNvPr id="104" name="矩形 103"/>
                  <p:cNvSpPr/>
                  <p:nvPr/>
                </p:nvSpPr>
                <p:spPr>
                  <a:xfrm>
                    <a:off x="7346" y="8391"/>
                    <a:ext cx="300" cy="1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5" name="文本框 104"/>
                  <p:cNvSpPr txBox="1"/>
                  <p:nvPr/>
                </p:nvSpPr>
                <p:spPr>
                  <a:xfrm>
                    <a:off x="7222" y="8416"/>
                    <a:ext cx="851" cy="57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d=1.18**</a:t>
                    </a:r>
                  </a:p>
                </p:txBody>
              </p:sp>
            </p:grpSp>
            <p:grpSp>
              <p:nvGrpSpPr>
                <p:cNvPr id="106" name="组合 105"/>
                <p:cNvGrpSpPr/>
                <p:nvPr/>
              </p:nvGrpSpPr>
              <p:grpSpPr>
                <a:xfrm>
                  <a:off x="10236" y="14224"/>
                  <a:ext cx="851" cy="120"/>
                  <a:chOff x="7221" y="8391"/>
                  <a:chExt cx="851" cy="120"/>
                </a:xfrm>
              </p:grpSpPr>
              <p:sp>
                <p:nvSpPr>
                  <p:cNvPr id="107" name="矩形 106"/>
                  <p:cNvSpPr/>
                  <p:nvPr/>
                </p:nvSpPr>
                <p:spPr>
                  <a:xfrm>
                    <a:off x="7346" y="8391"/>
                    <a:ext cx="300" cy="1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8" name="文本框 107"/>
                  <p:cNvSpPr txBox="1"/>
                  <p:nvPr/>
                </p:nvSpPr>
                <p:spPr>
                  <a:xfrm>
                    <a:off x="7221" y="8423"/>
                    <a:ext cx="851" cy="57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d=2.52**</a:t>
                    </a:r>
                  </a:p>
                </p:txBody>
              </p:sp>
            </p:grpSp>
          </p:grpSp>
        </p:grpSp>
      </p:grpSp>
      <p:sp>
        <p:nvSpPr>
          <p:cNvPr id="368" name="文本框 367"/>
          <p:cNvSpPr txBox="1"/>
          <p:nvPr/>
        </p:nvSpPr>
        <p:spPr>
          <a:xfrm>
            <a:off x="56429" y="231984"/>
            <a:ext cx="359908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</a:p>
        </p:txBody>
      </p:sp>
      <p:sp>
        <p:nvSpPr>
          <p:cNvPr id="369" name="文本框 368"/>
          <p:cNvSpPr txBox="1"/>
          <p:nvPr/>
        </p:nvSpPr>
        <p:spPr>
          <a:xfrm>
            <a:off x="3463677" y="231984"/>
            <a:ext cx="359908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</a:p>
        </p:txBody>
      </p:sp>
      <p:grpSp>
        <p:nvGrpSpPr>
          <p:cNvPr id="367" name="组合 366"/>
          <p:cNvGrpSpPr/>
          <p:nvPr/>
        </p:nvGrpSpPr>
        <p:grpSpPr>
          <a:xfrm>
            <a:off x="-456025" y="4242120"/>
            <a:ext cx="4167272" cy="2993125"/>
            <a:chOff x="4283" y="676"/>
            <a:chExt cx="6566" cy="4716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6"/>
            <a:srcRect r="804"/>
            <a:stretch>
              <a:fillRect/>
            </a:stretch>
          </p:blipFill>
          <p:spPr>
            <a:xfrm>
              <a:off x="6063" y="676"/>
              <a:ext cx="4305" cy="3798"/>
            </a:xfrm>
            <a:prstGeom prst="rect">
              <a:avLst/>
            </a:prstGeom>
          </p:spPr>
        </p:pic>
        <p:grpSp>
          <p:nvGrpSpPr>
            <p:cNvPr id="366" name="组合 365"/>
            <p:cNvGrpSpPr/>
            <p:nvPr/>
          </p:nvGrpSpPr>
          <p:grpSpPr>
            <a:xfrm>
              <a:off x="10144" y="772"/>
              <a:ext cx="645" cy="3548"/>
              <a:chOff x="10144" y="772"/>
              <a:chExt cx="645" cy="3548"/>
            </a:xfrm>
          </p:grpSpPr>
          <p:sp>
            <p:nvSpPr>
              <p:cNvPr id="126" name="文本框 125"/>
              <p:cNvSpPr txBox="1"/>
              <p:nvPr/>
            </p:nvSpPr>
            <p:spPr>
              <a:xfrm>
                <a:off x="10184" y="772"/>
                <a:ext cx="567" cy="229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 defTabSz="493395">
                  <a:lnSpc>
                    <a:spcPts val="2000"/>
                  </a:lnSpc>
                </a:pPr>
                <a:r>
                  <a:rPr lang="en-US" altLang="zh-CN" sz="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rPr>
                  <a:t>0.6</a:t>
                </a:r>
              </a:p>
            </p:txBody>
          </p:sp>
          <p:sp>
            <p:nvSpPr>
              <p:cNvPr id="127" name="文本框 126"/>
              <p:cNvSpPr txBox="1"/>
              <p:nvPr/>
            </p:nvSpPr>
            <p:spPr>
              <a:xfrm>
                <a:off x="10171" y="1414"/>
                <a:ext cx="567" cy="26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 defTabSz="493395">
                  <a:lnSpc>
                    <a:spcPts val="2000"/>
                  </a:lnSpc>
                </a:pPr>
                <a:r>
                  <a:rPr lang="en-US" altLang="zh-CN" sz="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rPr>
                  <a:t>0.4</a:t>
                </a:r>
              </a:p>
            </p:txBody>
          </p:sp>
          <p:sp>
            <p:nvSpPr>
              <p:cNvPr id="128" name="文本框 127"/>
              <p:cNvSpPr txBox="1"/>
              <p:nvPr/>
            </p:nvSpPr>
            <p:spPr>
              <a:xfrm>
                <a:off x="10178" y="2070"/>
                <a:ext cx="567" cy="26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 defTabSz="493395">
                  <a:lnSpc>
                    <a:spcPts val="2000"/>
                  </a:lnSpc>
                </a:pPr>
                <a:r>
                  <a:rPr lang="en-US" altLang="zh-CN" sz="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rPr>
                  <a:t>0.2</a:t>
                </a:r>
              </a:p>
            </p:txBody>
          </p:sp>
          <p:sp>
            <p:nvSpPr>
              <p:cNvPr id="129" name="文本框 128"/>
              <p:cNvSpPr txBox="1"/>
              <p:nvPr/>
            </p:nvSpPr>
            <p:spPr>
              <a:xfrm>
                <a:off x="10144" y="2743"/>
                <a:ext cx="567" cy="26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 defTabSz="493395">
                  <a:lnSpc>
                    <a:spcPts val="2000"/>
                  </a:lnSpc>
                </a:pPr>
                <a:r>
                  <a:rPr lang="en-US" altLang="zh-CN" sz="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rPr>
                  <a:t>0</a:t>
                </a:r>
              </a:p>
            </p:txBody>
          </p:sp>
          <p:sp>
            <p:nvSpPr>
              <p:cNvPr id="130" name="文本框 129"/>
              <p:cNvSpPr txBox="1"/>
              <p:nvPr/>
            </p:nvSpPr>
            <p:spPr>
              <a:xfrm>
                <a:off x="10209" y="3394"/>
                <a:ext cx="567" cy="26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 defTabSz="493395">
                  <a:lnSpc>
                    <a:spcPts val="2000"/>
                  </a:lnSpc>
                </a:pPr>
                <a:r>
                  <a:rPr lang="en-US" altLang="zh-CN" sz="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rPr>
                  <a:t>-0.2</a:t>
                </a:r>
              </a:p>
            </p:txBody>
          </p:sp>
          <p:sp>
            <p:nvSpPr>
              <p:cNvPr id="131" name="文本框 130"/>
              <p:cNvSpPr txBox="1"/>
              <p:nvPr/>
            </p:nvSpPr>
            <p:spPr>
              <a:xfrm>
                <a:off x="10203" y="4057"/>
                <a:ext cx="567" cy="26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 defTabSz="493395">
                  <a:lnSpc>
                    <a:spcPts val="2000"/>
                  </a:lnSpc>
                </a:pPr>
                <a:r>
                  <a:rPr lang="en-US" altLang="zh-CN" sz="6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等线" panose="02010600030101010101" charset="-122"/>
                    <a:cs typeface="Times New Roman" panose="02020603050405020304" pitchFamily="18" charset="0"/>
                  </a:rPr>
                  <a:t>-0.4</a:t>
                </a:r>
              </a:p>
            </p:txBody>
          </p:sp>
          <p:sp>
            <p:nvSpPr>
              <p:cNvPr id="132" name="文本框 131"/>
              <p:cNvSpPr txBox="1"/>
              <p:nvPr/>
            </p:nvSpPr>
            <p:spPr>
              <a:xfrm rot="16200000">
                <a:off x="9610" y="2233"/>
                <a:ext cx="2059" cy="298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Activation Strength</a:t>
                </a:r>
                <a:r>
                  <a:rPr lang="zh-CN" altLang="en-US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 a.-u.)</a:t>
                </a:r>
              </a:p>
            </p:txBody>
          </p:sp>
        </p:grpSp>
        <p:sp>
          <p:nvSpPr>
            <p:cNvPr id="134" name="文本框 133"/>
            <p:cNvSpPr txBox="1"/>
            <p:nvPr/>
          </p:nvSpPr>
          <p:spPr>
            <a:xfrm>
              <a:off x="7281" y="5094"/>
              <a:ext cx="2059" cy="298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Functional Brain Networks</a:t>
              </a:r>
            </a:p>
          </p:txBody>
        </p:sp>
        <p:grpSp>
          <p:nvGrpSpPr>
            <p:cNvPr id="143" name="组合 142"/>
            <p:cNvGrpSpPr/>
            <p:nvPr/>
          </p:nvGrpSpPr>
          <p:grpSpPr>
            <a:xfrm>
              <a:off x="4283" y="887"/>
              <a:ext cx="1933" cy="3319"/>
              <a:chOff x="2627" y="9134"/>
              <a:chExt cx="1933" cy="3319"/>
            </a:xfrm>
          </p:grpSpPr>
          <p:sp>
            <p:nvSpPr>
              <p:cNvPr id="144" name="文本框 143"/>
              <p:cNvSpPr txBox="1"/>
              <p:nvPr/>
            </p:nvSpPr>
            <p:spPr>
              <a:xfrm>
                <a:off x="2627" y="11253"/>
                <a:ext cx="1932" cy="12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Relational Processing</a:t>
                </a:r>
              </a:p>
            </p:txBody>
          </p:sp>
          <p:sp>
            <p:nvSpPr>
              <p:cNvPr id="145" name="文本框 144"/>
              <p:cNvSpPr txBox="1"/>
              <p:nvPr/>
            </p:nvSpPr>
            <p:spPr>
              <a:xfrm>
                <a:off x="2853" y="9134"/>
                <a:ext cx="1701" cy="12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Working Memory</a:t>
                </a:r>
              </a:p>
            </p:txBody>
          </p:sp>
          <p:sp>
            <p:nvSpPr>
              <p:cNvPr id="146" name="文本框 145"/>
              <p:cNvSpPr txBox="1"/>
              <p:nvPr/>
            </p:nvSpPr>
            <p:spPr>
              <a:xfrm>
                <a:off x="2851" y="10203"/>
                <a:ext cx="1701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Language</a:t>
                </a:r>
              </a:p>
            </p:txBody>
          </p:sp>
          <p:sp>
            <p:nvSpPr>
              <p:cNvPr id="147" name="文本框 146"/>
              <p:cNvSpPr txBox="1"/>
              <p:nvPr/>
            </p:nvSpPr>
            <p:spPr>
              <a:xfrm>
                <a:off x="2849" y="9668"/>
                <a:ext cx="1701" cy="12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Motor</a:t>
                </a:r>
              </a:p>
            </p:txBody>
          </p:sp>
          <p:sp>
            <p:nvSpPr>
              <p:cNvPr id="148" name="文本框 147"/>
              <p:cNvSpPr txBox="1"/>
              <p:nvPr/>
            </p:nvSpPr>
            <p:spPr>
              <a:xfrm>
                <a:off x="3772" y="11786"/>
                <a:ext cx="775" cy="12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Emotion</a:t>
                </a:r>
              </a:p>
            </p:txBody>
          </p:sp>
          <p:sp>
            <p:nvSpPr>
              <p:cNvPr id="149" name="文本框 148"/>
              <p:cNvSpPr txBox="1"/>
              <p:nvPr/>
            </p:nvSpPr>
            <p:spPr>
              <a:xfrm>
                <a:off x="2859" y="12333"/>
                <a:ext cx="1701" cy="12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Gambling</a:t>
                </a:r>
              </a:p>
            </p:txBody>
          </p:sp>
          <p:sp>
            <p:nvSpPr>
              <p:cNvPr id="150" name="文本框 149"/>
              <p:cNvSpPr txBox="1"/>
              <p:nvPr/>
            </p:nvSpPr>
            <p:spPr>
              <a:xfrm>
                <a:off x="2849" y="10726"/>
                <a:ext cx="1701" cy="12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Social Cognition</a:t>
                </a:r>
              </a:p>
            </p:txBody>
          </p:sp>
        </p:grpSp>
        <p:grpSp>
          <p:nvGrpSpPr>
            <p:cNvPr id="262" name="组合 261"/>
            <p:cNvGrpSpPr/>
            <p:nvPr/>
          </p:nvGrpSpPr>
          <p:grpSpPr>
            <a:xfrm>
              <a:off x="5525" y="4155"/>
              <a:ext cx="5324" cy="792"/>
              <a:chOff x="-426" y="14365"/>
              <a:chExt cx="5324" cy="792"/>
            </a:xfrm>
          </p:grpSpPr>
          <p:sp>
            <p:nvSpPr>
              <p:cNvPr id="137" name="文本框 136"/>
              <p:cNvSpPr txBox="1"/>
              <p:nvPr/>
            </p:nvSpPr>
            <p:spPr>
              <a:xfrm rot="18900000">
                <a:off x="-15" y="14929"/>
                <a:ext cx="1510" cy="14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Frontoparietal Control</a:t>
                </a:r>
              </a:p>
            </p:txBody>
          </p:sp>
          <p:sp>
            <p:nvSpPr>
              <p:cNvPr id="138" name="文本框 137"/>
              <p:cNvSpPr txBox="1"/>
              <p:nvPr/>
            </p:nvSpPr>
            <p:spPr>
              <a:xfrm rot="18900000">
                <a:off x="789" y="14640"/>
                <a:ext cx="1510" cy="14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Default Mode</a:t>
                </a:r>
              </a:p>
            </p:txBody>
          </p:sp>
          <p:sp>
            <p:nvSpPr>
              <p:cNvPr id="139" name="文本框 138"/>
              <p:cNvSpPr txBox="1"/>
              <p:nvPr/>
            </p:nvSpPr>
            <p:spPr>
              <a:xfrm rot="18900000">
                <a:off x="911" y="15017"/>
                <a:ext cx="1662" cy="14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Ventral Attention/Salience</a:t>
                </a:r>
              </a:p>
            </p:txBody>
          </p:sp>
          <p:sp>
            <p:nvSpPr>
              <p:cNvPr id="140" name="文本框 139"/>
              <p:cNvSpPr txBox="1"/>
              <p:nvPr/>
            </p:nvSpPr>
            <p:spPr>
              <a:xfrm rot="18900000">
                <a:off x="1921" y="14586"/>
                <a:ext cx="1662" cy="14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Somatomotor</a:t>
                </a:r>
              </a:p>
            </p:txBody>
          </p:sp>
          <p:sp>
            <p:nvSpPr>
              <p:cNvPr id="141" name="文本框 140"/>
              <p:cNvSpPr txBox="1"/>
              <p:nvPr/>
            </p:nvSpPr>
            <p:spPr>
              <a:xfrm rot="18900000">
                <a:off x="2677" y="14365"/>
                <a:ext cx="1662" cy="14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Visual</a:t>
                </a:r>
              </a:p>
            </p:txBody>
          </p:sp>
          <p:sp>
            <p:nvSpPr>
              <p:cNvPr id="142" name="文本框 141"/>
              <p:cNvSpPr txBox="1"/>
              <p:nvPr/>
            </p:nvSpPr>
            <p:spPr>
              <a:xfrm rot="18900000">
                <a:off x="3236" y="14367"/>
                <a:ext cx="1662" cy="14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Limbic</a:t>
                </a: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 rot="18900000">
                <a:off x="-426" y="14680"/>
                <a:ext cx="1662" cy="14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Dorsal Attention</a:t>
                </a:r>
              </a:p>
            </p:txBody>
          </p:sp>
        </p:grpSp>
      </p:grpSp>
      <p:grpSp>
        <p:nvGrpSpPr>
          <p:cNvPr id="44" name="组合 43"/>
          <p:cNvGrpSpPr/>
          <p:nvPr/>
        </p:nvGrpSpPr>
        <p:grpSpPr>
          <a:xfrm>
            <a:off x="24369" y="7243177"/>
            <a:ext cx="6840371" cy="2013069"/>
            <a:chOff x="-31" y="7472"/>
            <a:chExt cx="10775" cy="3171"/>
          </a:xfrm>
        </p:grpSpPr>
        <p:grpSp>
          <p:nvGrpSpPr>
            <p:cNvPr id="346" name="组合 345"/>
            <p:cNvGrpSpPr/>
            <p:nvPr/>
          </p:nvGrpSpPr>
          <p:grpSpPr>
            <a:xfrm>
              <a:off x="7738" y="7482"/>
              <a:ext cx="3006" cy="3105"/>
              <a:chOff x="7790" y="7565"/>
              <a:chExt cx="3007" cy="3106"/>
            </a:xfrm>
          </p:grpSpPr>
          <p:pic>
            <p:nvPicPr>
              <p:cNvPr id="17" name="图片 16"/>
              <p:cNvPicPr>
                <a:picLocks noChangeAspect="1"/>
              </p:cNvPicPr>
              <p:nvPr/>
            </p:nvPicPr>
            <p:blipFill>
              <a:blip r:embed="rId7"/>
              <a:srcRect t="861"/>
              <a:stretch>
                <a:fillRect/>
              </a:stretch>
            </p:blipFill>
            <p:spPr>
              <a:xfrm>
                <a:off x="8279" y="7878"/>
                <a:ext cx="2157" cy="2154"/>
              </a:xfrm>
              <a:prstGeom prst="rect">
                <a:avLst/>
              </a:prstGeom>
            </p:spPr>
          </p:pic>
          <p:sp>
            <p:nvSpPr>
              <p:cNvPr id="19" name="文本框 18"/>
              <p:cNvSpPr txBox="1"/>
              <p:nvPr/>
            </p:nvSpPr>
            <p:spPr>
              <a:xfrm>
                <a:off x="7864" y="7565"/>
                <a:ext cx="2933" cy="298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C.Routing Consistency (Inter-Subject Similarity)</a:t>
                </a:r>
              </a:p>
            </p:txBody>
          </p:sp>
          <p:grpSp>
            <p:nvGrpSpPr>
              <p:cNvPr id="20" name="组合 19"/>
              <p:cNvGrpSpPr/>
              <p:nvPr/>
            </p:nvGrpSpPr>
            <p:grpSpPr>
              <a:xfrm>
                <a:off x="7922" y="7838"/>
                <a:ext cx="522" cy="2200"/>
                <a:chOff x="7998" y="9191"/>
                <a:chExt cx="522" cy="2200"/>
              </a:xfrm>
            </p:grpSpPr>
            <p:sp>
              <p:nvSpPr>
                <p:cNvPr id="21" name="文本框 20"/>
                <p:cNvSpPr txBox="1"/>
                <p:nvPr/>
              </p:nvSpPr>
              <p:spPr>
                <a:xfrm>
                  <a:off x="8008" y="11278"/>
                  <a:ext cx="510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7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0.0</a:t>
                  </a:r>
                </a:p>
              </p:txBody>
            </p:sp>
            <p:sp>
              <p:nvSpPr>
                <p:cNvPr id="22" name="文本框 21"/>
                <p:cNvSpPr txBox="1"/>
                <p:nvPr/>
              </p:nvSpPr>
              <p:spPr>
                <a:xfrm>
                  <a:off x="8010" y="10849"/>
                  <a:ext cx="510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7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0.2</a:t>
                  </a:r>
                </a:p>
              </p:txBody>
            </p:sp>
            <p:sp>
              <p:nvSpPr>
                <p:cNvPr id="23" name="文本框 22"/>
                <p:cNvSpPr txBox="1"/>
                <p:nvPr/>
              </p:nvSpPr>
              <p:spPr>
                <a:xfrm>
                  <a:off x="8004" y="10447"/>
                  <a:ext cx="510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7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0.4</a:t>
                  </a:r>
                </a:p>
              </p:txBody>
            </p:sp>
            <p:sp>
              <p:nvSpPr>
                <p:cNvPr id="24" name="文本框 23"/>
                <p:cNvSpPr txBox="1"/>
                <p:nvPr/>
              </p:nvSpPr>
              <p:spPr>
                <a:xfrm>
                  <a:off x="8002" y="10011"/>
                  <a:ext cx="510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7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0.6</a:t>
                  </a:r>
                </a:p>
              </p:txBody>
            </p:sp>
            <p:sp>
              <p:nvSpPr>
                <p:cNvPr id="25" name="文本框 24"/>
                <p:cNvSpPr txBox="1"/>
                <p:nvPr/>
              </p:nvSpPr>
              <p:spPr>
                <a:xfrm>
                  <a:off x="7998" y="9589"/>
                  <a:ext cx="510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7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0.8</a:t>
                  </a:r>
                </a:p>
              </p:txBody>
            </p:sp>
            <p:sp>
              <p:nvSpPr>
                <p:cNvPr id="191" name="文本框 190"/>
                <p:cNvSpPr txBox="1"/>
                <p:nvPr/>
              </p:nvSpPr>
              <p:spPr>
                <a:xfrm>
                  <a:off x="8002" y="9191"/>
                  <a:ext cx="510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7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1.0</a:t>
                  </a:r>
                </a:p>
              </p:txBody>
            </p:sp>
          </p:grpSp>
          <p:sp>
            <p:nvSpPr>
              <p:cNvPr id="26" name="文本框 25"/>
              <p:cNvSpPr txBox="1"/>
              <p:nvPr/>
            </p:nvSpPr>
            <p:spPr>
              <a:xfrm rot="16200000">
                <a:off x="7113" y="8757"/>
                <a:ext cx="1651" cy="298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Inter-Subject Correlation</a:t>
                </a:r>
                <a:r>
                  <a:rPr lang="zh-CN" altLang="en-US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 r)</a:t>
                </a: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8299" y="10017"/>
                <a:ext cx="1052" cy="298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</a:t>
                </a:r>
              </a:p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Efficency</a:t>
                </a:r>
              </a:p>
            </p:txBody>
          </p:sp>
          <p:sp>
            <p:nvSpPr>
              <p:cNvPr id="28" name="文本框 27"/>
              <p:cNvSpPr txBox="1"/>
              <p:nvPr/>
            </p:nvSpPr>
            <p:spPr>
              <a:xfrm>
                <a:off x="9391" y="10005"/>
                <a:ext cx="1052" cy="298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</a:t>
                </a:r>
              </a:p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Efficency</a:t>
                </a:r>
              </a:p>
            </p:txBody>
          </p:sp>
          <p:grpSp>
            <p:nvGrpSpPr>
              <p:cNvPr id="29" name="组合 28"/>
              <p:cNvGrpSpPr/>
              <p:nvPr/>
            </p:nvGrpSpPr>
            <p:grpSpPr>
              <a:xfrm>
                <a:off x="8543" y="10444"/>
                <a:ext cx="1798" cy="227"/>
                <a:chOff x="8410" y="8135"/>
                <a:chExt cx="1798" cy="227"/>
              </a:xfrm>
            </p:grpSpPr>
            <p:sp>
              <p:nvSpPr>
                <p:cNvPr id="30" name="圆角矩形 29"/>
                <p:cNvSpPr/>
                <p:nvPr/>
              </p:nvSpPr>
              <p:spPr>
                <a:xfrm>
                  <a:off x="8514" y="8135"/>
                  <a:ext cx="1343" cy="227"/>
                </a:xfrm>
                <a:prstGeom prst="roundRect">
                  <a:avLst/>
                </a:prstGeom>
                <a:noFill/>
                <a:ln w="9525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文本框 30"/>
                <p:cNvSpPr txBox="1"/>
                <p:nvPr/>
              </p:nvSpPr>
              <p:spPr>
                <a:xfrm>
                  <a:off x="8410" y="8198"/>
                  <a:ext cx="1798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600"/>
                    <a:t>t=3.14, p=0.002, d=0.67</a:t>
                  </a:r>
                </a:p>
              </p:txBody>
            </p:sp>
          </p:grpSp>
        </p:grpSp>
        <p:grpSp>
          <p:nvGrpSpPr>
            <p:cNvPr id="39" name="组合 38"/>
            <p:cNvGrpSpPr/>
            <p:nvPr/>
          </p:nvGrpSpPr>
          <p:grpSpPr>
            <a:xfrm>
              <a:off x="-31" y="7519"/>
              <a:ext cx="4191" cy="3124"/>
              <a:chOff x="-121" y="7519"/>
              <a:chExt cx="4191" cy="3124"/>
            </a:xfrm>
          </p:grpSpPr>
          <p:pic>
            <p:nvPicPr>
              <p:cNvPr id="32" name="图片 31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28" y="7874"/>
                <a:ext cx="2115" cy="2040"/>
              </a:xfrm>
              <a:prstGeom prst="rect">
                <a:avLst/>
              </a:prstGeom>
            </p:spPr>
          </p:pic>
          <p:sp>
            <p:nvSpPr>
              <p:cNvPr id="33" name="文本框 32"/>
              <p:cNvSpPr txBox="1"/>
              <p:nvPr/>
            </p:nvSpPr>
            <p:spPr>
              <a:xfrm>
                <a:off x="292" y="7519"/>
                <a:ext cx="3746" cy="22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A.High-Efficiency Group Mean Routing Profile</a:t>
                </a: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2011" y="10473"/>
                <a:ext cx="2059" cy="17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Brain Network</a:t>
                </a:r>
              </a:p>
            </p:txBody>
          </p:sp>
          <p:grpSp>
            <p:nvGrpSpPr>
              <p:cNvPr id="264" name="组合 263"/>
              <p:cNvGrpSpPr/>
              <p:nvPr/>
            </p:nvGrpSpPr>
            <p:grpSpPr>
              <a:xfrm>
                <a:off x="-121" y="7939"/>
                <a:ext cx="1390" cy="1890"/>
                <a:chOff x="-201" y="8073"/>
                <a:chExt cx="1390" cy="1891"/>
              </a:xfrm>
            </p:grpSpPr>
            <p:sp>
              <p:nvSpPr>
                <p:cNvPr id="35" name="文本框 34"/>
                <p:cNvSpPr txBox="1"/>
                <p:nvPr/>
              </p:nvSpPr>
              <p:spPr>
                <a:xfrm>
                  <a:off x="-75" y="8073"/>
                  <a:ext cx="1255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Working Memory</a:t>
                  </a:r>
                </a:p>
              </p:txBody>
            </p:sp>
            <p:sp>
              <p:nvSpPr>
                <p:cNvPr id="36" name="文本框 35"/>
                <p:cNvSpPr txBox="1"/>
                <p:nvPr/>
              </p:nvSpPr>
              <p:spPr>
                <a:xfrm>
                  <a:off x="-87" y="8368"/>
                  <a:ext cx="1255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Motor</a:t>
                  </a:r>
                </a:p>
              </p:txBody>
            </p:sp>
            <p:sp>
              <p:nvSpPr>
                <p:cNvPr id="37" name="文本框 36"/>
                <p:cNvSpPr txBox="1"/>
                <p:nvPr/>
              </p:nvSpPr>
              <p:spPr>
                <a:xfrm>
                  <a:off x="-91" y="8673"/>
                  <a:ext cx="1255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Language</a:t>
                  </a:r>
                </a:p>
              </p:txBody>
            </p:sp>
            <p:sp>
              <p:nvSpPr>
                <p:cNvPr id="38" name="文本框 37"/>
                <p:cNvSpPr txBox="1"/>
                <p:nvPr/>
              </p:nvSpPr>
              <p:spPr>
                <a:xfrm>
                  <a:off x="-70" y="8971"/>
                  <a:ext cx="1255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Social Cognition</a:t>
                  </a:r>
                </a:p>
              </p:txBody>
            </p:sp>
            <p:sp>
              <p:nvSpPr>
                <p:cNvPr id="40" name="文本框 39"/>
                <p:cNvSpPr txBox="1"/>
                <p:nvPr/>
              </p:nvSpPr>
              <p:spPr>
                <a:xfrm>
                  <a:off x="-191" y="9268"/>
                  <a:ext cx="1380" cy="12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Relational Processing</a:t>
                  </a:r>
                </a:p>
              </p:txBody>
            </p:sp>
            <p:sp>
              <p:nvSpPr>
                <p:cNvPr id="46" name="文本框 45"/>
                <p:cNvSpPr txBox="1"/>
                <p:nvPr/>
              </p:nvSpPr>
              <p:spPr>
                <a:xfrm>
                  <a:off x="-201" y="9568"/>
                  <a:ext cx="1380" cy="12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Emotion</a:t>
                  </a:r>
                </a:p>
              </p:txBody>
            </p:sp>
            <p:sp>
              <p:nvSpPr>
                <p:cNvPr id="98" name="文本框 97"/>
                <p:cNvSpPr txBox="1"/>
                <p:nvPr/>
              </p:nvSpPr>
              <p:spPr>
                <a:xfrm>
                  <a:off x="-195" y="9844"/>
                  <a:ext cx="1380" cy="12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Gambling</a:t>
                  </a:r>
                </a:p>
              </p:txBody>
            </p:sp>
          </p:grpSp>
          <p:sp>
            <p:nvSpPr>
              <p:cNvPr id="99" name="文本框 98"/>
              <p:cNvSpPr txBox="1"/>
              <p:nvPr/>
            </p:nvSpPr>
            <p:spPr>
              <a:xfrm rot="16200000">
                <a:off x="-407" y="8598"/>
                <a:ext cx="1081" cy="198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Cognitive Tasks</a:t>
                </a:r>
              </a:p>
            </p:txBody>
          </p:sp>
          <p:grpSp>
            <p:nvGrpSpPr>
              <p:cNvPr id="266" name="组合 265"/>
              <p:cNvGrpSpPr/>
              <p:nvPr/>
            </p:nvGrpSpPr>
            <p:grpSpPr>
              <a:xfrm>
                <a:off x="790" y="9660"/>
                <a:ext cx="3240" cy="817"/>
                <a:chOff x="710" y="9795"/>
                <a:chExt cx="3241" cy="817"/>
              </a:xfrm>
            </p:grpSpPr>
            <p:sp>
              <p:nvSpPr>
                <p:cNvPr id="101" name="文本框 100"/>
                <p:cNvSpPr txBox="1"/>
                <p:nvPr/>
              </p:nvSpPr>
              <p:spPr>
                <a:xfrm rot="18900000">
                  <a:off x="1749" y="10337"/>
                  <a:ext cx="1587" cy="14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Frontoparietal Control</a:t>
                  </a:r>
                </a:p>
              </p:txBody>
            </p:sp>
            <p:sp>
              <p:nvSpPr>
                <p:cNvPr id="102" name="文本框 101"/>
                <p:cNvSpPr txBox="1"/>
                <p:nvPr/>
              </p:nvSpPr>
              <p:spPr>
                <a:xfrm rot="18900000">
                  <a:off x="2365" y="10039"/>
                  <a:ext cx="1587" cy="14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Default Mode</a:t>
                  </a:r>
                </a:p>
              </p:txBody>
            </p:sp>
            <p:sp>
              <p:nvSpPr>
                <p:cNvPr id="109" name="文本框 108"/>
                <p:cNvSpPr txBox="1"/>
                <p:nvPr/>
              </p:nvSpPr>
              <p:spPr>
                <a:xfrm rot="18900000">
                  <a:off x="977" y="10472"/>
                  <a:ext cx="1587" cy="14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Ventral Attention/Salience</a:t>
                  </a:r>
                </a:p>
              </p:txBody>
            </p:sp>
            <p:sp>
              <p:nvSpPr>
                <p:cNvPr id="110" name="文本框 109"/>
                <p:cNvSpPr txBox="1"/>
                <p:nvPr/>
              </p:nvSpPr>
              <p:spPr>
                <a:xfrm rot="18900000">
                  <a:off x="786" y="10019"/>
                  <a:ext cx="1587" cy="14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Somatomotor</a:t>
                  </a:r>
                </a:p>
              </p:txBody>
            </p:sp>
            <p:sp>
              <p:nvSpPr>
                <p:cNvPr id="111" name="文本框 110"/>
                <p:cNvSpPr txBox="1"/>
                <p:nvPr/>
              </p:nvSpPr>
              <p:spPr>
                <a:xfrm rot="18900000">
                  <a:off x="710" y="9795"/>
                  <a:ext cx="1587" cy="14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Visual</a:t>
                  </a:r>
                </a:p>
              </p:txBody>
            </p:sp>
            <p:sp>
              <p:nvSpPr>
                <p:cNvPr id="112" name="文本框 111"/>
                <p:cNvSpPr txBox="1"/>
                <p:nvPr/>
              </p:nvSpPr>
              <p:spPr>
                <a:xfrm rot="18900000">
                  <a:off x="1959" y="9826"/>
                  <a:ext cx="1587" cy="14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Limbic</a:t>
                  </a:r>
                </a:p>
              </p:txBody>
            </p:sp>
            <p:sp>
              <p:nvSpPr>
                <p:cNvPr id="113" name="文本框 112"/>
                <p:cNvSpPr txBox="1"/>
                <p:nvPr/>
              </p:nvSpPr>
              <p:spPr>
                <a:xfrm rot="18900000">
                  <a:off x="1011" y="10129"/>
                  <a:ext cx="1587" cy="14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Dorsal Attention</a:t>
                  </a:r>
                </a:p>
              </p:txBody>
            </p:sp>
          </p:grpSp>
        </p:grpSp>
        <p:grpSp>
          <p:nvGrpSpPr>
            <p:cNvPr id="47" name="组合 46"/>
            <p:cNvGrpSpPr/>
            <p:nvPr/>
          </p:nvGrpSpPr>
          <p:grpSpPr>
            <a:xfrm>
              <a:off x="3484" y="7472"/>
              <a:ext cx="4188" cy="3171"/>
              <a:chOff x="3484" y="7472"/>
              <a:chExt cx="4188" cy="3171"/>
            </a:xfrm>
          </p:grpSpPr>
          <p:grpSp>
            <p:nvGrpSpPr>
              <p:cNvPr id="345" name="组合 344"/>
              <p:cNvGrpSpPr/>
              <p:nvPr/>
            </p:nvGrpSpPr>
            <p:grpSpPr>
              <a:xfrm>
                <a:off x="3484" y="7472"/>
                <a:ext cx="4188" cy="3171"/>
                <a:chOff x="3459" y="7549"/>
                <a:chExt cx="4189" cy="3172"/>
              </a:xfrm>
            </p:grpSpPr>
            <p:pic>
              <p:nvPicPr>
                <p:cNvPr id="115" name="图片 114"/>
                <p:cNvPicPr>
                  <a:picLocks noChangeAspect="1"/>
                </p:cNvPicPr>
                <p:nvPr/>
              </p:nvPicPr>
              <p:blipFill>
                <a:blip r:embed="rId9"/>
                <a:srcRect l="441"/>
                <a:stretch>
                  <a:fillRect/>
                </a:stretch>
              </p:blipFill>
              <p:spPr>
                <a:xfrm>
                  <a:off x="4692" y="7951"/>
                  <a:ext cx="2342" cy="2041"/>
                </a:xfrm>
                <a:prstGeom prst="rect">
                  <a:avLst/>
                </a:prstGeom>
              </p:spPr>
            </p:pic>
            <p:sp>
              <p:nvSpPr>
                <p:cNvPr id="192" name="文本框 191"/>
                <p:cNvSpPr txBox="1"/>
                <p:nvPr/>
              </p:nvSpPr>
              <p:spPr>
                <a:xfrm>
                  <a:off x="4314" y="7549"/>
                  <a:ext cx="2935" cy="317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B.Low-Efficiency Group  Mean Routing Profile</a:t>
                  </a:r>
                </a:p>
              </p:txBody>
            </p:sp>
            <p:sp>
              <p:nvSpPr>
                <p:cNvPr id="153" name="文本框 152"/>
                <p:cNvSpPr txBox="1"/>
                <p:nvPr/>
              </p:nvSpPr>
              <p:spPr>
                <a:xfrm>
                  <a:off x="5589" y="10551"/>
                  <a:ext cx="2059" cy="17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Brain Network</a:t>
                  </a:r>
                </a:p>
              </p:txBody>
            </p:sp>
            <p:grpSp>
              <p:nvGrpSpPr>
                <p:cNvPr id="342" name="组合 341"/>
                <p:cNvGrpSpPr/>
                <p:nvPr/>
              </p:nvGrpSpPr>
              <p:grpSpPr>
                <a:xfrm>
                  <a:off x="6836" y="8408"/>
                  <a:ext cx="566" cy="1082"/>
                  <a:chOff x="6836" y="8408"/>
                  <a:chExt cx="566" cy="1082"/>
                </a:xfrm>
              </p:grpSpPr>
              <p:sp>
                <p:nvSpPr>
                  <p:cNvPr id="158" name="文本框 157"/>
                  <p:cNvSpPr txBox="1"/>
                  <p:nvPr/>
                </p:nvSpPr>
                <p:spPr>
                  <a:xfrm>
                    <a:off x="6836" y="8408"/>
                    <a:ext cx="567" cy="113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pPr algn="ctr"/>
                    <a:r>
                      <a:rPr lang="en-US" altLang="zh-CN" sz="7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0.6</a:t>
                    </a:r>
                  </a:p>
                </p:txBody>
              </p:sp>
              <p:sp>
                <p:nvSpPr>
                  <p:cNvPr id="159" name="文本框 158"/>
                  <p:cNvSpPr txBox="1"/>
                  <p:nvPr/>
                </p:nvSpPr>
                <p:spPr>
                  <a:xfrm>
                    <a:off x="6836" y="8566"/>
                    <a:ext cx="567" cy="113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pPr algn="ctr"/>
                    <a:r>
                      <a:rPr lang="en-US" altLang="zh-CN" sz="7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0.4</a:t>
                    </a:r>
                  </a:p>
                </p:txBody>
              </p:sp>
              <p:sp>
                <p:nvSpPr>
                  <p:cNvPr id="160" name="文本框 159"/>
                  <p:cNvSpPr txBox="1"/>
                  <p:nvPr/>
                </p:nvSpPr>
                <p:spPr>
                  <a:xfrm>
                    <a:off x="6836" y="8724"/>
                    <a:ext cx="567" cy="113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pPr algn="ctr"/>
                    <a:r>
                      <a:rPr lang="en-US" altLang="zh-CN" sz="7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0.2</a:t>
                    </a:r>
                  </a:p>
                </p:txBody>
              </p:sp>
              <p:sp>
                <p:nvSpPr>
                  <p:cNvPr id="161" name="文本框 160"/>
                  <p:cNvSpPr txBox="1"/>
                  <p:nvPr/>
                </p:nvSpPr>
                <p:spPr>
                  <a:xfrm>
                    <a:off x="6836" y="8882"/>
                    <a:ext cx="567" cy="113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pPr algn="ctr"/>
                    <a:r>
                      <a:rPr lang="en-US" altLang="zh-CN" sz="7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0.0</a:t>
                    </a:r>
                  </a:p>
                </p:txBody>
              </p:sp>
              <p:sp>
                <p:nvSpPr>
                  <p:cNvPr id="162" name="文本框 161"/>
                  <p:cNvSpPr txBox="1"/>
                  <p:nvPr/>
                </p:nvSpPr>
                <p:spPr>
                  <a:xfrm>
                    <a:off x="6836" y="9040"/>
                    <a:ext cx="567" cy="12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pPr algn="ctr"/>
                    <a:r>
                      <a:rPr lang="en-US" altLang="zh-CN" sz="7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-0.2</a:t>
                    </a:r>
                  </a:p>
                </p:txBody>
              </p:sp>
              <p:sp>
                <p:nvSpPr>
                  <p:cNvPr id="163" name="文本框 162"/>
                  <p:cNvSpPr txBox="1"/>
                  <p:nvPr/>
                </p:nvSpPr>
                <p:spPr>
                  <a:xfrm>
                    <a:off x="6836" y="9205"/>
                    <a:ext cx="567" cy="12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pPr algn="ctr"/>
                    <a:r>
                      <a:rPr lang="en-US" altLang="zh-CN" sz="7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-0.4</a:t>
                    </a:r>
                  </a:p>
                </p:txBody>
              </p:sp>
              <p:sp>
                <p:nvSpPr>
                  <p:cNvPr id="164" name="文本框 163"/>
                  <p:cNvSpPr txBox="1"/>
                  <p:nvPr/>
                </p:nvSpPr>
                <p:spPr>
                  <a:xfrm>
                    <a:off x="6836" y="9370"/>
                    <a:ext cx="567" cy="12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pPr algn="ctr"/>
                    <a:r>
                      <a:rPr lang="en-US" altLang="zh-CN" sz="70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-0.6</a:t>
                    </a:r>
                  </a:p>
                </p:txBody>
              </p:sp>
            </p:grpSp>
            <p:sp>
              <p:nvSpPr>
                <p:cNvPr id="165" name="文本框 164"/>
                <p:cNvSpPr txBox="1"/>
                <p:nvPr/>
              </p:nvSpPr>
              <p:spPr>
                <a:xfrm rot="16200000">
                  <a:off x="6768" y="8781"/>
                  <a:ext cx="1176" cy="298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Activation</a:t>
                  </a:r>
                  <a:r>
                    <a:rPr lang="zh-CN" altLang="en-US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( a.-u.)</a:t>
                  </a:r>
                </a:p>
              </p:txBody>
            </p:sp>
            <p:grpSp>
              <p:nvGrpSpPr>
                <p:cNvPr id="343" name="组合 342"/>
                <p:cNvGrpSpPr/>
                <p:nvPr/>
              </p:nvGrpSpPr>
              <p:grpSpPr>
                <a:xfrm>
                  <a:off x="4321" y="9663"/>
                  <a:ext cx="3165" cy="817"/>
                  <a:chOff x="4321" y="9663"/>
                  <a:chExt cx="3165" cy="817"/>
                </a:xfrm>
              </p:grpSpPr>
              <p:sp>
                <p:nvSpPr>
                  <p:cNvPr id="166" name="文本框 165"/>
                  <p:cNvSpPr txBox="1"/>
                  <p:nvPr/>
                </p:nvSpPr>
                <p:spPr>
                  <a:xfrm rot="18900000">
                    <a:off x="5315" y="10214"/>
                    <a:ext cx="1587" cy="14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Frontoparietal Control</a:t>
                    </a:r>
                  </a:p>
                </p:txBody>
              </p:sp>
              <p:sp>
                <p:nvSpPr>
                  <p:cNvPr id="167" name="文本框 166"/>
                  <p:cNvSpPr txBox="1"/>
                  <p:nvPr/>
                </p:nvSpPr>
                <p:spPr>
                  <a:xfrm rot="18900000">
                    <a:off x="5900" y="9917"/>
                    <a:ext cx="1587" cy="14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Default Mode</a:t>
                    </a:r>
                  </a:p>
                </p:txBody>
              </p:sp>
              <p:sp>
                <p:nvSpPr>
                  <p:cNvPr id="168" name="文本框 167"/>
                  <p:cNvSpPr txBox="1"/>
                  <p:nvPr/>
                </p:nvSpPr>
                <p:spPr>
                  <a:xfrm rot="18900000">
                    <a:off x="4584" y="10340"/>
                    <a:ext cx="1587" cy="14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Ventral Attention/Salience</a:t>
                    </a:r>
                  </a:p>
                </p:txBody>
              </p:sp>
              <p:sp>
                <p:nvSpPr>
                  <p:cNvPr id="169" name="文本框 168"/>
                  <p:cNvSpPr txBox="1"/>
                  <p:nvPr/>
                </p:nvSpPr>
                <p:spPr>
                  <a:xfrm rot="18900000">
                    <a:off x="4403" y="9917"/>
                    <a:ext cx="1587" cy="14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Somatomotor</a:t>
                    </a:r>
                  </a:p>
                </p:txBody>
              </p:sp>
              <p:sp>
                <p:nvSpPr>
                  <p:cNvPr id="170" name="文本框 169"/>
                  <p:cNvSpPr txBox="1"/>
                  <p:nvPr/>
                </p:nvSpPr>
                <p:spPr>
                  <a:xfrm rot="18900000">
                    <a:off x="4321" y="9663"/>
                    <a:ext cx="1587" cy="14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Visual</a:t>
                    </a:r>
                  </a:p>
                </p:txBody>
              </p:sp>
              <p:sp>
                <p:nvSpPr>
                  <p:cNvPr id="171" name="文本框 170"/>
                  <p:cNvSpPr txBox="1"/>
                  <p:nvPr/>
                </p:nvSpPr>
                <p:spPr>
                  <a:xfrm rot="18900000">
                    <a:off x="5541" y="9694"/>
                    <a:ext cx="1587" cy="14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Limbic</a:t>
                    </a:r>
                  </a:p>
                </p:txBody>
              </p:sp>
              <p:sp>
                <p:nvSpPr>
                  <p:cNvPr id="172" name="文本框 171"/>
                  <p:cNvSpPr txBox="1"/>
                  <p:nvPr/>
                </p:nvSpPr>
                <p:spPr>
                  <a:xfrm rot="18900000">
                    <a:off x="4637" y="10007"/>
                    <a:ext cx="1587" cy="14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Dorsal Attention</a:t>
                    </a:r>
                  </a:p>
                </p:txBody>
              </p:sp>
            </p:grpSp>
            <p:grpSp>
              <p:nvGrpSpPr>
                <p:cNvPr id="344" name="组合 343"/>
                <p:cNvGrpSpPr/>
                <p:nvPr/>
              </p:nvGrpSpPr>
              <p:grpSpPr>
                <a:xfrm>
                  <a:off x="3459" y="8037"/>
                  <a:ext cx="1390" cy="1821"/>
                  <a:chOff x="3459" y="8037"/>
                  <a:chExt cx="1390" cy="1821"/>
                </a:xfrm>
              </p:grpSpPr>
              <p:sp>
                <p:nvSpPr>
                  <p:cNvPr id="335" name="文本框 334"/>
                  <p:cNvSpPr txBox="1"/>
                  <p:nvPr/>
                </p:nvSpPr>
                <p:spPr>
                  <a:xfrm>
                    <a:off x="3585" y="8037"/>
                    <a:ext cx="1255" cy="113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pPr algn="r"/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Working Memory</a:t>
                    </a:r>
                  </a:p>
                </p:txBody>
              </p:sp>
              <p:sp>
                <p:nvSpPr>
                  <p:cNvPr id="336" name="文本框 335"/>
                  <p:cNvSpPr txBox="1"/>
                  <p:nvPr/>
                </p:nvSpPr>
                <p:spPr>
                  <a:xfrm>
                    <a:off x="3573" y="8322"/>
                    <a:ext cx="1255" cy="113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pPr algn="r"/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Motor</a:t>
                    </a:r>
                  </a:p>
                </p:txBody>
              </p:sp>
              <p:sp>
                <p:nvSpPr>
                  <p:cNvPr id="337" name="文本框 336"/>
                  <p:cNvSpPr txBox="1"/>
                  <p:nvPr/>
                </p:nvSpPr>
                <p:spPr>
                  <a:xfrm>
                    <a:off x="3569" y="8607"/>
                    <a:ext cx="1255" cy="113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pPr algn="r"/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Language</a:t>
                    </a:r>
                  </a:p>
                </p:txBody>
              </p:sp>
              <p:sp>
                <p:nvSpPr>
                  <p:cNvPr id="338" name="文本框 337"/>
                  <p:cNvSpPr txBox="1"/>
                  <p:nvPr/>
                </p:nvSpPr>
                <p:spPr>
                  <a:xfrm>
                    <a:off x="3590" y="8895"/>
                    <a:ext cx="1255" cy="113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pPr algn="r"/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Social Cognition</a:t>
                    </a:r>
                  </a:p>
                </p:txBody>
              </p:sp>
              <p:sp>
                <p:nvSpPr>
                  <p:cNvPr id="339" name="文本框 338"/>
                  <p:cNvSpPr txBox="1"/>
                  <p:nvPr/>
                </p:nvSpPr>
                <p:spPr>
                  <a:xfrm>
                    <a:off x="3469" y="9182"/>
                    <a:ext cx="1380" cy="12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pPr algn="r"/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Relational Processing</a:t>
                    </a:r>
                  </a:p>
                </p:txBody>
              </p:sp>
              <p:sp>
                <p:nvSpPr>
                  <p:cNvPr id="340" name="文本框 339"/>
                  <p:cNvSpPr txBox="1"/>
                  <p:nvPr/>
                </p:nvSpPr>
                <p:spPr>
                  <a:xfrm>
                    <a:off x="3459" y="9472"/>
                    <a:ext cx="1380" cy="12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pPr algn="r"/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Emotion</a:t>
                    </a:r>
                  </a:p>
                </p:txBody>
              </p:sp>
              <p:sp>
                <p:nvSpPr>
                  <p:cNvPr id="341" name="文本框 340"/>
                  <p:cNvSpPr txBox="1"/>
                  <p:nvPr/>
                </p:nvSpPr>
                <p:spPr>
                  <a:xfrm>
                    <a:off x="3465" y="9738"/>
                    <a:ext cx="1380" cy="120"/>
                  </a:xfrm>
                  <a:prstGeom prst="rect">
                    <a:avLst/>
                  </a:prstGeom>
                  <a:noFill/>
                </p:spPr>
                <p:txBody>
                  <a:bodyPr wrap="square" rtlCol="0" anchor="ctr" anchorCtr="0">
                    <a:noAutofit/>
                  </a:bodyPr>
                  <a:lstStyle/>
                  <a:p>
                    <a:pPr algn="r"/>
                    <a:r>
                      <a:rPr lang="en-US" altLang="zh-CN" sz="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Gambling</a:t>
                    </a:r>
                  </a:p>
                </p:txBody>
              </p:sp>
            </p:grpSp>
          </p:grpSp>
          <p:sp>
            <p:nvSpPr>
              <p:cNvPr id="261" name="文本框 260"/>
              <p:cNvSpPr txBox="1"/>
              <p:nvPr/>
            </p:nvSpPr>
            <p:spPr>
              <a:xfrm rot="16200000">
                <a:off x="3180" y="8598"/>
                <a:ext cx="1081" cy="198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Cognitive Tasks</a:t>
                </a:r>
              </a:p>
            </p:txBody>
          </p:sp>
        </p:grpSp>
      </p:grpSp>
      <p:sp>
        <p:nvSpPr>
          <p:cNvPr id="48" name="文本框 47"/>
          <p:cNvSpPr txBox="1"/>
          <p:nvPr/>
        </p:nvSpPr>
        <p:spPr>
          <a:xfrm>
            <a:off x="56429" y="2402167"/>
            <a:ext cx="359908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</a:p>
        </p:txBody>
      </p:sp>
      <p:sp>
        <p:nvSpPr>
          <p:cNvPr id="117" name="文本框 116"/>
          <p:cNvSpPr txBox="1"/>
          <p:nvPr/>
        </p:nvSpPr>
        <p:spPr>
          <a:xfrm>
            <a:off x="3463677" y="2375564"/>
            <a:ext cx="359908" cy="3599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</a:p>
        </p:txBody>
      </p:sp>
      <p:sp>
        <p:nvSpPr>
          <p:cNvPr id="118" name="文本框 117"/>
          <p:cNvSpPr txBox="1"/>
          <p:nvPr/>
        </p:nvSpPr>
        <p:spPr>
          <a:xfrm>
            <a:off x="56429" y="4115333"/>
            <a:ext cx="359908" cy="3599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</a:p>
        </p:txBody>
      </p:sp>
      <p:sp>
        <p:nvSpPr>
          <p:cNvPr id="203" name="文本框 202"/>
          <p:cNvSpPr txBox="1"/>
          <p:nvPr/>
        </p:nvSpPr>
        <p:spPr>
          <a:xfrm>
            <a:off x="56429" y="7222861"/>
            <a:ext cx="359908" cy="3599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3112135" y="383859"/>
            <a:ext cx="3774440" cy="1821815"/>
            <a:chOff x="-216" y="3736"/>
            <a:chExt cx="5944" cy="2869"/>
          </a:xfrm>
        </p:grpSpPr>
        <p:sp>
          <p:nvSpPr>
            <p:cNvPr id="52" name="文本框 51"/>
            <p:cNvSpPr txBox="1"/>
            <p:nvPr/>
          </p:nvSpPr>
          <p:spPr>
            <a:xfrm>
              <a:off x="5207" y="3896"/>
              <a:ext cx="521" cy="255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493395">
                <a:lnSpc>
                  <a:spcPts val="2200"/>
                </a:lnSpc>
              </a:pPr>
              <a:r>
                <a:rPr lang="en-US" altLang="zh-CN" sz="700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2</a:t>
              </a:r>
            </a:p>
            <a:p>
              <a:pPr algn="ctr" defTabSz="493395">
                <a:lnSpc>
                  <a:spcPts val="2200"/>
                </a:lnSpc>
              </a:pPr>
              <a:r>
                <a:rPr lang="en-US" altLang="zh-CN" sz="700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1</a:t>
              </a:r>
            </a:p>
            <a:p>
              <a:pPr algn="ctr" defTabSz="493395">
                <a:lnSpc>
                  <a:spcPts val="2200"/>
                </a:lnSpc>
              </a:pPr>
              <a:r>
                <a:rPr lang="en-US" altLang="zh-CN" sz="700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0</a:t>
              </a:r>
            </a:p>
            <a:p>
              <a:pPr algn="ctr" defTabSz="493395">
                <a:lnSpc>
                  <a:spcPts val="2200"/>
                </a:lnSpc>
              </a:pPr>
              <a:r>
                <a:rPr lang="en-US" altLang="zh-CN" sz="700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-1</a:t>
              </a:r>
            </a:p>
            <a:p>
              <a:pPr algn="ctr" defTabSz="493395">
                <a:lnSpc>
                  <a:spcPts val="2200"/>
                </a:lnSpc>
              </a:pPr>
              <a:r>
                <a:rPr lang="en-US" altLang="zh-CN" sz="700" dirty="0">
                  <a:solidFill>
                    <a:prstClr val="black"/>
                  </a:solidFill>
                  <a:latin typeface="Times New Roman" panose="02020603050405020304" pitchFamily="18" charset="0"/>
                  <a:ea typeface="等线" panose="02010600030101010101" charset="-122"/>
                  <a:cs typeface="Times New Roman" panose="02020603050405020304" pitchFamily="18" charset="0"/>
                </a:rPr>
                <a:t>-2</a:t>
              </a:r>
            </a:p>
          </p:txBody>
        </p:sp>
        <p:grpSp>
          <p:nvGrpSpPr>
            <p:cNvPr id="176" name="组合 175"/>
            <p:cNvGrpSpPr/>
            <p:nvPr/>
          </p:nvGrpSpPr>
          <p:grpSpPr>
            <a:xfrm>
              <a:off x="-216" y="4203"/>
              <a:ext cx="1345" cy="1874"/>
              <a:chOff x="-121" y="1540"/>
              <a:chExt cx="1346" cy="1875"/>
            </a:xfrm>
          </p:grpSpPr>
          <p:sp>
            <p:nvSpPr>
              <p:cNvPr id="89" name="文本框 88"/>
              <p:cNvSpPr txBox="1"/>
              <p:nvPr/>
            </p:nvSpPr>
            <p:spPr>
              <a:xfrm>
                <a:off x="-121" y="3003"/>
                <a:ext cx="1345" cy="15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Relational</a:t>
                </a:r>
              </a:p>
              <a:p>
                <a:pPr algn="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Processing</a:t>
                </a:r>
              </a:p>
            </p:txBody>
          </p:sp>
          <p:sp>
            <p:nvSpPr>
              <p:cNvPr id="90" name="文本框 89"/>
              <p:cNvSpPr txBox="1"/>
              <p:nvPr/>
            </p:nvSpPr>
            <p:spPr>
              <a:xfrm>
                <a:off x="34" y="1540"/>
                <a:ext cx="1191" cy="12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Working </a:t>
                </a:r>
              </a:p>
              <a:p>
                <a:pPr algn="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Memory</a:t>
                </a:r>
              </a:p>
            </p:txBody>
          </p:sp>
          <p:sp>
            <p:nvSpPr>
              <p:cNvPr id="91" name="文本框 90"/>
              <p:cNvSpPr txBox="1"/>
              <p:nvPr/>
            </p:nvSpPr>
            <p:spPr>
              <a:xfrm>
                <a:off x="34" y="1840"/>
                <a:ext cx="1191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Language</a:t>
                </a:r>
              </a:p>
            </p:txBody>
          </p:sp>
          <p:sp>
            <p:nvSpPr>
              <p:cNvPr id="92" name="文本框 91"/>
              <p:cNvSpPr txBox="1"/>
              <p:nvPr/>
            </p:nvSpPr>
            <p:spPr>
              <a:xfrm>
                <a:off x="29" y="2413"/>
                <a:ext cx="1191" cy="12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Motor</a:t>
                </a:r>
              </a:p>
            </p:txBody>
          </p:sp>
          <p:sp>
            <p:nvSpPr>
              <p:cNvPr id="93" name="文本框 92"/>
              <p:cNvSpPr txBox="1"/>
              <p:nvPr/>
            </p:nvSpPr>
            <p:spPr>
              <a:xfrm>
                <a:off x="515" y="3295"/>
                <a:ext cx="710" cy="12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Emotion</a:t>
                </a:r>
              </a:p>
            </p:txBody>
          </p:sp>
          <p:sp>
            <p:nvSpPr>
              <p:cNvPr id="96" name="文本框 95"/>
              <p:cNvSpPr txBox="1"/>
              <p:nvPr/>
            </p:nvSpPr>
            <p:spPr>
              <a:xfrm>
                <a:off x="29" y="2712"/>
                <a:ext cx="1191" cy="12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Gambling</a:t>
                </a:r>
              </a:p>
            </p:txBody>
          </p:sp>
          <p:sp>
            <p:nvSpPr>
              <p:cNvPr id="97" name="文本框 96"/>
              <p:cNvSpPr txBox="1"/>
              <p:nvPr/>
            </p:nvSpPr>
            <p:spPr>
              <a:xfrm>
                <a:off x="33" y="2131"/>
                <a:ext cx="1191" cy="12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Social </a:t>
                </a:r>
              </a:p>
              <a:p>
                <a:pPr algn="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Cognition</a:t>
                </a:r>
              </a:p>
            </p:txBody>
          </p:sp>
        </p:grpSp>
        <p:pic>
          <p:nvPicPr>
            <p:cNvPr id="4" name="图片 3"/>
            <p:cNvPicPr/>
            <p:nvPr/>
          </p:nvPicPr>
          <p:blipFill>
            <a:blip r:embed="rId10"/>
            <a:srcRect l="574"/>
            <a:stretch>
              <a:fillRect/>
            </a:stretch>
          </p:blipFill>
          <p:spPr>
            <a:xfrm>
              <a:off x="1006" y="3787"/>
              <a:ext cx="4413" cy="2414"/>
            </a:xfrm>
            <a:prstGeom prst="rect">
              <a:avLst/>
            </a:prstGeom>
          </p:spPr>
        </p:pic>
        <p:sp>
          <p:nvSpPr>
            <p:cNvPr id="54" name="文本框 53"/>
            <p:cNvSpPr txBox="1"/>
            <p:nvPr/>
          </p:nvSpPr>
          <p:spPr>
            <a:xfrm>
              <a:off x="1106" y="3736"/>
              <a:ext cx="4420" cy="14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N=20 subjects × 7 tasks × 360 parcels, hierarchically clustered</a:t>
              </a: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1859" y="6448"/>
              <a:ext cx="2502" cy="1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Brain Region</a:t>
              </a:r>
              <a:r>
                <a:rPr lang="zh-CN" alt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HCP-MMP</a:t>
              </a:r>
              <a:r>
                <a:rPr lang="zh-CN" alt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Atlas)</a:t>
              </a:r>
            </a:p>
          </p:txBody>
        </p:sp>
        <p:grpSp>
          <p:nvGrpSpPr>
            <p:cNvPr id="173" name="组合 172"/>
            <p:cNvGrpSpPr/>
            <p:nvPr/>
          </p:nvGrpSpPr>
          <p:grpSpPr>
            <a:xfrm>
              <a:off x="660" y="6194"/>
              <a:ext cx="4524" cy="199"/>
              <a:chOff x="1200" y="3530"/>
              <a:chExt cx="4526" cy="199"/>
            </a:xfrm>
          </p:grpSpPr>
          <p:sp>
            <p:nvSpPr>
              <p:cNvPr id="80" name="文本框 79"/>
              <p:cNvSpPr txBox="1"/>
              <p:nvPr/>
            </p:nvSpPr>
            <p:spPr>
              <a:xfrm rot="19980000">
                <a:off x="1200" y="3572"/>
                <a:ext cx="850" cy="15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POS1</a:t>
                </a:r>
              </a:p>
            </p:txBody>
          </p:sp>
          <p:sp>
            <p:nvSpPr>
              <p:cNvPr id="81" name="文本框 80"/>
              <p:cNvSpPr txBox="1"/>
              <p:nvPr/>
            </p:nvSpPr>
            <p:spPr>
              <a:xfrm rot="19980000">
                <a:off x="1936" y="3532"/>
                <a:ext cx="849" cy="15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 i6-8</a:t>
                </a:r>
              </a:p>
            </p:txBody>
          </p:sp>
          <p:sp>
            <p:nvSpPr>
              <p:cNvPr id="83" name="文本框 82"/>
              <p:cNvSpPr txBox="1"/>
              <p:nvPr/>
            </p:nvSpPr>
            <p:spPr>
              <a:xfrm rot="19980000">
                <a:off x="2671" y="3532"/>
                <a:ext cx="849" cy="15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5mv</a:t>
                </a:r>
              </a:p>
            </p:txBody>
          </p:sp>
          <p:sp>
            <p:nvSpPr>
              <p:cNvPr id="84" name="文本框 83"/>
              <p:cNvSpPr txBox="1"/>
              <p:nvPr/>
            </p:nvSpPr>
            <p:spPr>
              <a:xfrm rot="19980000">
                <a:off x="3407" y="3530"/>
                <a:ext cx="849" cy="15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VIP</a:t>
                </a:r>
              </a:p>
            </p:txBody>
          </p:sp>
          <p:sp>
            <p:nvSpPr>
              <p:cNvPr id="85" name="文本框 84"/>
              <p:cNvSpPr txBox="1"/>
              <p:nvPr/>
            </p:nvSpPr>
            <p:spPr>
              <a:xfrm rot="19980000">
                <a:off x="4142" y="3530"/>
                <a:ext cx="849" cy="15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IFJa</a:t>
                </a:r>
              </a:p>
            </p:txBody>
          </p:sp>
          <p:sp>
            <p:nvSpPr>
              <p:cNvPr id="86" name="文本框 85"/>
              <p:cNvSpPr txBox="1"/>
              <p:nvPr/>
            </p:nvSpPr>
            <p:spPr>
              <a:xfrm rot="19980000">
                <a:off x="4877" y="3538"/>
                <a:ext cx="849" cy="15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 8Av</a:t>
                </a:r>
              </a:p>
            </p:txBody>
          </p:sp>
        </p:grpSp>
        <p:sp>
          <p:nvSpPr>
            <p:cNvPr id="87" name="文本框 86"/>
            <p:cNvSpPr txBox="1"/>
            <p:nvPr/>
          </p:nvSpPr>
          <p:spPr>
            <a:xfrm rot="16200000">
              <a:off x="4653" y="5048"/>
              <a:ext cx="1878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Activation</a:t>
              </a:r>
              <a:r>
                <a:rPr lang="zh-CN" alt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z-score)</a:t>
              </a:r>
            </a:p>
          </p:txBody>
        </p:sp>
      </p:grpSp>
      <p:grpSp>
        <p:nvGrpSpPr>
          <p:cNvPr id="260" name="组合 259"/>
          <p:cNvGrpSpPr/>
          <p:nvPr/>
        </p:nvGrpSpPr>
        <p:grpSpPr>
          <a:xfrm>
            <a:off x="3811905" y="2205038"/>
            <a:ext cx="3042920" cy="4930140"/>
            <a:chOff x="6003" y="3470"/>
            <a:chExt cx="4792" cy="7764"/>
          </a:xfrm>
        </p:grpSpPr>
        <p:grpSp>
          <p:nvGrpSpPr>
            <p:cNvPr id="213" name="组合 212"/>
            <p:cNvGrpSpPr/>
            <p:nvPr/>
          </p:nvGrpSpPr>
          <p:grpSpPr>
            <a:xfrm>
              <a:off x="9901" y="6011"/>
              <a:ext cx="895" cy="2607"/>
              <a:chOff x="9407" y="6693"/>
              <a:chExt cx="895" cy="2609"/>
            </a:xfrm>
          </p:grpSpPr>
          <p:sp>
            <p:nvSpPr>
              <p:cNvPr id="214" name="文本框 213"/>
              <p:cNvSpPr txBox="1"/>
              <p:nvPr/>
            </p:nvSpPr>
            <p:spPr>
              <a:xfrm>
                <a:off x="9407" y="6693"/>
                <a:ext cx="886" cy="14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0.0</a:t>
                </a:r>
              </a:p>
            </p:txBody>
          </p:sp>
          <p:sp>
            <p:nvSpPr>
              <p:cNvPr id="215" name="文本框 214"/>
              <p:cNvSpPr txBox="1"/>
              <p:nvPr/>
            </p:nvSpPr>
            <p:spPr>
              <a:xfrm>
                <a:off x="9416" y="7189"/>
                <a:ext cx="886" cy="14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</a:t>
                </a:r>
              </a:p>
            </p:txBody>
          </p:sp>
          <p:sp>
            <p:nvSpPr>
              <p:cNvPr id="216" name="文本框 215"/>
              <p:cNvSpPr txBox="1"/>
              <p:nvPr/>
            </p:nvSpPr>
            <p:spPr>
              <a:xfrm>
                <a:off x="9416" y="7681"/>
                <a:ext cx="886" cy="14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0.4</a:t>
                </a:r>
              </a:p>
            </p:txBody>
          </p:sp>
          <p:sp>
            <p:nvSpPr>
              <p:cNvPr id="217" name="文本框 216"/>
              <p:cNvSpPr txBox="1"/>
              <p:nvPr/>
            </p:nvSpPr>
            <p:spPr>
              <a:xfrm>
                <a:off x="9416" y="8173"/>
                <a:ext cx="886" cy="14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0.6</a:t>
                </a:r>
              </a:p>
            </p:txBody>
          </p:sp>
          <p:sp>
            <p:nvSpPr>
              <p:cNvPr id="218" name="文本框 217"/>
              <p:cNvSpPr txBox="1"/>
              <p:nvPr/>
            </p:nvSpPr>
            <p:spPr>
              <a:xfrm>
                <a:off x="9416" y="8665"/>
                <a:ext cx="886" cy="14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0.8</a:t>
                </a:r>
              </a:p>
            </p:txBody>
          </p:sp>
          <p:sp>
            <p:nvSpPr>
              <p:cNvPr id="219" name="文本框 218"/>
              <p:cNvSpPr txBox="1"/>
              <p:nvPr/>
            </p:nvSpPr>
            <p:spPr>
              <a:xfrm>
                <a:off x="9416" y="9157"/>
                <a:ext cx="886" cy="14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1.0</a:t>
                </a:r>
              </a:p>
            </p:txBody>
          </p:sp>
          <p:pic>
            <p:nvPicPr>
              <p:cNvPr id="220" name="图片 219"/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 rot="5400000" flipV="1">
                <a:off x="8361" y="7913"/>
                <a:ext cx="2608" cy="170"/>
              </a:xfrm>
              <a:prstGeom prst="rect">
                <a:avLst/>
              </a:prstGeom>
              <a:solidFill>
                <a:schemeClr val="bg1"/>
              </a:solidFill>
            </p:spPr>
          </p:pic>
        </p:grpSp>
        <p:grpSp>
          <p:nvGrpSpPr>
            <p:cNvPr id="259" name="组合 258"/>
            <p:cNvGrpSpPr/>
            <p:nvPr/>
          </p:nvGrpSpPr>
          <p:grpSpPr>
            <a:xfrm>
              <a:off x="6003" y="3470"/>
              <a:ext cx="4080" cy="7765"/>
              <a:chOff x="6003" y="3470"/>
              <a:chExt cx="4080" cy="7765"/>
            </a:xfrm>
          </p:grpSpPr>
          <p:pic>
            <p:nvPicPr>
              <p:cNvPr id="221" name="图片 220"/>
              <p:cNvPicPr>
                <a:picLocks noChangeAspect="1"/>
              </p:cNvPicPr>
              <p:nvPr/>
            </p:nvPicPr>
            <p:blipFill>
              <a:blip r:embed="rId12"/>
              <a:srcRect l="52304" t="1619" r="-759"/>
              <a:stretch>
                <a:fillRect/>
              </a:stretch>
            </p:blipFill>
            <p:spPr>
              <a:xfrm>
                <a:off x="6007" y="9965"/>
                <a:ext cx="3999" cy="1270"/>
              </a:xfrm>
              <a:prstGeom prst="rect">
                <a:avLst/>
              </a:prstGeom>
              <a:solidFill>
                <a:schemeClr val="bg1"/>
              </a:solidFill>
            </p:spPr>
          </p:pic>
          <p:sp>
            <p:nvSpPr>
              <p:cNvPr id="222" name="文本框 221"/>
              <p:cNvSpPr txBox="1"/>
              <p:nvPr/>
            </p:nvSpPr>
            <p:spPr>
              <a:xfrm>
                <a:off x="6761" y="11003"/>
                <a:ext cx="2446" cy="14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Emotion</a:t>
                </a:r>
              </a:p>
            </p:txBody>
          </p:sp>
          <p:pic>
            <p:nvPicPr>
              <p:cNvPr id="223" name="图片 222"/>
              <p:cNvPicPr>
                <a:picLocks noChangeAspect="1"/>
              </p:cNvPicPr>
              <p:nvPr/>
            </p:nvPicPr>
            <p:blipFill>
              <a:blip r:embed="rId13"/>
              <a:srcRect l="52732" t="12368" r="-886" b="11462"/>
              <a:stretch>
                <a:fillRect/>
              </a:stretch>
            </p:blipFill>
            <p:spPr>
              <a:xfrm>
                <a:off x="6019" y="8952"/>
                <a:ext cx="3988" cy="1066"/>
              </a:xfrm>
              <a:prstGeom prst="rect">
                <a:avLst/>
              </a:prstGeom>
              <a:solidFill>
                <a:schemeClr val="bg1"/>
              </a:solidFill>
            </p:spPr>
          </p:pic>
          <p:sp>
            <p:nvSpPr>
              <p:cNvPr id="224" name="文本框 223"/>
              <p:cNvSpPr txBox="1"/>
              <p:nvPr/>
            </p:nvSpPr>
            <p:spPr>
              <a:xfrm>
                <a:off x="6755" y="9912"/>
                <a:ext cx="2457" cy="148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Social </a:t>
                </a:r>
              </a:p>
            </p:txBody>
          </p:sp>
          <p:pic>
            <p:nvPicPr>
              <p:cNvPr id="225" name="图片 224"/>
              <p:cNvPicPr>
                <a:picLocks noChangeAspect="1"/>
              </p:cNvPicPr>
              <p:nvPr/>
            </p:nvPicPr>
            <p:blipFill>
              <a:blip r:embed="rId14"/>
              <a:srcRect l="52731" t="5987" r="-1298" b="8761"/>
              <a:stretch>
                <a:fillRect/>
              </a:stretch>
            </p:blipFill>
            <p:spPr>
              <a:xfrm>
                <a:off x="6003" y="7921"/>
                <a:ext cx="4015" cy="1025"/>
              </a:xfrm>
              <a:prstGeom prst="rect">
                <a:avLst/>
              </a:prstGeom>
              <a:solidFill>
                <a:schemeClr val="bg1"/>
              </a:solidFill>
            </p:spPr>
          </p:pic>
          <p:sp>
            <p:nvSpPr>
              <p:cNvPr id="226" name="文本框 225"/>
              <p:cNvSpPr txBox="1"/>
              <p:nvPr/>
            </p:nvSpPr>
            <p:spPr>
              <a:xfrm>
                <a:off x="6761" y="8822"/>
                <a:ext cx="2446" cy="14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Motor</a:t>
                </a:r>
              </a:p>
            </p:txBody>
          </p:sp>
          <p:pic>
            <p:nvPicPr>
              <p:cNvPr id="227" name="图片 226"/>
              <p:cNvPicPr>
                <a:picLocks noChangeAspect="1"/>
              </p:cNvPicPr>
              <p:nvPr/>
            </p:nvPicPr>
            <p:blipFill>
              <a:blip r:embed="rId15"/>
              <a:srcRect r="2052" b="9176"/>
              <a:stretch>
                <a:fillRect/>
              </a:stretch>
            </p:blipFill>
            <p:spPr>
              <a:xfrm>
                <a:off x="6043" y="6693"/>
                <a:ext cx="3939" cy="1168"/>
              </a:xfrm>
              <a:prstGeom prst="rect">
                <a:avLst/>
              </a:prstGeom>
              <a:solidFill>
                <a:schemeClr val="bg1"/>
              </a:solidFill>
            </p:spPr>
          </p:pic>
          <p:sp>
            <p:nvSpPr>
              <p:cNvPr id="228" name="文本框 227"/>
              <p:cNvSpPr txBox="1"/>
              <p:nvPr/>
            </p:nvSpPr>
            <p:spPr>
              <a:xfrm>
                <a:off x="6768" y="7733"/>
                <a:ext cx="2431" cy="146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Gambling</a:t>
                </a:r>
              </a:p>
            </p:txBody>
          </p:sp>
          <p:pic>
            <p:nvPicPr>
              <p:cNvPr id="229" name="图片 228"/>
              <p:cNvPicPr>
                <a:picLocks noChangeAspect="1"/>
              </p:cNvPicPr>
              <p:nvPr/>
            </p:nvPicPr>
            <p:blipFill>
              <a:blip r:embed="rId12"/>
              <a:srcRect r="52197" b="2968"/>
              <a:stretch>
                <a:fillRect/>
              </a:stretch>
            </p:blipFill>
            <p:spPr>
              <a:xfrm>
                <a:off x="6049" y="5583"/>
                <a:ext cx="3947" cy="1264"/>
              </a:xfrm>
              <a:prstGeom prst="rect">
                <a:avLst/>
              </a:prstGeom>
              <a:solidFill>
                <a:schemeClr val="bg1"/>
              </a:solidFill>
            </p:spPr>
          </p:pic>
          <p:sp>
            <p:nvSpPr>
              <p:cNvPr id="230" name="文本框 229"/>
              <p:cNvSpPr txBox="1"/>
              <p:nvPr/>
            </p:nvSpPr>
            <p:spPr>
              <a:xfrm>
                <a:off x="6783" y="6646"/>
                <a:ext cx="2402" cy="144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Relational</a:t>
                </a:r>
              </a:p>
            </p:txBody>
          </p:sp>
          <p:pic>
            <p:nvPicPr>
              <p:cNvPr id="231" name="图片 230"/>
              <p:cNvPicPr>
                <a:picLocks noChangeAspect="1"/>
              </p:cNvPicPr>
              <p:nvPr/>
            </p:nvPicPr>
            <p:blipFill>
              <a:blip r:embed="rId13"/>
              <a:srcRect r="51252" b="7170"/>
              <a:stretch>
                <a:fillRect/>
              </a:stretch>
            </p:blipFill>
            <p:spPr>
              <a:xfrm>
                <a:off x="6003" y="4415"/>
                <a:ext cx="4055" cy="1310"/>
              </a:xfrm>
              <a:prstGeom prst="rect">
                <a:avLst/>
              </a:prstGeom>
              <a:solidFill>
                <a:schemeClr val="bg1"/>
              </a:solidFill>
            </p:spPr>
          </p:pic>
          <p:sp>
            <p:nvSpPr>
              <p:cNvPr id="232" name="文本框 231"/>
              <p:cNvSpPr txBox="1"/>
              <p:nvPr/>
            </p:nvSpPr>
            <p:spPr>
              <a:xfrm>
                <a:off x="6777" y="5566"/>
                <a:ext cx="2414" cy="13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Language</a:t>
                </a:r>
              </a:p>
            </p:txBody>
          </p:sp>
          <p:pic>
            <p:nvPicPr>
              <p:cNvPr id="233" name="图片 232"/>
              <p:cNvPicPr>
                <a:picLocks noChangeAspect="1"/>
              </p:cNvPicPr>
              <p:nvPr/>
            </p:nvPicPr>
            <p:blipFill>
              <a:blip r:embed="rId14"/>
              <a:srcRect r="50798" b="9076"/>
              <a:stretch>
                <a:fillRect/>
              </a:stretch>
            </p:blipFill>
            <p:spPr>
              <a:xfrm>
                <a:off x="6003" y="3470"/>
                <a:ext cx="4080" cy="1096"/>
              </a:xfrm>
              <a:prstGeom prst="rect">
                <a:avLst/>
              </a:prstGeom>
              <a:solidFill>
                <a:schemeClr val="bg1"/>
              </a:solidFill>
            </p:spPr>
          </p:pic>
          <p:sp>
            <p:nvSpPr>
              <p:cNvPr id="234" name="文本框 233"/>
              <p:cNvSpPr txBox="1"/>
              <p:nvPr/>
            </p:nvSpPr>
            <p:spPr>
              <a:xfrm>
                <a:off x="6777" y="4478"/>
                <a:ext cx="2414" cy="14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Working Memory</a:t>
                </a: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文本框 449"/>
          <p:cNvSpPr txBox="1"/>
          <p:nvPr/>
        </p:nvSpPr>
        <p:spPr>
          <a:xfrm>
            <a:off x="24369" y="2246055"/>
            <a:ext cx="359908" cy="3599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</a:p>
        </p:txBody>
      </p:sp>
      <p:sp>
        <p:nvSpPr>
          <p:cNvPr id="452" name="文本框 451"/>
          <p:cNvSpPr txBox="1"/>
          <p:nvPr/>
        </p:nvSpPr>
        <p:spPr>
          <a:xfrm>
            <a:off x="4231050" y="2246055"/>
            <a:ext cx="359318" cy="3599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</a:p>
        </p:txBody>
      </p:sp>
      <p:sp>
        <p:nvSpPr>
          <p:cNvPr id="451" name="文本框 450"/>
          <p:cNvSpPr txBox="1"/>
          <p:nvPr/>
        </p:nvSpPr>
        <p:spPr>
          <a:xfrm>
            <a:off x="2111348" y="2246055"/>
            <a:ext cx="359318" cy="3599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</a:p>
        </p:txBody>
      </p:sp>
      <p:grpSp>
        <p:nvGrpSpPr>
          <p:cNvPr id="504" name="组合 503"/>
          <p:cNvGrpSpPr/>
          <p:nvPr/>
        </p:nvGrpSpPr>
        <p:grpSpPr>
          <a:xfrm>
            <a:off x="3547111" y="6611303"/>
            <a:ext cx="625475" cy="999490"/>
            <a:chOff x="-199" y="12483"/>
            <a:chExt cx="985" cy="1575"/>
          </a:xfrm>
        </p:grpSpPr>
        <p:sp>
          <p:nvSpPr>
            <p:cNvPr id="505" name="文本框 504"/>
            <p:cNvSpPr txBox="1"/>
            <p:nvPr/>
          </p:nvSpPr>
          <p:spPr>
            <a:xfrm>
              <a:off x="-190" y="12483"/>
              <a:ext cx="97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scientific</a:t>
              </a:r>
            </a:p>
          </p:txBody>
        </p:sp>
        <p:sp>
          <p:nvSpPr>
            <p:cNvPr id="506" name="文本框 505"/>
            <p:cNvSpPr txBox="1"/>
            <p:nvPr/>
          </p:nvSpPr>
          <p:spPr>
            <a:xfrm>
              <a:off x="-189" y="12726"/>
              <a:ext cx="97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social</a:t>
              </a:r>
            </a:p>
          </p:txBody>
        </p:sp>
        <p:sp>
          <p:nvSpPr>
            <p:cNvPr id="507" name="文本框 506"/>
            <p:cNvSpPr txBox="1"/>
            <p:nvPr/>
          </p:nvSpPr>
          <p:spPr>
            <a:xfrm>
              <a:off x="-189" y="12979"/>
              <a:ext cx="97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emotional</a:t>
              </a:r>
            </a:p>
          </p:txBody>
        </p:sp>
        <p:sp>
          <p:nvSpPr>
            <p:cNvPr id="508" name="文本框 507"/>
            <p:cNvSpPr txBox="1"/>
            <p:nvPr/>
          </p:nvSpPr>
          <p:spPr>
            <a:xfrm>
              <a:off x="-189" y="13227"/>
              <a:ext cx="97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procedural</a:t>
              </a:r>
            </a:p>
          </p:txBody>
        </p:sp>
        <p:sp>
          <p:nvSpPr>
            <p:cNvPr id="509" name="文本框 508"/>
            <p:cNvSpPr txBox="1"/>
            <p:nvPr/>
          </p:nvSpPr>
          <p:spPr>
            <a:xfrm>
              <a:off x="-184" y="13463"/>
              <a:ext cx="97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narrative</a:t>
              </a:r>
            </a:p>
          </p:txBody>
        </p:sp>
        <p:sp>
          <p:nvSpPr>
            <p:cNvPr id="510" name="文本框 509"/>
            <p:cNvSpPr txBox="1"/>
            <p:nvPr/>
          </p:nvSpPr>
          <p:spPr>
            <a:xfrm>
              <a:off x="-184" y="13701"/>
              <a:ext cx="97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mathematical</a:t>
              </a:r>
            </a:p>
          </p:txBody>
        </p:sp>
        <p:sp>
          <p:nvSpPr>
            <p:cNvPr id="511" name="文本框 510"/>
            <p:cNvSpPr txBox="1"/>
            <p:nvPr/>
          </p:nvSpPr>
          <p:spPr>
            <a:xfrm>
              <a:off x="-199" y="13946"/>
              <a:ext cx="97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risk_decision</a:t>
              </a:r>
            </a:p>
          </p:txBody>
        </p:sp>
      </p:grpSp>
      <p:pic>
        <p:nvPicPr>
          <p:cNvPr id="457" name="图片 4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415" y="6544629"/>
            <a:ext cx="1263650" cy="1115695"/>
          </a:xfrm>
          <a:prstGeom prst="rect">
            <a:avLst/>
          </a:prstGeom>
        </p:spPr>
      </p:pic>
      <p:sp>
        <p:nvSpPr>
          <p:cNvPr id="460" name="文本框 459"/>
          <p:cNvSpPr txBox="1"/>
          <p:nvPr/>
        </p:nvSpPr>
        <p:spPr>
          <a:xfrm>
            <a:off x="4265295" y="6406834"/>
            <a:ext cx="808990" cy="13017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DeepSeek-16B</a:t>
            </a:r>
          </a:p>
        </p:txBody>
      </p:sp>
      <p:grpSp>
        <p:nvGrpSpPr>
          <p:cNvPr id="521" name="组合 520"/>
          <p:cNvGrpSpPr/>
          <p:nvPr/>
        </p:nvGrpSpPr>
        <p:grpSpPr>
          <a:xfrm>
            <a:off x="5259705" y="6681154"/>
            <a:ext cx="323850" cy="861695"/>
            <a:chOff x="2473" y="12637"/>
            <a:chExt cx="510" cy="1358"/>
          </a:xfrm>
        </p:grpSpPr>
        <p:sp>
          <p:nvSpPr>
            <p:cNvPr id="522" name="文本框 521"/>
            <p:cNvSpPr txBox="1"/>
            <p:nvPr/>
          </p:nvSpPr>
          <p:spPr>
            <a:xfrm>
              <a:off x="2473" y="13882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0.02</a:t>
              </a:r>
            </a:p>
          </p:txBody>
        </p:sp>
        <p:sp>
          <p:nvSpPr>
            <p:cNvPr id="523" name="文本框 522"/>
            <p:cNvSpPr txBox="1"/>
            <p:nvPr/>
          </p:nvSpPr>
          <p:spPr>
            <a:xfrm>
              <a:off x="2473" y="13633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0.04</a:t>
              </a:r>
            </a:p>
          </p:txBody>
        </p:sp>
        <p:sp>
          <p:nvSpPr>
            <p:cNvPr id="524" name="文本框 523"/>
            <p:cNvSpPr txBox="1"/>
            <p:nvPr/>
          </p:nvSpPr>
          <p:spPr>
            <a:xfrm>
              <a:off x="2473" y="13384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0.06</a:t>
              </a:r>
            </a:p>
          </p:txBody>
        </p:sp>
        <p:sp>
          <p:nvSpPr>
            <p:cNvPr id="525" name="文本框 524"/>
            <p:cNvSpPr txBox="1"/>
            <p:nvPr/>
          </p:nvSpPr>
          <p:spPr>
            <a:xfrm>
              <a:off x="2473" y="13135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0.08</a:t>
              </a:r>
            </a:p>
          </p:txBody>
        </p:sp>
        <p:sp>
          <p:nvSpPr>
            <p:cNvPr id="526" name="文本框 525"/>
            <p:cNvSpPr txBox="1"/>
            <p:nvPr/>
          </p:nvSpPr>
          <p:spPr>
            <a:xfrm>
              <a:off x="2473" y="12886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0.10</a:t>
              </a:r>
            </a:p>
          </p:txBody>
        </p:sp>
        <p:sp>
          <p:nvSpPr>
            <p:cNvPr id="527" name="文本框 526"/>
            <p:cNvSpPr txBox="1"/>
            <p:nvPr/>
          </p:nvSpPr>
          <p:spPr>
            <a:xfrm>
              <a:off x="2473" y="12637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0.12</a:t>
              </a:r>
            </a:p>
          </p:txBody>
        </p:sp>
      </p:grpSp>
      <p:sp>
        <p:nvSpPr>
          <p:cNvPr id="465" name="文本框 464"/>
          <p:cNvSpPr txBox="1"/>
          <p:nvPr/>
        </p:nvSpPr>
        <p:spPr>
          <a:xfrm>
            <a:off x="4203700" y="7785419"/>
            <a:ext cx="798830" cy="13017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ID (first 20)</a:t>
            </a:r>
          </a:p>
        </p:txBody>
      </p:sp>
      <p:grpSp>
        <p:nvGrpSpPr>
          <p:cNvPr id="157" name="组合 156"/>
          <p:cNvGrpSpPr/>
          <p:nvPr/>
        </p:nvGrpSpPr>
        <p:grpSpPr>
          <a:xfrm>
            <a:off x="1961515" y="7706678"/>
            <a:ext cx="1697990" cy="38100"/>
            <a:chOff x="3065" y="12134"/>
            <a:chExt cx="2674" cy="60"/>
          </a:xfrm>
        </p:grpSpPr>
        <p:sp>
          <p:nvSpPr>
            <p:cNvPr id="531" name="文本框 530"/>
            <p:cNvSpPr txBox="1"/>
            <p:nvPr/>
          </p:nvSpPr>
          <p:spPr>
            <a:xfrm rot="18900000">
              <a:off x="3065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E0</a:t>
              </a:r>
            </a:p>
          </p:txBody>
        </p:sp>
        <p:sp>
          <p:nvSpPr>
            <p:cNvPr id="532" name="文本框 531"/>
            <p:cNvSpPr txBox="1"/>
            <p:nvPr/>
          </p:nvSpPr>
          <p:spPr>
            <a:xfrm rot="18900000">
              <a:off x="3167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</a:t>
              </a:r>
            </a:p>
          </p:txBody>
        </p:sp>
        <p:sp>
          <p:nvSpPr>
            <p:cNvPr id="536" name="文本框 535"/>
            <p:cNvSpPr txBox="1"/>
            <p:nvPr/>
          </p:nvSpPr>
          <p:spPr>
            <a:xfrm rot="18900000">
              <a:off x="3269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E2</a:t>
              </a:r>
            </a:p>
          </p:txBody>
        </p:sp>
        <p:sp>
          <p:nvSpPr>
            <p:cNvPr id="537" name="文本框 536"/>
            <p:cNvSpPr txBox="1"/>
            <p:nvPr/>
          </p:nvSpPr>
          <p:spPr>
            <a:xfrm rot="18900000">
              <a:off x="3371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E3</a:t>
              </a:r>
            </a:p>
          </p:txBody>
        </p:sp>
        <p:sp>
          <p:nvSpPr>
            <p:cNvPr id="538" name="文本框 537"/>
            <p:cNvSpPr txBox="1"/>
            <p:nvPr/>
          </p:nvSpPr>
          <p:spPr>
            <a:xfrm rot="18900000">
              <a:off x="3473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E4</a:t>
              </a:r>
            </a:p>
          </p:txBody>
        </p:sp>
        <p:sp>
          <p:nvSpPr>
            <p:cNvPr id="539" name="文本框 538"/>
            <p:cNvSpPr txBox="1"/>
            <p:nvPr/>
          </p:nvSpPr>
          <p:spPr>
            <a:xfrm rot="18900000">
              <a:off x="3575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E5</a:t>
              </a:r>
            </a:p>
          </p:txBody>
        </p:sp>
        <p:sp>
          <p:nvSpPr>
            <p:cNvPr id="540" name="文本框 539"/>
            <p:cNvSpPr txBox="1"/>
            <p:nvPr/>
          </p:nvSpPr>
          <p:spPr>
            <a:xfrm rot="18900000">
              <a:off x="3677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E6</a:t>
              </a:r>
            </a:p>
          </p:txBody>
        </p:sp>
        <p:sp>
          <p:nvSpPr>
            <p:cNvPr id="541" name="文本框 540"/>
            <p:cNvSpPr txBox="1"/>
            <p:nvPr/>
          </p:nvSpPr>
          <p:spPr>
            <a:xfrm rot="18900000">
              <a:off x="3779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E7</a:t>
              </a:r>
            </a:p>
          </p:txBody>
        </p:sp>
        <p:sp>
          <p:nvSpPr>
            <p:cNvPr id="542" name="文本框 541"/>
            <p:cNvSpPr txBox="1"/>
            <p:nvPr/>
          </p:nvSpPr>
          <p:spPr>
            <a:xfrm rot="18900000">
              <a:off x="3881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E8</a:t>
              </a:r>
            </a:p>
          </p:txBody>
        </p:sp>
        <p:sp>
          <p:nvSpPr>
            <p:cNvPr id="543" name="文本框 542"/>
            <p:cNvSpPr txBox="1"/>
            <p:nvPr/>
          </p:nvSpPr>
          <p:spPr>
            <a:xfrm rot="18900000">
              <a:off x="3983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E9</a:t>
              </a:r>
            </a:p>
          </p:txBody>
        </p:sp>
        <p:sp>
          <p:nvSpPr>
            <p:cNvPr id="544" name="文本框 543"/>
            <p:cNvSpPr txBox="1"/>
            <p:nvPr/>
          </p:nvSpPr>
          <p:spPr>
            <a:xfrm rot="18900000">
              <a:off x="4085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E10</a:t>
              </a:r>
            </a:p>
          </p:txBody>
        </p:sp>
        <p:sp>
          <p:nvSpPr>
            <p:cNvPr id="545" name="文本框 544"/>
            <p:cNvSpPr txBox="1"/>
            <p:nvPr/>
          </p:nvSpPr>
          <p:spPr>
            <a:xfrm rot="18900000">
              <a:off x="4187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E11</a:t>
              </a:r>
            </a:p>
          </p:txBody>
        </p:sp>
        <p:sp>
          <p:nvSpPr>
            <p:cNvPr id="546" name="文本框 545"/>
            <p:cNvSpPr txBox="1"/>
            <p:nvPr/>
          </p:nvSpPr>
          <p:spPr>
            <a:xfrm rot="18900000">
              <a:off x="4289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E12</a:t>
              </a:r>
            </a:p>
          </p:txBody>
        </p:sp>
        <p:sp>
          <p:nvSpPr>
            <p:cNvPr id="547" name="文本框 546"/>
            <p:cNvSpPr txBox="1"/>
            <p:nvPr/>
          </p:nvSpPr>
          <p:spPr>
            <a:xfrm rot="18900000">
              <a:off x="4391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E13</a:t>
              </a:r>
            </a:p>
          </p:txBody>
        </p:sp>
        <p:sp>
          <p:nvSpPr>
            <p:cNvPr id="548" name="文本框 547"/>
            <p:cNvSpPr txBox="1"/>
            <p:nvPr/>
          </p:nvSpPr>
          <p:spPr>
            <a:xfrm rot="18900000">
              <a:off x="4493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E14</a:t>
              </a:r>
            </a:p>
          </p:txBody>
        </p:sp>
        <p:sp>
          <p:nvSpPr>
            <p:cNvPr id="549" name="文本框 548"/>
            <p:cNvSpPr txBox="1"/>
            <p:nvPr/>
          </p:nvSpPr>
          <p:spPr>
            <a:xfrm rot="18900000">
              <a:off x="4595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E15</a:t>
              </a:r>
            </a:p>
          </p:txBody>
        </p:sp>
        <p:sp>
          <p:nvSpPr>
            <p:cNvPr id="550" name="文本框 549"/>
            <p:cNvSpPr txBox="1"/>
            <p:nvPr/>
          </p:nvSpPr>
          <p:spPr>
            <a:xfrm rot="18900000">
              <a:off x="4697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E16</a:t>
              </a:r>
            </a:p>
          </p:txBody>
        </p:sp>
        <p:sp>
          <p:nvSpPr>
            <p:cNvPr id="551" name="文本框 550"/>
            <p:cNvSpPr txBox="1"/>
            <p:nvPr/>
          </p:nvSpPr>
          <p:spPr>
            <a:xfrm rot="18900000">
              <a:off x="4799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E17</a:t>
              </a:r>
            </a:p>
          </p:txBody>
        </p:sp>
        <p:sp>
          <p:nvSpPr>
            <p:cNvPr id="552" name="文本框 551"/>
            <p:cNvSpPr txBox="1"/>
            <p:nvPr/>
          </p:nvSpPr>
          <p:spPr>
            <a:xfrm rot="18900000">
              <a:off x="4901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E18</a:t>
              </a:r>
            </a:p>
          </p:txBody>
        </p:sp>
        <p:sp>
          <p:nvSpPr>
            <p:cNvPr id="553" name="文本框 552"/>
            <p:cNvSpPr txBox="1"/>
            <p:nvPr/>
          </p:nvSpPr>
          <p:spPr>
            <a:xfrm rot="18900000">
              <a:off x="5003" y="12134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E19</a:t>
              </a:r>
            </a:p>
          </p:txBody>
        </p:sp>
      </p:grpSp>
      <p:sp>
        <p:nvSpPr>
          <p:cNvPr id="461" name="文本框 460"/>
          <p:cNvSpPr txBox="1"/>
          <p:nvPr/>
        </p:nvSpPr>
        <p:spPr>
          <a:xfrm>
            <a:off x="2383155" y="7785419"/>
            <a:ext cx="798830" cy="13017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ID (first 20)</a:t>
            </a:r>
          </a:p>
        </p:txBody>
      </p:sp>
      <p:grpSp>
        <p:nvGrpSpPr>
          <p:cNvPr id="599" name="组合 598"/>
          <p:cNvGrpSpPr/>
          <p:nvPr/>
        </p:nvGrpSpPr>
        <p:grpSpPr>
          <a:xfrm>
            <a:off x="3429635" y="6650674"/>
            <a:ext cx="323850" cy="909955"/>
            <a:chOff x="5192" y="12530"/>
            <a:chExt cx="510" cy="1434"/>
          </a:xfrm>
        </p:grpSpPr>
        <p:sp>
          <p:nvSpPr>
            <p:cNvPr id="513" name="文本框 512"/>
            <p:cNvSpPr txBox="1"/>
            <p:nvPr/>
          </p:nvSpPr>
          <p:spPr>
            <a:xfrm>
              <a:off x="5192" y="13852"/>
              <a:ext cx="510" cy="112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0.00</a:t>
              </a:r>
            </a:p>
          </p:txBody>
        </p:sp>
        <p:sp>
          <p:nvSpPr>
            <p:cNvPr id="514" name="文本框 513"/>
            <p:cNvSpPr txBox="1"/>
            <p:nvPr/>
          </p:nvSpPr>
          <p:spPr>
            <a:xfrm>
              <a:off x="5192" y="13687"/>
              <a:ext cx="510" cy="112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0.02</a:t>
              </a:r>
            </a:p>
          </p:txBody>
        </p:sp>
        <p:sp>
          <p:nvSpPr>
            <p:cNvPr id="515" name="文本框 514"/>
            <p:cNvSpPr txBox="1"/>
            <p:nvPr/>
          </p:nvSpPr>
          <p:spPr>
            <a:xfrm>
              <a:off x="5192" y="13522"/>
              <a:ext cx="510" cy="112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0.04</a:t>
              </a:r>
            </a:p>
          </p:txBody>
        </p:sp>
        <p:sp>
          <p:nvSpPr>
            <p:cNvPr id="516" name="文本框 515"/>
            <p:cNvSpPr txBox="1"/>
            <p:nvPr/>
          </p:nvSpPr>
          <p:spPr>
            <a:xfrm>
              <a:off x="5192" y="13356"/>
              <a:ext cx="510" cy="112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0.06</a:t>
              </a:r>
            </a:p>
          </p:txBody>
        </p:sp>
        <p:sp>
          <p:nvSpPr>
            <p:cNvPr id="517" name="文本框 516"/>
            <p:cNvSpPr txBox="1"/>
            <p:nvPr/>
          </p:nvSpPr>
          <p:spPr>
            <a:xfrm>
              <a:off x="5192" y="13191"/>
              <a:ext cx="510" cy="112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0.08</a:t>
              </a:r>
            </a:p>
          </p:txBody>
        </p:sp>
        <p:sp>
          <p:nvSpPr>
            <p:cNvPr id="518" name="文本框 517"/>
            <p:cNvSpPr txBox="1"/>
            <p:nvPr/>
          </p:nvSpPr>
          <p:spPr>
            <a:xfrm>
              <a:off x="5192" y="13026"/>
              <a:ext cx="510" cy="112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0.10</a:t>
              </a:r>
            </a:p>
          </p:txBody>
        </p:sp>
        <p:sp>
          <p:nvSpPr>
            <p:cNvPr id="519" name="文本框 518"/>
            <p:cNvSpPr txBox="1"/>
            <p:nvPr/>
          </p:nvSpPr>
          <p:spPr>
            <a:xfrm>
              <a:off x="5192" y="12861"/>
              <a:ext cx="510" cy="112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0.12</a:t>
              </a:r>
            </a:p>
          </p:txBody>
        </p:sp>
        <p:sp>
          <p:nvSpPr>
            <p:cNvPr id="520" name="文本框 519"/>
            <p:cNvSpPr txBox="1"/>
            <p:nvPr/>
          </p:nvSpPr>
          <p:spPr>
            <a:xfrm>
              <a:off x="5192" y="12696"/>
              <a:ext cx="510" cy="112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0.14</a:t>
              </a:r>
            </a:p>
          </p:txBody>
        </p:sp>
        <p:sp>
          <p:nvSpPr>
            <p:cNvPr id="598" name="文本框 597"/>
            <p:cNvSpPr txBox="1"/>
            <p:nvPr/>
          </p:nvSpPr>
          <p:spPr>
            <a:xfrm>
              <a:off x="5192" y="12530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0.16</a:t>
              </a:r>
            </a:p>
          </p:txBody>
        </p:sp>
      </p:grpSp>
      <p:grpSp>
        <p:nvGrpSpPr>
          <p:cNvPr id="496" name="组合 495"/>
          <p:cNvGrpSpPr/>
          <p:nvPr/>
        </p:nvGrpSpPr>
        <p:grpSpPr>
          <a:xfrm>
            <a:off x="1725296" y="6603683"/>
            <a:ext cx="625475" cy="999490"/>
            <a:chOff x="-199" y="12483"/>
            <a:chExt cx="985" cy="1575"/>
          </a:xfrm>
        </p:grpSpPr>
        <p:sp>
          <p:nvSpPr>
            <p:cNvPr id="497" name="文本框 496"/>
            <p:cNvSpPr txBox="1"/>
            <p:nvPr/>
          </p:nvSpPr>
          <p:spPr>
            <a:xfrm>
              <a:off x="-190" y="12483"/>
              <a:ext cx="97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scientific</a:t>
              </a:r>
            </a:p>
          </p:txBody>
        </p:sp>
        <p:sp>
          <p:nvSpPr>
            <p:cNvPr id="498" name="文本框 497"/>
            <p:cNvSpPr txBox="1"/>
            <p:nvPr/>
          </p:nvSpPr>
          <p:spPr>
            <a:xfrm>
              <a:off x="-189" y="12726"/>
              <a:ext cx="97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social</a:t>
              </a:r>
            </a:p>
          </p:txBody>
        </p:sp>
        <p:sp>
          <p:nvSpPr>
            <p:cNvPr id="499" name="文本框 498"/>
            <p:cNvSpPr txBox="1"/>
            <p:nvPr/>
          </p:nvSpPr>
          <p:spPr>
            <a:xfrm>
              <a:off x="-189" y="12979"/>
              <a:ext cx="97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emotional</a:t>
              </a:r>
            </a:p>
          </p:txBody>
        </p:sp>
        <p:sp>
          <p:nvSpPr>
            <p:cNvPr id="500" name="文本框 499"/>
            <p:cNvSpPr txBox="1"/>
            <p:nvPr/>
          </p:nvSpPr>
          <p:spPr>
            <a:xfrm>
              <a:off x="-189" y="13227"/>
              <a:ext cx="97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procedural</a:t>
              </a:r>
            </a:p>
          </p:txBody>
        </p:sp>
        <p:sp>
          <p:nvSpPr>
            <p:cNvPr id="501" name="文本框 500"/>
            <p:cNvSpPr txBox="1"/>
            <p:nvPr/>
          </p:nvSpPr>
          <p:spPr>
            <a:xfrm>
              <a:off x="-184" y="13463"/>
              <a:ext cx="97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narrative</a:t>
              </a:r>
            </a:p>
          </p:txBody>
        </p:sp>
        <p:sp>
          <p:nvSpPr>
            <p:cNvPr id="502" name="文本框 501"/>
            <p:cNvSpPr txBox="1"/>
            <p:nvPr/>
          </p:nvSpPr>
          <p:spPr>
            <a:xfrm>
              <a:off x="-184" y="13701"/>
              <a:ext cx="97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mathematical</a:t>
              </a:r>
            </a:p>
          </p:txBody>
        </p:sp>
        <p:sp>
          <p:nvSpPr>
            <p:cNvPr id="503" name="文本框 502"/>
            <p:cNvSpPr txBox="1"/>
            <p:nvPr/>
          </p:nvSpPr>
          <p:spPr>
            <a:xfrm>
              <a:off x="-199" y="13946"/>
              <a:ext cx="97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risk_decision</a:t>
              </a:r>
            </a:p>
          </p:txBody>
        </p:sp>
      </p:grpSp>
      <p:pic>
        <p:nvPicPr>
          <p:cNvPr id="456" name="图片 4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6315" y="6543359"/>
            <a:ext cx="1250950" cy="1115695"/>
          </a:xfrm>
          <a:prstGeom prst="rect">
            <a:avLst/>
          </a:prstGeom>
        </p:spPr>
      </p:pic>
      <p:sp>
        <p:nvSpPr>
          <p:cNvPr id="459" name="文本框 458"/>
          <p:cNvSpPr txBox="1"/>
          <p:nvPr/>
        </p:nvSpPr>
        <p:spPr>
          <a:xfrm>
            <a:off x="2526665" y="6401754"/>
            <a:ext cx="615950" cy="13017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Qwen-MoE</a:t>
            </a:r>
          </a:p>
        </p:txBody>
      </p:sp>
      <p:grpSp>
        <p:nvGrpSpPr>
          <p:cNvPr id="60" name="组合 59"/>
          <p:cNvGrpSpPr/>
          <p:nvPr/>
        </p:nvGrpSpPr>
        <p:grpSpPr>
          <a:xfrm>
            <a:off x="57380" y="256794"/>
            <a:ext cx="6684836" cy="1923557"/>
            <a:chOff x="38" y="3988"/>
            <a:chExt cx="10611" cy="3122"/>
          </a:xfrm>
        </p:grpSpPr>
        <p:grpSp>
          <p:nvGrpSpPr>
            <p:cNvPr id="55" name="组合 54"/>
            <p:cNvGrpSpPr/>
            <p:nvPr/>
          </p:nvGrpSpPr>
          <p:grpSpPr>
            <a:xfrm>
              <a:off x="7042" y="4045"/>
              <a:ext cx="3607" cy="3062"/>
              <a:chOff x="7042" y="4045"/>
              <a:chExt cx="3607" cy="3062"/>
            </a:xfrm>
          </p:grpSpPr>
          <p:grpSp>
            <p:nvGrpSpPr>
              <p:cNvPr id="37" name="组合 36"/>
              <p:cNvGrpSpPr/>
              <p:nvPr/>
            </p:nvGrpSpPr>
            <p:grpSpPr>
              <a:xfrm>
                <a:off x="7155" y="4270"/>
                <a:ext cx="510" cy="2259"/>
                <a:chOff x="3590" y="4443"/>
                <a:chExt cx="510" cy="2259"/>
              </a:xfrm>
            </p:grpSpPr>
            <p:sp>
              <p:nvSpPr>
                <p:cNvPr id="38" name="文本框 37"/>
                <p:cNvSpPr txBox="1"/>
                <p:nvPr/>
              </p:nvSpPr>
              <p:spPr>
                <a:xfrm>
                  <a:off x="3590" y="4443"/>
                  <a:ext cx="510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0.84</a:t>
                  </a:r>
                </a:p>
              </p:txBody>
            </p:sp>
            <p:sp>
              <p:nvSpPr>
                <p:cNvPr id="39" name="文本框 38"/>
                <p:cNvSpPr txBox="1"/>
                <p:nvPr/>
              </p:nvSpPr>
              <p:spPr>
                <a:xfrm>
                  <a:off x="3590" y="4797"/>
                  <a:ext cx="510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0.83</a:t>
                  </a:r>
                </a:p>
              </p:txBody>
            </p:sp>
            <p:sp>
              <p:nvSpPr>
                <p:cNvPr id="40" name="文本框 39"/>
                <p:cNvSpPr txBox="1"/>
                <p:nvPr/>
              </p:nvSpPr>
              <p:spPr>
                <a:xfrm>
                  <a:off x="3590" y="5131"/>
                  <a:ext cx="510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0.82</a:t>
                  </a:r>
                </a:p>
              </p:txBody>
            </p:sp>
            <p:sp>
              <p:nvSpPr>
                <p:cNvPr id="41" name="文本框 40"/>
                <p:cNvSpPr txBox="1"/>
                <p:nvPr/>
              </p:nvSpPr>
              <p:spPr>
                <a:xfrm>
                  <a:off x="3590" y="6193"/>
                  <a:ext cx="510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0.79</a:t>
                  </a:r>
                </a:p>
              </p:txBody>
            </p:sp>
            <p:sp>
              <p:nvSpPr>
                <p:cNvPr id="42" name="文本框 41"/>
                <p:cNvSpPr txBox="1"/>
                <p:nvPr/>
              </p:nvSpPr>
              <p:spPr>
                <a:xfrm>
                  <a:off x="3590" y="5485"/>
                  <a:ext cx="510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0.81</a:t>
                  </a:r>
                </a:p>
              </p:txBody>
            </p:sp>
            <p:sp>
              <p:nvSpPr>
                <p:cNvPr id="43" name="文本框 42"/>
                <p:cNvSpPr txBox="1"/>
                <p:nvPr/>
              </p:nvSpPr>
              <p:spPr>
                <a:xfrm>
                  <a:off x="3590" y="5839"/>
                  <a:ext cx="510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0.80</a:t>
                  </a:r>
                </a:p>
              </p:txBody>
            </p:sp>
            <p:sp>
              <p:nvSpPr>
                <p:cNvPr id="44" name="文本框 43"/>
                <p:cNvSpPr txBox="1"/>
                <p:nvPr/>
              </p:nvSpPr>
              <p:spPr>
                <a:xfrm>
                  <a:off x="3590" y="6557"/>
                  <a:ext cx="510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0.78</a:t>
                  </a:r>
                </a:p>
              </p:txBody>
            </p:sp>
          </p:grpSp>
          <p:grpSp>
            <p:nvGrpSpPr>
              <p:cNvPr id="8" name="组合 7"/>
              <p:cNvGrpSpPr/>
              <p:nvPr/>
            </p:nvGrpSpPr>
            <p:grpSpPr>
              <a:xfrm>
                <a:off x="7542" y="4188"/>
                <a:ext cx="3107" cy="2608"/>
                <a:chOff x="7542" y="4188"/>
                <a:chExt cx="3107" cy="2608"/>
              </a:xfrm>
            </p:grpSpPr>
            <p:pic>
              <p:nvPicPr>
                <p:cNvPr id="6" name="图片 5"/>
                <p:cNvPicPr>
                  <a:picLocks noChangeAspect="1"/>
                </p:cNvPicPr>
                <p:nvPr/>
              </p:nvPicPr>
              <p:blipFill>
                <a:blip r:embed="rId4"/>
                <a:srcRect t="4153"/>
                <a:stretch>
                  <a:fillRect/>
                </a:stretch>
              </p:blipFill>
              <p:spPr>
                <a:xfrm>
                  <a:off x="7542" y="4188"/>
                  <a:ext cx="3106" cy="2608"/>
                </a:xfrm>
                <a:prstGeom prst="rect">
                  <a:avLst/>
                </a:prstGeom>
              </p:spPr>
            </p:pic>
            <p:sp>
              <p:nvSpPr>
                <p:cNvPr id="7" name="矩形 6"/>
                <p:cNvSpPr/>
                <p:nvPr/>
              </p:nvSpPr>
              <p:spPr>
                <a:xfrm>
                  <a:off x="10425" y="4750"/>
                  <a:ext cx="224" cy="2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10" name="文本框 9"/>
              <p:cNvSpPr txBox="1"/>
              <p:nvPr/>
            </p:nvSpPr>
            <p:spPr>
              <a:xfrm>
                <a:off x="8210" y="4045"/>
                <a:ext cx="1677" cy="14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Participation Coefficientns</a:t>
                </a:r>
              </a:p>
              <a:p>
                <a:pPr algn="ctr"/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ns</a:t>
                </a:r>
              </a:p>
            </p:txBody>
          </p:sp>
          <p:sp>
            <p:nvSpPr>
              <p:cNvPr id="14" name="文本框 13"/>
              <p:cNvSpPr txBox="1"/>
              <p:nvPr/>
            </p:nvSpPr>
            <p:spPr>
              <a:xfrm rot="16200000">
                <a:off x="6289" y="5333"/>
                <a:ext cx="1752" cy="24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Participation Coefficientns</a:t>
                </a: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7794" y="6824"/>
                <a:ext cx="1052" cy="28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</a:t>
                </a:r>
              </a:p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Efficency</a:t>
                </a:r>
              </a:p>
            </p:txBody>
          </p:sp>
          <p:sp>
            <p:nvSpPr>
              <p:cNvPr id="18" name="文本框 17"/>
              <p:cNvSpPr txBox="1"/>
              <p:nvPr/>
            </p:nvSpPr>
            <p:spPr>
              <a:xfrm>
                <a:off x="9425" y="6824"/>
                <a:ext cx="792" cy="28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</a:t>
                </a:r>
              </a:p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Efficency</a:t>
                </a:r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38" y="4025"/>
              <a:ext cx="3600" cy="3085"/>
              <a:chOff x="38" y="4009"/>
              <a:chExt cx="3600" cy="3085"/>
            </a:xfrm>
          </p:grpSpPr>
          <p:pic>
            <p:nvPicPr>
              <p:cNvPr id="4" name="图片 3"/>
              <p:cNvPicPr>
                <a:picLocks noChangeAspect="1"/>
              </p:cNvPicPr>
              <p:nvPr/>
            </p:nvPicPr>
            <p:blipFill>
              <a:blip r:embed="rId5"/>
              <a:srcRect l="478" t="5025"/>
              <a:stretch>
                <a:fillRect/>
              </a:stretch>
            </p:blipFill>
            <p:spPr>
              <a:xfrm>
                <a:off x="512" y="4188"/>
                <a:ext cx="3126" cy="2608"/>
              </a:xfrm>
              <a:prstGeom prst="rect">
                <a:avLst/>
              </a:prstGeom>
            </p:spPr>
          </p:pic>
          <p:sp>
            <p:nvSpPr>
              <p:cNvPr id="280" name="文本框 279"/>
              <p:cNvSpPr txBox="1"/>
              <p:nvPr/>
            </p:nvSpPr>
            <p:spPr>
              <a:xfrm>
                <a:off x="1222" y="4009"/>
                <a:ext cx="1677" cy="14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Modularity Index(Q)</a:t>
                </a: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 rot="16200000">
                <a:off x="-728" y="5406"/>
                <a:ext cx="1677" cy="14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Modularity Index(Q)</a:t>
                </a: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754" y="6808"/>
                <a:ext cx="1052" cy="28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</a:t>
                </a:r>
              </a:p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Efficency</a:t>
                </a:r>
              </a:p>
            </p:txBody>
          </p:sp>
          <p:sp>
            <p:nvSpPr>
              <p:cNvPr id="25" name="文本框 24"/>
              <p:cNvSpPr txBox="1"/>
              <p:nvPr/>
            </p:nvSpPr>
            <p:spPr>
              <a:xfrm>
                <a:off x="2395" y="6811"/>
                <a:ext cx="792" cy="28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</a:t>
                </a:r>
              </a:p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Efficency</a:t>
                </a:r>
              </a:p>
            </p:txBody>
          </p:sp>
          <p:grpSp>
            <p:nvGrpSpPr>
              <p:cNvPr id="23" name="组合 22"/>
              <p:cNvGrpSpPr/>
              <p:nvPr/>
            </p:nvGrpSpPr>
            <p:grpSpPr>
              <a:xfrm>
                <a:off x="80" y="4413"/>
                <a:ext cx="566" cy="2144"/>
                <a:chOff x="80" y="4413"/>
                <a:chExt cx="566" cy="2144"/>
              </a:xfrm>
            </p:grpSpPr>
            <p:sp>
              <p:nvSpPr>
                <p:cNvPr id="29" name="文本框 28"/>
                <p:cNvSpPr txBox="1"/>
                <p:nvPr/>
              </p:nvSpPr>
              <p:spPr>
                <a:xfrm>
                  <a:off x="80" y="4413"/>
                  <a:ext cx="567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0.095</a:t>
                  </a:r>
                </a:p>
              </p:txBody>
            </p:sp>
            <p:sp>
              <p:nvSpPr>
                <p:cNvPr id="19" name="文本框 18"/>
                <p:cNvSpPr txBox="1"/>
                <p:nvPr/>
              </p:nvSpPr>
              <p:spPr>
                <a:xfrm>
                  <a:off x="80" y="4913"/>
                  <a:ext cx="567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0.090</a:t>
                  </a:r>
                </a:p>
              </p:txBody>
            </p:sp>
            <p:sp>
              <p:nvSpPr>
                <p:cNvPr id="20" name="文本框 19"/>
                <p:cNvSpPr txBox="1"/>
                <p:nvPr/>
              </p:nvSpPr>
              <p:spPr>
                <a:xfrm>
                  <a:off x="80" y="5413"/>
                  <a:ext cx="567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0.085</a:t>
                  </a:r>
                </a:p>
              </p:txBody>
            </p:sp>
            <p:sp>
              <p:nvSpPr>
                <p:cNvPr id="21" name="文本框 20"/>
                <p:cNvSpPr txBox="1"/>
                <p:nvPr/>
              </p:nvSpPr>
              <p:spPr>
                <a:xfrm>
                  <a:off x="80" y="5913"/>
                  <a:ext cx="567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0.080</a:t>
                  </a:r>
                </a:p>
              </p:txBody>
            </p:sp>
            <p:sp>
              <p:nvSpPr>
                <p:cNvPr id="22" name="文本框 21"/>
                <p:cNvSpPr txBox="1"/>
                <p:nvPr/>
              </p:nvSpPr>
              <p:spPr>
                <a:xfrm>
                  <a:off x="80" y="6413"/>
                  <a:ext cx="567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0.075</a:t>
                  </a:r>
                </a:p>
              </p:txBody>
            </p:sp>
          </p:grpSp>
          <p:sp>
            <p:nvSpPr>
              <p:cNvPr id="50" name="文本框 49"/>
              <p:cNvSpPr txBox="1"/>
              <p:nvPr/>
            </p:nvSpPr>
            <p:spPr>
              <a:xfrm>
                <a:off x="183" y="4022"/>
                <a:ext cx="702" cy="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>
              <a:off x="3449" y="3988"/>
              <a:ext cx="4054" cy="3119"/>
              <a:chOff x="3389" y="3988"/>
              <a:chExt cx="4054" cy="3119"/>
            </a:xfrm>
          </p:grpSpPr>
          <p:grpSp>
            <p:nvGrpSpPr>
              <p:cNvPr id="36" name="组合 35"/>
              <p:cNvGrpSpPr/>
              <p:nvPr/>
            </p:nvGrpSpPr>
            <p:grpSpPr>
              <a:xfrm>
                <a:off x="3590" y="4423"/>
                <a:ext cx="510" cy="2408"/>
                <a:chOff x="3590" y="4423"/>
                <a:chExt cx="510" cy="2408"/>
              </a:xfrm>
            </p:grpSpPr>
            <p:sp>
              <p:nvSpPr>
                <p:cNvPr id="28" name="文本框 27"/>
                <p:cNvSpPr txBox="1"/>
                <p:nvPr/>
              </p:nvSpPr>
              <p:spPr>
                <a:xfrm>
                  <a:off x="3590" y="4423"/>
                  <a:ext cx="510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0.31</a:t>
                  </a:r>
                </a:p>
              </p:txBody>
            </p:sp>
            <p:sp>
              <p:nvSpPr>
                <p:cNvPr id="30" name="文本框 29"/>
                <p:cNvSpPr txBox="1"/>
                <p:nvPr/>
              </p:nvSpPr>
              <p:spPr>
                <a:xfrm>
                  <a:off x="3590" y="4797"/>
                  <a:ext cx="510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0.30</a:t>
                  </a:r>
                </a:p>
              </p:txBody>
            </p:sp>
            <p:sp>
              <p:nvSpPr>
                <p:cNvPr id="31" name="文本框 30"/>
                <p:cNvSpPr txBox="1"/>
                <p:nvPr/>
              </p:nvSpPr>
              <p:spPr>
                <a:xfrm>
                  <a:off x="3590" y="5171"/>
                  <a:ext cx="510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0.29</a:t>
                  </a:r>
                </a:p>
              </p:txBody>
            </p:sp>
            <p:sp>
              <p:nvSpPr>
                <p:cNvPr id="32" name="文本框 31"/>
                <p:cNvSpPr txBox="1"/>
                <p:nvPr/>
              </p:nvSpPr>
              <p:spPr>
                <a:xfrm>
                  <a:off x="3590" y="6313"/>
                  <a:ext cx="510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0.26</a:t>
                  </a:r>
                </a:p>
              </p:txBody>
            </p:sp>
            <p:sp>
              <p:nvSpPr>
                <p:cNvPr id="33" name="文本框 32"/>
                <p:cNvSpPr txBox="1"/>
                <p:nvPr/>
              </p:nvSpPr>
              <p:spPr>
                <a:xfrm>
                  <a:off x="3590" y="5565"/>
                  <a:ext cx="510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0.28</a:t>
                  </a:r>
                </a:p>
              </p:txBody>
            </p:sp>
            <p:sp>
              <p:nvSpPr>
                <p:cNvPr id="34" name="文本框 33"/>
                <p:cNvSpPr txBox="1"/>
                <p:nvPr/>
              </p:nvSpPr>
              <p:spPr>
                <a:xfrm>
                  <a:off x="3590" y="5939"/>
                  <a:ext cx="510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0.27</a:t>
                  </a:r>
                </a:p>
              </p:txBody>
            </p:sp>
            <p:sp>
              <p:nvSpPr>
                <p:cNvPr id="35" name="文本框 34"/>
                <p:cNvSpPr txBox="1"/>
                <p:nvPr/>
              </p:nvSpPr>
              <p:spPr>
                <a:xfrm>
                  <a:off x="3590" y="6687"/>
                  <a:ext cx="510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0.25</a:t>
                  </a:r>
                </a:p>
              </p:txBody>
            </p:sp>
          </p:grpSp>
          <p:pic>
            <p:nvPicPr>
              <p:cNvPr id="5" name="图片 4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55" y="4188"/>
                <a:ext cx="3056" cy="2608"/>
              </a:xfrm>
              <a:prstGeom prst="rect">
                <a:avLst/>
              </a:prstGeom>
            </p:spPr>
          </p:pic>
          <p:sp>
            <p:nvSpPr>
              <p:cNvPr id="9" name="文本框 8"/>
              <p:cNvSpPr txBox="1"/>
              <p:nvPr/>
            </p:nvSpPr>
            <p:spPr>
              <a:xfrm>
                <a:off x="4644" y="4045"/>
                <a:ext cx="1677" cy="14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Network Segregation</a:t>
                </a:r>
              </a:p>
              <a:p>
                <a:pPr algn="ctr"/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ns</a:t>
                </a:r>
              </a:p>
            </p:txBody>
          </p:sp>
          <p:sp>
            <p:nvSpPr>
              <p:cNvPr id="13" name="文本框 12"/>
              <p:cNvSpPr txBox="1"/>
              <p:nvPr/>
            </p:nvSpPr>
            <p:spPr>
              <a:xfrm rot="16200000">
                <a:off x="2724" y="5321"/>
                <a:ext cx="1677" cy="34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Network Segregation</a:t>
                </a:r>
              </a:p>
            </p:txBody>
          </p:sp>
          <p:sp>
            <p:nvSpPr>
              <p:cNvPr id="15" name="文本框 14"/>
              <p:cNvSpPr txBox="1"/>
              <p:nvPr/>
            </p:nvSpPr>
            <p:spPr>
              <a:xfrm>
                <a:off x="4214" y="6824"/>
                <a:ext cx="1052" cy="28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</a:t>
                </a:r>
              </a:p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Efficency</a:t>
                </a: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5855" y="6824"/>
                <a:ext cx="792" cy="28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</a:t>
                </a:r>
              </a:p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Efficency</a:t>
                </a:r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6158" y="3988"/>
                <a:ext cx="1285" cy="314"/>
                <a:chOff x="6496" y="3891"/>
                <a:chExt cx="1285" cy="314"/>
              </a:xfrm>
            </p:grpSpPr>
            <p:pic>
              <p:nvPicPr>
                <p:cNvPr id="46" name="图片 45"/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 rot="10800000" flipH="1" flipV="1">
                  <a:off x="6496" y="3906"/>
                  <a:ext cx="336" cy="277"/>
                </a:xfrm>
                <a:prstGeom prst="rect">
                  <a:avLst/>
                </a:prstGeom>
              </p:spPr>
            </p:pic>
            <p:sp>
              <p:nvSpPr>
                <p:cNvPr id="47" name="文本框 46"/>
                <p:cNvSpPr txBox="1"/>
                <p:nvPr/>
              </p:nvSpPr>
              <p:spPr>
                <a:xfrm>
                  <a:off x="6696" y="3891"/>
                  <a:ext cx="1077" cy="17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l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High Efficency</a:t>
                  </a:r>
                </a:p>
              </p:txBody>
            </p:sp>
            <p:sp>
              <p:nvSpPr>
                <p:cNvPr id="48" name="文本框 47"/>
                <p:cNvSpPr txBox="1"/>
                <p:nvPr/>
              </p:nvSpPr>
              <p:spPr>
                <a:xfrm>
                  <a:off x="6704" y="4035"/>
                  <a:ext cx="1077" cy="17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l"/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Low Efficency</a:t>
                  </a:r>
                </a:p>
              </p:txBody>
            </p:sp>
          </p:grpSp>
        </p:grpSp>
      </p:grpSp>
      <p:grpSp>
        <p:nvGrpSpPr>
          <p:cNvPr id="111" name="组合 110"/>
          <p:cNvGrpSpPr/>
          <p:nvPr/>
        </p:nvGrpSpPr>
        <p:grpSpPr>
          <a:xfrm>
            <a:off x="2259965" y="4287839"/>
            <a:ext cx="2004060" cy="2042795"/>
            <a:chOff x="3579" y="6750"/>
            <a:chExt cx="3156" cy="3217"/>
          </a:xfrm>
        </p:grpSpPr>
        <p:grpSp>
          <p:nvGrpSpPr>
            <p:cNvPr id="109" name="组合 108"/>
            <p:cNvGrpSpPr/>
            <p:nvPr/>
          </p:nvGrpSpPr>
          <p:grpSpPr>
            <a:xfrm>
              <a:off x="3579" y="7198"/>
              <a:ext cx="454" cy="2370"/>
              <a:chOff x="3579" y="7198"/>
              <a:chExt cx="454" cy="2370"/>
            </a:xfrm>
          </p:grpSpPr>
          <p:sp>
            <p:nvSpPr>
              <p:cNvPr id="216" name="文本框 215"/>
              <p:cNvSpPr txBox="1"/>
              <p:nvPr/>
            </p:nvSpPr>
            <p:spPr>
              <a:xfrm>
                <a:off x="3579" y="7198"/>
                <a:ext cx="454" cy="12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1.0</a:t>
                </a:r>
              </a:p>
            </p:txBody>
          </p:sp>
          <p:sp>
            <p:nvSpPr>
              <p:cNvPr id="219" name="文本框 218"/>
              <p:cNvSpPr txBox="1"/>
              <p:nvPr/>
            </p:nvSpPr>
            <p:spPr>
              <a:xfrm>
                <a:off x="3579" y="7648"/>
                <a:ext cx="454" cy="12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0.8</a:t>
                </a:r>
              </a:p>
            </p:txBody>
          </p:sp>
          <p:sp>
            <p:nvSpPr>
              <p:cNvPr id="220" name="文本框 219"/>
              <p:cNvSpPr txBox="1"/>
              <p:nvPr/>
            </p:nvSpPr>
            <p:spPr>
              <a:xfrm>
                <a:off x="3579" y="8098"/>
                <a:ext cx="454" cy="12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0.6</a:t>
                </a:r>
              </a:p>
            </p:txBody>
          </p:sp>
          <p:sp>
            <p:nvSpPr>
              <p:cNvPr id="221" name="文本框 220"/>
              <p:cNvSpPr txBox="1"/>
              <p:nvPr/>
            </p:nvSpPr>
            <p:spPr>
              <a:xfrm>
                <a:off x="3579" y="8548"/>
                <a:ext cx="454" cy="12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0.4</a:t>
                </a:r>
              </a:p>
            </p:txBody>
          </p:sp>
          <p:sp>
            <p:nvSpPr>
              <p:cNvPr id="222" name="文本框 221"/>
              <p:cNvSpPr txBox="1"/>
              <p:nvPr/>
            </p:nvSpPr>
            <p:spPr>
              <a:xfrm>
                <a:off x="3579" y="8998"/>
                <a:ext cx="454" cy="12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</a:t>
                </a:r>
              </a:p>
            </p:txBody>
          </p:sp>
          <p:sp>
            <p:nvSpPr>
              <p:cNvPr id="223" name="文本框 222"/>
              <p:cNvSpPr txBox="1"/>
              <p:nvPr/>
            </p:nvSpPr>
            <p:spPr>
              <a:xfrm>
                <a:off x="3579" y="9448"/>
                <a:ext cx="454" cy="12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0.0</a:t>
                </a:r>
              </a:p>
            </p:txBody>
          </p:sp>
        </p:grpSp>
        <p:grpSp>
          <p:nvGrpSpPr>
            <p:cNvPr id="277" name="组合 276"/>
            <p:cNvGrpSpPr/>
            <p:nvPr/>
          </p:nvGrpSpPr>
          <p:grpSpPr>
            <a:xfrm>
              <a:off x="3920" y="6923"/>
              <a:ext cx="2778" cy="2654"/>
              <a:chOff x="3968" y="6890"/>
              <a:chExt cx="2598" cy="2655"/>
            </a:xfrm>
          </p:grpSpPr>
          <p:pic>
            <p:nvPicPr>
              <p:cNvPr id="186" name="图片 185"/>
              <p:cNvPicPr>
                <a:picLocks noChangeAspect="1"/>
              </p:cNvPicPr>
              <p:nvPr/>
            </p:nvPicPr>
            <p:blipFill>
              <a:blip r:embed="rId8"/>
              <a:srcRect l="661" t="2301"/>
              <a:stretch>
                <a:fillRect/>
              </a:stretch>
            </p:blipFill>
            <p:spPr>
              <a:xfrm>
                <a:off x="3968" y="6890"/>
                <a:ext cx="2598" cy="2655"/>
              </a:xfrm>
              <a:prstGeom prst="rect">
                <a:avLst/>
              </a:prstGeom>
            </p:spPr>
          </p:pic>
          <p:sp>
            <p:nvSpPr>
              <p:cNvPr id="188" name="矩形 187"/>
              <p:cNvSpPr/>
              <p:nvPr/>
            </p:nvSpPr>
            <p:spPr>
              <a:xfrm>
                <a:off x="4055" y="7075"/>
                <a:ext cx="2386" cy="1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97" name="组合 396"/>
            <p:cNvGrpSpPr/>
            <p:nvPr/>
          </p:nvGrpSpPr>
          <p:grpSpPr>
            <a:xfrm>
              <a:off x="3885" y="7114"/>
              <a:ext cx="2749" cy="120"/>
              <a:chOff x="4056" y="7088"/>
              <a:chExt cx="2548" cy="112"/>
            </a:xfrm>
          </p:grpSpPr>
          <p:sp>
            <p:nvSpPr>
              <p:cNvPr id="189" name="文本框 188"/>
              <p:cNvSpPr txBox="1"/>
              <p:nvPr/>
            </p:nvSpPr>
            <p:spPr>
              <a:xfrm>
                <a:off x="4056" y="7088"/>
                <a:ext cx="397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3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0.25</a:t>
                </a:r>
              </a:p>
            </p:txBody>
          </p:sp>
          <p:sp>
            <p:nvSpPr>
              <p:cNvPr id="190" name="文本框 189"/>
              <p:cNvSpPr txBox="1"/>
              <p:nvPr/>
            </p:nvSpPr>
            <p:spPr>
              <a:xfrm>
                <a:off x="4175" y="7088"/>
                <a:ext cx="397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3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0.25</a:t>
                </a:r>
              </a:p>
            </p:txBody>
          </p:sp>
          <p:sp>
            <p:nvSpPr>
              <p:cNvPr id="191" name="文本框 190"/>
              <p:cNvSpPr txBox="1"/>
              <p:nvPr/>
            </p:nvSpPr>
            <p:spPr>
              <a:xfrm>
                <a:off x="4284" y="7088"/>
                <a:ext cx="397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3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0.24</a:t>
                </a:r>
              </a:p>
            </p:txBody>
          </p:sp>
          <p:sp>
            <p:nvSpPr>
              <p:cNvPr id="192" name="文本框 191"/>
              <p:cNvSpPr txBox="1"/>
              <p:nvPr/>
            </p:nvSpPr>
            <p:spPr>
              <a:xfrm>
                <a:off x="4401" y="7088"/>
                <a:ext cx="397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3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0.25</a:t>
                </a:r>
              </a:p>
            </p:txBody>
          </p:sp>
          <p:sp>
            <p:nvSpPr>
              <p:cNvPr id="193" name="文本框 192"/>
              <p:cNvSpPr txBox="1"/>
              <p:nvPr/>
            </p:nvSpPr>
            <p:spPr>
              <a:xfrm>
                <a:off x="4513" y="7088"/>
                <a:ext cx="397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3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0.25</a:t>
                </a:r>
              </a:p>
            </p:txBody>
          </p:sp>
          <p:sp>
            <p:nvSpPr>
              <p:cNvPr id="194" name="文本框 193"/>
              <p:cNvSpPr txBox="1"/>
              <p:nvPr/>
            </p:nvSpPr>
            <p:spPr>
              <a:xfrm>
                <a:off x="4622" y="7088"/>
                <a:ext cx="397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3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0.24</a:t>
                </a:r>
              </a:p>
            </p:txBody>
          </p:sp>
          <p:sp>
            <p:nvSpPr>
              <p:cNvPr id="195" name="文本框 194"/>
              <p:cNvSpPr txBox="1"/>
              <p:nvPr/>
            </p:nvSpPr>
            <p:spPr>
              <a:xfrm>
                <a:off x="4731" y="7088"/>
                <a:ext cx="397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3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0.24</a:t>
                </a:r>
              </a:p>
            </p:txBody>
          </p:sp>
          <p:sp>
            <p:nvSpPr>
              <p:cNvPr id="196" name="文本框 195"/>
              <p:cNvSpPr txBox="1"/>
              <p:nvPr/>
            </p:nvSpPr>
            <p:spPr>
              <a:xfrm>
                <a:off x="4852" y="7088"/>
                <a:ext cx="397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3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0.24</a:t>
                </a:r>
              </a:p>
            </p:txBody>
          </p:sp>
          <p:sp>
            <p:nvSpPr>
              <p:cNvPr id="197" name="文本框 196"/>
              <p:cNvSpPr txBox="1"/>
              <p:nvPr/>
            </p:nvSpPr>
            <p:spPr>
              <a:xfrm>
                <a:off x="4960" y="7088"/>
                <a:ext cx="397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3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0.25</a:t>
                </a:r>
              </a:p>
            </p:txBody>
          </p:sp>
          <p:sp>
            <p:nvSpPr>
              <p:cNvPr id="198" name="文本框 197"/>
              <p:cNvSpPr txBox="1"/>
              <p:nvPr/>
            </p:nvSpPr>
            <p:spPr>
              <a:xfrm>
                <a:off x="5072" y="7088"/>
                <a:ext cx="397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3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0.24</a:t>
                </a:r>
              </a:p>
            </p:txBody>
          </p:sp>
          <p:sp>
            <p:nvSpPr>
              <p:cNvPr id="199" name="文本框 198"/>
              <p:cNvSpPr txBox="1"/>
              <p:nvPr/>
            </p:nvSpPr>
            <p:spPr>
              <a:xfrm>
                <a:off x="5182" y="7088"/>
                <a:ext cx="397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3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0.25</a:t>
                </a:r>
              </a:p>
            </p:txBody>
          </p:sp>
          <p:sp>
            <p:nvSpPr>
              <p:cNvPr id="200" name="文本框 199"/>
              <p:cNvSpPr txBox="1"/>
              <p:nvPr/>
            </p:nvSpPr>
            <p:spPr>
              <a:xfrm>
                <a:off x="5299" y="7088"/>
                <a:ext cx="397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3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0.25</a:t>
                </a:r>
              </a:p>
            </p:txBody>
          </p:sp>
          <p:sp>
            <p:nvSpPr>
              <p:cNvPr id="201" name="文本框 200"/>
              <p:cNvSpPr txBox="1"/>
              <p:nvPr/>
            </p:nvSpPr>
            <p:spPr>
              <a:xfrm>
                <a:off x="5412" y="7088"/>
                <a:ext cx="397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3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0.24</a:t>
                </a:r>
              </a:p>
            </p:txBody>
          </p:sp>
          <p:sp>
            <p:nvSpPr>
              <p:cNvPr id="202" name="文本框 201"/>
              <p:cNvSpPr txBox="1"/>
              <p:nvPr/>
            </p:nvSpPr>
            <p:spPr>
              <a:xfrm>
                <a:off x="5520" y="7088"/>
                <a:ext cx="397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3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0.25</a:t>
                </a:r>
              </a:p>
            </p:txBody>
          </p:sp>
          <p:sp>
            <p:nvSpPr>
              <p:cNvPr id="203" name="文本框 202"/>
              <p:cNvSpPr txBox="1"/>
              <p:nvPr/>
            </p:nvSpPr>
            <p:spPr>
              <a:xfrm>
                <a:off x="5632" y="7088"/>
                <a:ext cx="397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3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0.25</a:t>
                </a:r>
              </a:p>
            </p:txBody>
          </p:sp>
          <p:sp>
            <p:nvSpPr>
              <p:cNvPr id="204" name="文本框 203"/>
              <p:cNvSpPr txBox="1"/>
              <p:nvPr/>
            </p:nvSpPr>
            <p:spPr>
              <a:xfrm>
                <a:off x="5746" y="7088"/>
                <a:ext cx="397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3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0.25</a:t>
                </a:r>
              </a:p>
            </p:txBody>
          </p:sp>
          <p:sp>
            <p:nvSpPr>
              <p:cNvPr id="205" name="文本框 204"/>
              <p:cNvSpPr txBox="1"/>
              <p:nvPr/>
            </p:nvSpPr>
            <p:spPr>
              <a:xfrm>
                <a:off x="5867" y="7088"/>
                <a:ext cx="397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3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0.25</a:t>
                </a:r>
              </a:p>
            </p:txBody>
          </p:sp>
          <p:sp>
            <p:nvSpPr>
              <p:cNvPr id="206" name="文本框 205"/>
              <p:cNvSpPr txBox="1"/>
              <p:nvPr/>
            </p:nvSpPr>
            <p:spPr>
              <a:xfrm>
                <a:off x="6208" y="7088"/>
                <a:ext cx="397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3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0.25</a:t>
                </a:r>
              </a:p>
            </p:txBody>
          </p:sp>
          <p:sp>
            <p:nvSpPr>
              <p:cNvPr id="207" name="文本框 206"/>
              <p:cNvSpPr txBox="1"/>
              <p:nvPr/>
            </p:nvSpPr>
            <p:spPr>
              <a:xfrm>
                <a:off x="6083" y="7088"/>
                <a:ext cx="397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3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0.25</a:t>
                </a:r>
              </a:p>
            </p:txBody>
          </p:sp>
          <p:sp>
            <p:nvSpPr>
              <p:cNvPr id="208" name="文本框 207"/>
              <p:cNvSpPr txBox="1"/>
              <p:nvPr/>
            </p:nvSpPr>
            <p:spPr>
              <a:xfrm>
                <a:off x="5975" y="7088"/>
                <a:ext cx="397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3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0.24</a:t>
                </a:r>
              </a:p>
            </p:txBody>
          </p:sp>
        </p:grpSp>
        <p:grpSp>
          <p:nvGrpSpPr>
            <p:cNvPr id="108" name="组合 107"/>
            <p:cNvGrpSpPr/>
            <p:nvPr/>
          </p:nvGrpSpPr>
          <p:grpSpPr>
            <a:xfrm>
              <a:off x="3756" y="9569"/>
              <a:ext cx="2979" cy="194"/>
              <a:chOff x="3804" y="9513"/>
              <a:chExt cx="2979" cy="194"/>
            </a:xfrm>
          </p:grpSpPr>
          <p:sp>
            <p:nvSpPr>
              <p:cNvPr id="225" name="文本框 224"/>
              <p:cNvSpPr txBox="1"/>
              <p:nvPr/>
            </p:nvSpPr>
            <p:spPr>
              <a:xfrm rot="18900000">
                <a:off x="3804" y="9513"/>
                <a:ext cx="567" cy="17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E0</a:t>
                </a:r>
              </a:p>
            </p:txBody>
          </p:sp>
          <p:sp>
            <p:nvSpPr>
              <p:cNvPr id="226" name="文本框 225"/>
              <p:cNvSpPr txBox="1"/>
              <p:nvPr/>
            </p:nvSpPr>
            <p:spPr>
              <a:xfrm rot="18900000">
                <a:off x="3932" y="9531"/>
                <a:ext cx="567" cy="17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E14</a:t>
                </a:r>
              </a:p>
            </p:txBody>
          </p:sp>
          <p:sp>
            <p:nvSpPr>
              <p:cNvPr id="227" name="文本框 226"/>
              <p:cNvSpPr txBox="1"/>
              <p:nvPr/>
            </p:nvSpPr>
            <p:spPr>
              <a:xfrm rot="18900000">
                <a:off x="4060" y="9536"/>
                <a:ext cx="567" cy="17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E44</a:t>
                </a:r>
              </a:p>
            </p:txBody>
          </p:sp>
          <p:sp>
            <p:nvSpPr>
              <p:cNvPr id="228" name="文本框 227"/>
              <p:cNvSpPr txBox="1"/>
              <p:nvPr/>
            </p:nvSpPr>
            <p:spPr>
              <a:xfrm rot="18900000">
                <a:off x="4188" y="9531"/>
                <a:ext cx="567" cy="17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E38</a:t>
                </a:r>
              </a:p>
            </p:txBody>
          </p:sp>
          <p:sp>
            <p:nvSpPr>
              <p:cNvPr id="229" name="文本框 228"/>
              <p:cNvSpPr txBox="1"/>
              <p:nvPr/>
            </p:nvSpPr>
            <p:spPr>
              <a:xfrm rot="18900000">
                <a:off x="4316" y="9527"/>
                <a:ext cx="567" cy="17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E19</a:t>
                </a:r>
              </a:p>
            </p:txBody>
          </p:sp>
          <p:sp>
            <p:nvSpPr>
              <p:cNvPr id="230" name="文本框 229"/>
              <p:cNvSpPr txBox="1"/>
              <p:nvPr/>
            </p:nvSpPr>
            <p:spPr>
              <a:xfrm rot="18900000">
                <a:off x="4444" y="9526"/>
                <a:ext cx="567" cy="17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E40</a:t>
                </a:r>
              </a:p>
            </p:txBody>
          </p:sp>
          <p:sp>
            <p:nvSpPr>
              <p:cNvPr id="233" name="文本框 232"/>
              <p:cNvSpPr txBox="1"/>
              <p:nvPr/>
            </p:nvSpPr>
            <p:spPr>
              <a:xfrm rot="18900000">
                <a:off x="4572" y="9513"/>
                <a:ext cx="567" cy="17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E21</a:t>
                </a:r>
              </a:p>
            </p:txBody>
          </p:sp>
          <p:sp>
            <p:nvSpPr>
              <p:cNvPr id="234" name="文本框 233"/>
              <p:cNvSpPr txBox="1"/>
              <p:nvPr/>
            </p:nvSpPr>
            <p:spPr>
              <a:xfrm rot="18900000">
                <a:off x="4700" y="9527"/>
                <a:ext cx="567" cy="17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E20</a:t>
                </a:r>
              </a:p>
            </p:txBody>
          </p:sp>
          <p:sp>
            <p:nvSpPr>
              <p:cNvPr id="235" name="文本框 234"/>
              <p:cNvSpPr txBox="1"/>
              <p:nvPr/>
            </p:nvSpPr>
            <p:spPr>
              <a:xfrm rot="18900000">
                <a:off x="4828" y="9531"/>
                <a:ext cx="567" cy="17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E32</a:t>
                </a:r>
              </a:p>
            </p:txBody>
          </p:sp>
          <p:sp>
            <p:nvSpPr>
              <p:cNvPr id="236" name="文本框 235"/>
              <p:cNvSpPr txBox="1"/>
              <p:nvPr/>
            </p:nvSpPr>
            <p:spPr>
              <a:xfrm rot="18900000">
                <a:off x="4981" y="9535"/>
                <a:ext cx="567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E3</a:t>
                </a:r>
              </a:p>
            </p:txBody>
          </p:sp>
          <p:sp>
            <p:nvSpPr>
              <p:cNvPr id="237" name="文本框 236"/>
              <p:cNvSpPr txBox="1"/>
              <p:nvPr/>
            </p:nvSpPr>
            <p:spPr>
              <a:xfrm rot="18900000">
                <a:off x="5084" y="9537"/>
                <a:ext cx="567" cy="17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E17</a:t>
                </a:r>
              </a:p>
            </p:txBody>
          </p:sp>
          <p:sp>
            <p:nvSpPr>
              <p:cNvPr id="238" name="文本框 237"/>
              <p:cNvSpPr txBox="1"/>
              <p:nvPr/>
            </p:nvSpPr>
            <p:spPr>
              <a:xfrm rot="18900000">
                <a:off x="5212" y="9527"/>
                <a:ext cx="567" cy="17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E29</a:t>
                </a:r>
              </a:p>
            </p:txBody>
          </p:sp>
          <p:sp>
            <p:nvSpPr>
              <p:cNvPr id="239" name="文本框 238"/>
              <p:cNvSpPr txBox="1"/>
              <p:nvPr/>
            </p:nvSpPr>
            <p:spPr>
              <a:xfrm rot="18900000">
                <a:off x="5340" y="9519"/>
                <a:ext cx="567" cy="17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E11</a:t>
                </a:r>
              </a:p>
            </p:txBody>
          </p:sp>
          <p:sp>
            <p:nvSpPr>
              <p:cNvPr id="240" name="文本框 239"/>
              <p:cNvSpPr txBox="1"/>
              <p:nvPr/>
            </p:nvSpPr>
            <p:spPr>
              <a:xfrm rot="18900000">
                <a:off x="5468" y="9533"/>
                <a:ext cx="567" cy="17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E36</a:t>
                </a:r>
              </a:p>
            </p:txBody>
          </p:sp>
          <p:sp>
            <p:nvSpPr>
              <p:cNvPr id="241" name="文本框 240"/>
              <p:cNvSpPr txBox="1"/>
              <p:nvPr/>
            </p:nvSpPr>
            <p:spPr>
              <a:xfrm rot="18900000">
                <a:off x="5596" y="9529"/>
                <a:ext cx="567" cy="17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E34</a:t>
                </a:r>
              </a:p>
            </p:txBody>
          </p:sp>
          <p:sp>
            <p:nvSpPr>
              <p:cNvPr id="242" name="文本框 241"/>
              <p:cNvSpPr txBox="1"/>
              <p:nvPr/>
            </p:nvSpPr>
            <p:spPr>
              <a:xfrm rot="18900000">
                <a:off x="5724" y="9535"/>
                <a:ext cx="567" cy="17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E18</a:t>
                </a:r>
              </a:p>
            </p:txBody>
          </p:sp>
          <p:sp>
            <p:nvSpPr>
              <p:cNvPr id="243" name="文本框 242"/>
              <p:cNvSpPr txBox="1"/>
              <p:nvPr/>
            </p:nvSpPr>
            <p:spPr>
              <a:xfrm rot="18900000">
                <a:off x="5852" y="9533"/>
                <a:ext cx="567" cy="17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E49</a:t>
                </a:r>
              </a:p>
            </p:txBody>
          </p:sp>
          <p:sp>
            <p:nvSpPr>
              <p:cNvPr id="244" name="文本框 243"/>
              <p:cNvSpPr txBox="1"/>
              <p:nvPr/>
            </p:nvSpPr>
            <p:spPr>
              <a:xfrm rot="18900000">
                <a:off x="5980" y="9523"/>
                <a:ext cx="567" cy="17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E6</a:t>
                </a:r>
              </a:p>
            </p:txBody>
          </p:sp>
          <p:sp>
            <p:nvSpPr>
              <p:cNvPr id="245" name="文本框 244"/>
              <p:cNvSpPr txBox="1"/>
              <p:nvPr/>
            </p:nvSpPr>
            <p:spPr>
              <a:xfrm rot="18900000">
                <a:off x="6108" y="9535"/>
                <a:ext cx="567" cy="17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E24</a:t>
                </a:r>
              </a:p>
            </p:txBody>
          </p:sp>
          <p:sp>
            <p:nvSpPr>
              <p:cNvPr id="246" name="文本框 245"/>
              <p:cNvSpPr txBox="1"/>
              <p:nvPr/>
            </p:nvSpPr>
            <p:spPr>
              <a:xfrm rot="18900000">
                <a:off x="6260" y="9560"/>
                <a:ext cx="523" cy="12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E35</a:t>
                </a:r>
              </a:p>
            </p:txBody>
          </p:sp>
        </p:grpSp>
        <p:sp>
          <p:nvSpPr>
            <p:cNvPr id="211" name="文本框 210"/>
            <p:cNvSpPr txBox="1"/>
            <p:nvPr/>
          </p:nvSpPr>
          <p:spPr>
            <a:xfrm>
              <a:off x="4331" y="6750"/>
              <a:ext cx="1979" cy="20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Expert Category Specialization</a:t>
              </a:r>
            </a:p>
          </p:txBody>
        </p:sp>
        <p:sp>
          <p:nvSpPr>
            <p:cNvPr id="218" name="文本框 217"/>
            <p:cNvSpPr txBox="1"/>
            <p:nvPr/>
          </p:nvSpPr>
          <p:spPr>
            <a:xfrm>
              <a:off x="4598" y="9762"/>
              <a:ext cx="1187" cy="20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Expert ID(Top 20)</a:t>
              </a:r>
            </a:p>
          </p:txBody>
        </p:sp>
      </p:grpSp>
      <p:sp>
        <p:nvSpPr>
          <p:cNvPr id="51" name="文本框 50"/>
          <p:cNvSpPr txBox="1"/>
          <p:nvPr/>
        </p:nvSpPr>
        <p:spPr>
          <a:xfrm>
            <a:off x="2392311" y="210450"/>
            <a:ext cx="445656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b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grpSp>
        <p:nvGrpSpPr>
          <p:cNvPr id="98" name="组合 97"/>
          <p:cNvGrpSpPr/>
          <p:nvPr/>
        </p:nvGrpSpPr>
        <p:grpSpPr>
          <a:xfrm>
            <a:off x="556895" y="4524693"/>
            <a:ext cx="1332000" cy="35560"/>
            <a:chOff x="956" y="7197"/>
            <a:chExt cx="2020" cy="56"/>
          </a:xfrm>
        </p:grpSpPr>
        <p:sp>
          <p:nvSpPr>
            <p:cNvPr id="90" name="矩形 89"/>
            <p:cNvSpPr/>
            <p:nvPr/>
          </p:nvSpPr>
          <p:spPr>
            <a:xfrm>
              <a:off x="956" y="7197"/>
              <a:ext cx="113" cy="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矩形 90"/>
            <p:cNvSpPr/>
            <p:nvPr/>
          </p:nvSpPr>
          <p:spPr>
            <a:xfrm>
              <a:off x="1229" y="7197"/>
              <a:ext cx="113" cy="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矩形 91"/>
            <p:cNvSpPr/>
            <p:nvPr/>
          </p:nvSpPr>
          <p:spPr>
            <a:xfrm>
              <a:off x="1494" y="7197"/>
              <a:ext cx="113" cy="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矩形 92"/>
            <p:cNvSpPr/>
            <p:nvPr/>
          </p:nvSpPr>
          <p:spPr>
            <a:xfrm>
              <a:off x="1754" y="7197"/>
              <a:ext cx="113" cy="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矩形 93"/>
            <p:cNvSpPr/>
            <p:nvPr/>
          </p:nvSpPr>
          <p:spPr>
            <a:xfrm>
              <a:off x="2042" y="7197"/>
              <a:ext cx="113" cy="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矩形 94"/>
            <p:cNvSpPr/>
            <p:nvPr/>
          </p:nvSpPr>
          <p:spPr>
            <a:xfrm>
              <a:off x="2307" y="7197"/>
              <a:ext cx="113" cy="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矩形 95"/>
            <p:cNvSpPr/>
            <p:nvPr/>
          </p:nvSpPr>
          <p:spPr>
            <a:xfrm>
              <a:off x="2584" y="7197"/>
              <a:ext cx="113" cy="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矩形 96"/>
            <p:cNvSpPr/>
            <p:nvPr/>
          </p:nvSpPr>
          <p:spPr>
            <a:xfrm>
              <a:off x="2864" y="7197"/>
              <a:ext cx="113" cy="5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4" name="文本框 183"/>
          <p:cNvSpPr txBox="1"/>
          <p:nvPr/>
        </p:nvSpPr>
        <p:spPr>
          <a:xfrm>
            <a:off x="2319282" y="2406351"/>
            <a:ext cx="1959108" cy="107922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Activation Frequency</a:t>
            </a:r>
            <a:r>
              <a:rPr lang="zh-CN" altLang="en-US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20</a:t>
            </a:r>
            <a:r>
              <a:rPr lang="zh-CN" altLang="en-US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Gini=0.070</a:t>
            </a:r>
          </a:p>
        </p:txBody>
      </p:sp>
      <p:grpSp>
        <p:nvGrpSpPr>
          <p:cNvPr id="183" name="组合 182"/>
          <p:cNvGrpSpPr/>
          <p:nvPr/>
        </p:nvGrpSpPr>
        <p:grpSpPr>
          <a:xfrm>
            <a:off x="2311026" y="2610769"/>
            <a:ext cx="1901337" cy="1633436"/>
            <a:chOff x="4029" y="4003"/>
            <a:chExt cx="2995" cy="2573"/>
          </a:xfrm>
        </p:grpSpPr>
        <p:pic>
          <p:nvPicPr>
            <p:cNvPr id="162" name="图片 161"/>
            <p:cNvPicPr>
              <a:picLocks noChangeAspect="1"/>
            </p:cNvPicPr>
            <p:nvPr/>
          </p:nvPicPr>
          <p:blipFill>
            <a:blip r:embed="rId9"/>
            <a:srcRect l="10783" t="5690" r="4703" b="5539"/>
            <a:stretch>
              <a:fillRect/>
            </a:stretch>
          </p:blipFill>
          <p:spPr>
            <a:xfrm>
              <a:off x="4373" y="4129"/>
              <a:ext cx="2354" cy="2340"/>
            </a:xfrm>
            <a:prstGeom prst="ellipse">
              <a:avLst/>
            </a:prstGeom>
          </p:spPr>
        </p:pic>
        <p:sp>
          <p:nvSpPr>
            <p:cNvPr id="163" name="文本框 162"/>
            <p:cNvSpPr txBox="1"/>
            <p:nvPr/>
          </p:nvSpPr>
          <p:spPr>
            <a:xfrm>
              <a:off x="6560" y="5223"/>
              <a:ext cx="454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E0</a:t>
              </a:r>
            </a:p>
          </p:txBody>
        </p:sp>
        <p:sp>
          <p:nvSpPr>
            <p:cNvPr id="164" name="文本框 163"/>
            <p:cNvSpPr txBox="1"/>
            <p:nvPr/>
          </p:nvSpPr>
          <p:spPr>
            <a:xfrm>
              <a:off x="6503" y="4862"/>
              <a:ext cx="510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E14</a:t>
              </a:r>
            </a:p>
          </p:txBody>
        </p:sp>
        <p:sp>
          <p:nvSpPr>
            <p:cNvPr id="165" name="文本框 164"/>
            <p:cNvSpPr txBox="1"/>
            <p:nvPr/>
          </p:nvSpPr>
          <p:spPr>
            <a:xfrm>
              <a:off x="6352" y="4542"/>
              <a:ext cx="510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E44</a:t>
              </a:r>
            </a:p>
          </p:txBody>
        </p:sp>
        <p:sp>
          <p:nvSpPr>
            <p:cNvPr id="166" name="文本框 165"/>
            <p:cNvSpPr txBox="1"/>
            <p:nvPr/>
          </p:nvSpPr>
          <p:spPr>
            <a:xfrm>
              <a:off x="6098" y="4273"/>
              <a:ext cx="510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E38</a:t>
              </a:r>
            </a:p>
          </p:txBody>
        </p:sp>
        <p:sp>
          <p:nvSpPr>
            <p:cNvPr id="167" name="文本框 166"/>
            <p:cNvSpPr txBox="1"/>
            <p:nvPr/>
          </p:nvSpPr>
          <p:spPr>
            <a:xfrm>
              <a:off x="5738" y="4069"/>
              <a:ext cx="510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E19</a:t>
              </a:r>
            </a:p>
          </p:txBody>
        </p:sp>
        <p:sp>
          <p:nvSpPr>
            <p:cNvPr id="168" name="文本框 167"/>
            <p:cNvSpPr txBox="1"/>
            <p:nvPr/>
          </p:nvSpPr>
          <p:spPr>
            <a:xfrm>
              <a:off x="5308" y="4003"/>
              <a:ext cx="510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E40</a:t>
              </a:r>
            </a:p>
          </p:txBody>
        </p:sp>
        <p:sp>
          <p:nvSpPr>
            <p:cNvPr id="169" name="文本框 168"/>
            <p:cNvSpPr txBox="1"/>
            <p:nvPr/>
          </p:nvSpPr>
          <p:spPr>
            <a:xfrm>
              <a:off x="6514" y="5575"/>
              <a:ext cx="510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E35</a:t>
              </a:r>
            </a:p>
          </p:txBody>
        </p:sp>
        <p:sp>
          <p:nvSpPr>
            <p:cNvPr id="170" name="文本框 169"/>
            <p:cNvSpPr txBox="1"/>
            <p:nvPr/>
          </p:nvSpPr>
          <p:spPr>
            <a:xfrm>
              <a:off x="6340" y="5935"/>
              <a:ext cx="510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E24</a:t>
              </a:r>
            </a:p>
          </p:txBody>
        </p:sp>
        <p:sp>
          <p:nvSpPr>
            <p:cNvPr id="171" name="文本框 170"/>
            <p:cNvSpPr txBox="1"/>
            <p:nvPr/>
          </p:nvSpPr>
          <p:spPr>
            <a:xfrm>
              <a:off x="6060" y="6191"/>
              <a:ext cx="510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E6</a:t>
              </a:r>
            </a:p>
          </p:txBody>
        </p:sp>
        <p:sp>
          <p:nvSpPr>
            <p:cNvPr id="172" name="文本框 171"/>
            <p:cNvSpPr txBox="1"/>
            <p:nvPr/>
          </p:nvSpPr>
          <p:spPr>
            <a:xfrm>
              <a:off x="5693" y="6388"/>
              <a:ext cx="510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E49</a:t>
              </a:r>
            </a:p>
          </p:txBody>
        </p:sp>
        <p:sp>
          <p:nvSpPr>
            <p:cNvPr id="173" name="文本框 172"/>
            <p:cNvSpPr txBox="1"/>
            <p:nvPr/>
          </p:nvSpPr>
          <p:spPr>
            <a:xfrm>
              <a:off x="5308" y="6456"/>
              <a:ext cx="510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E18</a:t>
              </a:r>
            </a:p>
          </p:txBody>
        </p:sp>
        <p:sp>
          <p:nvSpPr>
            <p:cNvPr id="174" name="文本框 173"/>
            <p:cNvSpPr txBox="1"/>
            <p:nvPr/>
          </p:nvSpPr>
          <p:spPr>
            <a:xfrm>
              <a:off x="4940" y="6394"/>
              <a:ext cx="510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E34</a:t>
              </a:r>
            </a:p>
          </p:txBody>
        </p:sp>
        <p:sp>
          <p:nvSpPr>
            <p:cNvPr id="175" name="文本框 174"/>
            <p:cNvSpPr txBox="1"/>
            <p:nvPr/>
          </p:nvSpPr>
          <p:spPr>
            <a:xfrm>
              <a:off x="4567" y="6232"/>
              <a:ext cx="510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E36</a:t>
              </a:r>
            </a:p>
          </p:txBody>
        </p:sp>
        <p:sp>
          <p:nvSpPr>
            <p:cNvPr id="176" name="文本框 175"/>
            <p:cNvSpPr txBox="1"/>
            <p:nvPr/>
          </p:nvSpPr>
          <p:spPr>
            <a:xfrm>
              <a:off x="4263" y="5923"/>
              <a:ext cx="510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E11</a:t>
              </a:r>
            </a:p>
          </p:txBody>
        </p:sp>
        <p:sp>
          <p:nvSpPr>
            <p:cNvPr id="177" name="文本框 176"/>
            <p:cNvSpPr txBox="1"/>
            <p:nvPr/>
          </p:nvSpPr>
          <p:spPr>
            <a:xfrm>
              <a:off x="4101" y="5575"/>
              <a:ext cx="510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E29</a:t>
              </a:r>
            </a:p>
          </p:txBody>
        </p:sp>
        <p:sp>
          <p:nvSpPr>
            <p:cNvPr id="178" name="文本框 177"/>
            <p:cNvSpPr txBox="1"/>
            <p:nvPr/>
          </p:nvSpPr>
          <p:spPr>
            <a:xfrm>
              <a:off x="4029" y="5223"/>
              <a:ext cx="510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E17</a:t>
              </a:r>
            </a:p>
          </p:txBody>
        </p:sp>
        <p:sp>
          <p:nvSpPr>
            <p:cNvPr id="179" name="文本框 178"/>
            <p:cNvSpPr txBox="1"/>
            <p:nvPr/>
          </p:nvSpPr>
          <p:spPr>
            <a:xfrm>
              <a:off x="4072" y="4862"/>
              <a:ext cx="510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E3</a:t>
              </a:r>
            </a:p>
          </p:txBody>
        </p:sp>
        <p:sp>
          <p:nvSpPr>
            <p:cNvPr id="180" name="文本框 179"/>
            <p:cNvSpPr txBox="1"/>
            <p:nvPr/>
          </p:nvSpPr>
          <p:spPr>
            <a:xfrm>
              <a:off x="4245" y="4542"/>
              <a:ext cx="510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E32</a:t>
              </a:r>
            </a:p>
          </p:txBody>
        </p:sp>
        <p:sp>
          <p:nvSpPr>
            <p:cNvPr id="181" name="文本框 180"/>
            <p:cNvSpPr txBox="1"/>
            <p:nvPr/>
          </p:nvSpPr>
          <p:spPr>
            <a:xfrm>
              <a:off x="4539" y="4231"/>
              <a:ext cx="510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E20</a:t>
              </a:r>
            </a:p>
          </p:txBody>
        </p:sp>
        <p:sp>
          <p:nvSpPr>
            <p:cNvPr id="182" name="文本框 181"/>
            <p:cNvSpPr txBox="1"/>
            <p:nvPr/>
          </p:nvSpPr>
          <p:spPr>
            <a:xfrm>
              <a:off x="4870" y="4074"/>
              <a:ext cx="510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E21</a:t>
              </a:r>
            </a:p>
          </p:txBody>
        </p:sp>
      </p:grpSp>
      <p:grpSp>
        <p:nvGrpSpPr>
          <p:cNvPr id="214" name="组合 213"/>
          <p:cNvGrpSpPr/>
          <p:nvPr/>
        </p:nvGrpSpPr>
        <p:grpSpPr>
          <a:xfrm>
            <a:off x="3755248" y="2598709"/>
            <a:ext cx="735141" cy="78720"/>
            <a:chOff x="6454" y="4116"/>
            <a:chExt cx="1158" cy="124"/>
          </a:xfrm>
        </p:grpSpPr>
        <p:pic>
          <p:nvPicPr>
            <p:cNvPr id="212" name="图片 211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454" y="4116"/>
              <a:ext cx="188" cy="124"/>
            </a:xfrm>
            <a:prstGeom prst="rect">
              <a:avLst/>
            </a:prstGeom>
          </p:spPr>
        </p:pic>
        <p:sp>
          <p:nvSpPr>
            <p:cNvPr id="213" name="文本框 212"/>
            <p:cNvSpPr txBox="1"/>
            <p:nvPr/>
          </p:nvSpPr>
          <p:spPr>
            <a:xfrm>
              <a:off x="6535" y="4119"/>
              <a:ext cx="1077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Uniform(0.0167)</a:t>
              </a:r>
            </a:p>
          </p:txBody>
        </p:sp>
      </p:grpSp>
      <p:grpSp>
        <p:nvGrpSpPr>
          <p:cNvPr id="285" name="组合 284"/>
          <p:cNvGrpSpPr/>
          <p:nvPr/>
        </p:nvGrpSpPr>
        <p:grpSpPr>
          <a:xfrm>
            <a:off x="5869913" y="2598709"/>
            <a:ext cx="735141" cy="78720"/>
            <a:chOff x="9471" y="3979"/>
            <a:chExt cx="1158" cy="124"/>
          </a:xfrm>
        </p:grpSpPr>
        <p:pic>
          <p:nvPicPr>
            <p:cNvPr id="283" name="图片 282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471" y="3979"/>
              <a:ext cx="188" cy="124"/>
            </a:xfrm>
            <a:prstGeom prst="rect">
              <a:avLst/>
            </a:prstGeom>
          </p:spPr>
        </p:pic>
        <p:sp>
          <p:nvSpPr>
            <p:cNvPr id="284" name="文本框 283"/>
            <p:cNvSpPr txBox="1"/>
            <p:nvPr/>
          </p:nvSpPr>
          <p:spPr>
            <a:xfrm>
              <a:off x="9552" y="3982"/>
              <a:ext cx="1077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Uniform(0.0156)</a:t>
              </a:r>
            </a:p>
          </p:txBody>
        </p:sp>
      </p:grpSp>
      <p:sp>
        <p:nvSpPr>
          <p:cNvPr id="286" name="文本框 285"/>
          <p:cNvSpPr txBox="1"/>
          <p:nvPr/>
        </p:nvSpPr>
        <p:spPr>
          <a:xfrm>
            <a:off x="4492311" y="2406351"/>
            <a:ext cx="1959108" cy="107922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Activation Frequency</a:t>
            </a:r>
            <a:r>
              <a:rPr lang="zh-CN" altLang="en-US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20</a:t>
            </a:r>
            <a:r>
              <a:rPr lang="zh-CN" altLang="en-US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  <a:r>
              <a:rPr lang="en-US" altLang="zh-CN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Gini=0.215</a:t>
            </a:r>
          </a:p>
        </p:txBody>
      </p:sp>
      <p:grpSp>
        <p:nvGrpSpPr>
          <p:cNvPr id="309" name="组合 308"/>
          <p:cNvGrpSpPr/>
          <p:nvPr/>
        </p:nvGrpSpPr>
        <p:grpSpPr>
          <a:xfrm>
            <a:off x="4425004" y="2612673"/>
            <a:ext cx="1904662" cy="1615026"/>
            <a:chOff x="7312" y="4123"/>
            <a:chExt cx="3000" cy="2544"/>
          </a:xfrm>
        </p:grpSpPr>
        <p:pic>
          <p:nvPicPr>
            <p:cNvPr id="282" name="图片 281"/>
            <p:cNvPicPr>
              <a:picLocks noChangeAspect="1"/>
            </p:cNvPicPr>
            <p:nvPr/>
          </p:nvPicPr>
          <p:blipFill>
            <a:blip r:embed="rId11"/>
            <a:srcRect l="6505" t="3893" r="4866"/>
            <a:stretch>
              <a:fillRect/>
            </a:stretch>
          </p:blipFill>
          <p:spPr>
            <a:xfrm>
              <a:off x="7636" y="4194"/>
              <a:ext cx="2427" cy="2345"/>
            </a:xfrm>
            <a:prstGeom prst="ellipse">
              <a:avLst/>
            </a:prstGeom>
          </p:spPr>
        </p:pic>
        <p:sp>
          <p:nvSpPr>
            <p:cNvPr id="287" name="文本框 286"/>
            <p:cNvSpPr txBox="1"/>
            <p:nvPr/>
          </p:nvSpPr>
          <p:spPr>
            <a:xfrm>
              <a:off x="9348" y="4324"/>
              <a:ext cx="454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E0</a:t>
              </a:r>
            </a:p>
          </p:txBody>
        </p:sp>
        <p:sp>
          <p:nvSpPr>
            <p:cNvPr id="288" name="文本框 287"/>
            <p:cNvSpPr txBox="1"/>
            <p:nvPr/>
          </p:nvSpPr>
          <p:spPr>
            <a:xfrm>
              <a:off x="9646" y="4633"/>
              <a:ext cx="454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E2</a:t>
              </a:r>
            </a:p>
          </p:txBody>
        </p:sp>
        <p:sp>
          <p:nvSpPr>
            <p:cNvPr id="289" name="文本框 288"/>
            <p:cNvSpPr txBox="1"/>
            <p:nvPr/>
          </p:nvSpPr>
          <p:spPr>
            <a:xfrm>
              <a:off x="9790" y="4953"/>
              <a:ext cx="454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</a:t>
              </a:r>
            </a:p>
          </p:txBody>
        </p:sp>
        <p:sp>
          <p:nvSpPr>
            <p:cNvPr id="290" name="文本框 289"/>
            <p:cNvSpPr txBox="1"/>
            <p:nvPr/>
          </p:nvSpPr>
          <p:spPr>
            <a:xfrm>
              <a:off x="9858" y="5330"/>
              <a:ext cx="454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E3</a:t>
              </a:r>
            </a:p>
          </p:txBody>
        </p:sp>
        <p:sp>
          <p:nvSpPr>
            <p:cNvPr id="291" name="文本框 290"/>
            <p:cNvSpPr txBox="1"/>
            <p:nvPr/>
          </p:nvSpPr>
          <p:spPr>
            <a:xfrm>
              <a:off x="9802" y="5649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E42</a:t>
              </a:r>
            </a:p>
          </p:txBody>
        </p:sp>
        <p:sp>
          <p:nvSpPr>
            <p:cNvPr id="292" name="文本框 291"/>
            <p:cNvSpPr txBox="1"/>
            <p:nvPr/>
          </p:nvSpPr>
          <p:spPr>
            <a:xfrm>
              <a:off x="9646" y="6010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E17</a:t>
              </a:r>
            </a:p>
          </p:txBody>
        </p:sp>
        <p:sp>
          <p:nvSpPr>
            <p:cNvPr id="295" name="文本框 294"/>
            <p:cNvSpPr txBox="1"/>
            <p:nvPr/>
          </p:nvSpPr>
          <p:spPr>
            <a:xfrm>
              <a:off x="9380" y="6281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E55</a:t>
              </a:r>
            </a:p>
          </p:txBody>
        </p:sp>
        <p:sp>
          <p:nvSpPr>
            <p:cNvPr id="296" name="文本框 295"/>
            <p:cNvSpPr txBox="1"/>
            <p:nvPr/>
          </p:nvSpPr>
          <p:spPr>
            <a:xfrm>
              <a:off x="8985" y="6482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E10</a:t>
              </a:r>
            </a:p>
          </p:txBody>
        </p:sp>
        <p:sp>
          <p:nvSpPr>
            <p:cNvPr id="297" name="文本框 296"/>
            <p:cNvSpPr txBox="1"/>
            <p:nvPr/>
          </p:nvSpPr>
          <p:spPr>
            <a:xfrm>
              <a:off x="8594" y="6554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E24</a:t>
              </a:r>
            </a:p>
          </p:txBody>
        </p:sp>
        <p:sp>
          <p:nvSpPr>
            <p:cNvPr id="298" name="文本框 297"/>
            <p:cNvSpPr txBox="1"/>
            <p:nvPr/>
          </p:nvSpPr>
          <p:spPr>
            <a:xfrm>
              <a:off x="8195" y="6492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E35</a:t>
              </a:r>
            </a:p>
          </p:txBody>
        </p:sp>
        <p:sp>
          <p:nvSpPr>
            <p:cNvPr id="299" name="文本框 298"/>
            <p:cNvSpPr txBox="1"/>
            <p:nvPr/>
          </p:nvSpPr>
          <p:spPr>
            <a:xfrm>
              <a:off x="7814" y="6306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E29</a:t>
              </a:r>
            </a:p>
          </p:txBody>
        </p:sp>
        <p:sp>
          <p:nvSpPr>
            <p:cNvPr id="300" name="文本框 299"/>
            <p:cNvSpPr txBox="1"/>
            <p:nvPr/>
          </p:nvSpPr>
          <p:spPr>
            <a:xfrm>
              <a:off x="7558" y="6049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E9</a:t>
              </a:r>
            </a:p>
          </p:txBody>
        </p:sp>
        <p:sp>
          <p:nvSpPr>
            <p:cNvPr id="301" name="文本框 300"/>
            <p:cNvSpPr txBox="1"/>
            <p:nvPr/>
          </p:nvSpPr>
          <p:spPr>
            <a:xfrm>
              <a:off x="7395" y="5689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E63</a:t>
              </a:r>
            </a:p>
          </p:txBody>
        </p:sp>
        <p:sp>
          <p:nvSpPr>
            <p:cNvPr id="302" name="文本框 301"/>
            <p:cNvSpPr txBox="1"/>
            <p:nvPr/>
          </p:nvSpPr>
          <p:spPr>
            <a:xfrm>
              <a:off x="7312" y="5330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E58</a:t>
              </a:r>
            </a:p>
          </p:txBody>
        </p:sp>
        <p:sp>
          <p:nvSpPr>
            <p:cNvPr id="303" name="文本框 302"/>
            <p:cNvSpPr txBox="1"/>
            <p:nvPr/>
          </p:nvSpPr>
          <p:spPr>
            <a:xfrm>
              <a:off x="7371" y="4976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E20</a:t>
              </a:r>
            </a:p>
          </p:txBody>
        </p:sp>
        <p:sp>
          <p:nvSpPr>
            <p:cNvPr id="304" name="文本框 303"/>
            <p:cNvSpPr txBox="1"/>
            <p:nvPr/>
          </p:nvSpPr>
          <p:spPr>
            <a:xfrm>
              <a:off x="7538" y="4633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E59</a:t>
              </a:r>
            </a:p>
          </p:txBody>
        </p:sp>
        <p:sp>
          <p:nvSpPr>
            <p:cNvPr id="305" name="文本框 304"/>
            <p:cNvSpPr txBox="1"/>
            <p:nvPr/>
          </p:nvSpPr>
          <p:spPr>
            <a:xfrm>
              <a:off x="7794" y="4372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E52</a:t>
              </a:r>
            </a:p>
          </p:txBody>
        </p:sp>
        <p:sp>
          <p:nvSpPr>
            <p:cNvPr id="306" name="文本框 305"/>
            <p:cNvSpPr txBox="1"/>
            <p:nvPr/>
          </p:nvSpPr>
          <p:spPr>
            <a:xfrm>
              <a:off x="8166" y="4164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E40</a:t>
              </a:r>
            </a:p>
          </p:txBody>
        </p:sp>
        <p:sp>
          <p:nvSpPr>
            <p:cNvPr id="307" name="文本框 306"/>
            <p:cNvSpPr txBox="1"/>
            <p:nvPr/>
          </p:nvSpPr>
          <p:spPr>
            <a:xfrm>
              <a:off x="8594" y="4123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E4</a:t>
              </a:r>
            </a:p>
          </p:txBody>
        </p:sp>
        <p:sp>
          <p:nvSpPr>
            <p:cNvPr id="308" name="文本框 307"/>
            <p:cNvSpPr txBox="1"/>
            <p:nvPr/>
          </p:nvSpPr>
          <p:spPr>
            <a:xfrm>
              <a:off x="8961" y="4157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E5</a:t>
              </a:r>
            </a:p>
          </p:txBody>
        </p:sp>
      </p:grpSp>
      <p:sp>
        <p:nvSpPr>
          <p:cNvPr id="132" name="文本框 131"/>
          <p:cNvSpPr txBox="1"/>
          <p:nvPr/>
        </p:nvSpPr>
        <p:spPr>
          <a:xfrm>
            <a:off x="317684" y="4261346"/>
            <a:ext cx="252030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b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424963" y="2406351"/>
            <a:ext cx="1576936" cy="107922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Activation Frequency  Gini=0.244</a:t>
            </a:r>
          </a:p>
        </p:txBody>
      </p:sp>
      <p:grpSp>
        <p:nvGrpSpPr>
          <p:cNvPr id="441" name="组合 440"/>
          <p:cNvGrpSpPr/>
          <p:nvPr/>
        </p:nvGrpSpPr>
        <p:grpSpPr>
          <a:xfrm>
            <a:off x="237049" y="2575854"/>
            <a:ext cx="1940697" cy="1685493"/>
            <a:chOff x="313" y="4055"/>
            <a:chExt cx="3057" cy="2655"/>
          </a:xfrm>
        </p:grpSpPr>
        <p:pic>
          <p:nvPicPr>
            <p:cNvPr id="62" name="图片 61"/>
            <p:cNvPicPr>
              <a:picLocks noChangeAspect="1"/>
            </p:cNvPicPr>
            <p:nvPr/>
          </p:nvPicPr>
          <p:blipFill>
            <a:blip r:embed="rId12"/>
            <a:srcRect l="6460" t="4632" r="7095" b="6912"/>
            <a:stretch>
              <a:fillRect/>
            </a:stretch>
          </p:blipFill>
          <p:spPr>
            <a:xfrm>
              <a:off x="629" y="4143"/>
              <a:ext cx="2459" cy="2416"/>
            </a:xfrm>
            <a:prstGeom prst="ellipse">
              <a:avLst/>
            </a:prstGeom>
          </p:spPr>
        </p:pic>
        <p:sp>
          <p:nvSpPr>
            <p:cNvPr id="68" name="文本框 67"/>
            <p:cNvSpPr txBox="1"/>
            <p:nvPr/>
          </p:nvSpPr>
          <p:spPr>
            <a:xfrm>
              <a:off x="2541" y="4437"/>
              <a:ext cx="454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</a:t>
              </a:r>
            </a:p>
          </p:txBody>
        </p:sp>
        <p:sp>
          <p:nvSpPr>
            <p:cNvPr id="69" name="文本框 68"/>
            <p:cNvSpPr txBox="1"/>
            <p:nvPr/>
          </p:nvSpPr>
          <p:spPr>
            <a:xfrm>
              <a:off x="2922" y="5330"/>
              <a:ext cx="448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E0</a:t>
              </a:r>
            </a:p>
          </p:txBody>
        </p:sp>
        <p:sp>
          <p:nvSpPr>
            <p:cNvPr id="71" name="文本框 70"/>
            <p:cNvSpPr txBox="1"/>
            <p:nvPr/>
          </p:nvSpPr>
          <p:spPr>
            <a:xfrm>
              <a:off x="1613" y="4055"/>
              <a:ext cx="468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E2</a:t>
              </a: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694" y="4437"/>
              <a:ext cx="468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E3</a:t>
              </a:r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313" y="5337"/>
              <a:ext cx="468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E4</a:t>
              </a: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692" y="6226"/>
              <a:ext cx="468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E5</a:t>
              </a:r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1620" y="6597"/>
              <a:ext cx="468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E6</a:t>
              </a:r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2536" y="6226"/>
              <a:ext cx="468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E7</a:t>
              </a:r>
            </a:p>
          </p:txBody>
        </p:sp>
      </p:grpSp>
      <p:sp>
        <p:nvSpPr>
          <p:cNvPr id="131" name="文本框 130"/>
          <p:cNvSpPr txBox="1"/>
          <p:nvPr/>
        </p:nvSpPr>
        <p:spPr>
          <a:xfrm>
            <a:off x="334194" y="2368580"/>
            <a:ext cx="252030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b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434" name="文本框 433"/>
          <p:cNvSpPr txBox="1"/>
          <p:nvPr/>
        </p:nvSpPr>
        <p:spPr>
          <a:xfrm>
            <a:off x="2259627" y="4261346"/>
            <a:ext cx="252030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b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435" name="文本框 434"/>
          <p:cNvSpPr txBox="1"/>
          <p:nvPr/>
        </p:nvSpPr>
        <p:spPr>
          <a:xfrm>
            <a:off x="2259627" y="2368580"/>
            <a:ext cx="252030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b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354" name="文本框 353"/>
          <p:cNvSpPr txBox="1"/>
          <p:nvPr/>
        </p:nvSpPr>
        <p:spPr>
          <a:xfrm>
            <a:off x="5042536" y="6187124"/>
            <a:ext cx="782955" cy="13017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ID(Top 20)</a:t>
            </a:r>
          </a:p>
        </p:txBody>
      </p:sp>
      <p:grpSp>
        <p:nvGrpSpPr>
          <p:cNvPr id="113" name="组合 112"/>
          <p:cNvGrpSpPr/>
          <p:nvPr/>
        </p:nvGrpSpPr>
        <p:grpSpPr>
          <a:xfrm>
            <a:off x="4356736" y="4279135"/>
            <a:ext cx="1986885" cy="1887078"/>
            <a:chOff x="6861" y="6780"/>
            <a:chExt cx="3129" cy="2909"/>
          </a:xfrm>
        </p:grpSpPr>
        <p:grpSp>
          <p:nvGrpSpPr>
            <p:cNvPr id="400" name="组合 399"/>
            <p:cNvGrpSpPr/>
            <p:nvPr/>
          </p:nvGrpSpPr>
          <p:grpSpPr>
            <a:xfrm>
              <a:off x="7212" y="6923"/>
              <a:ext cx="2778" cy="2628"/>
              <a:chOff x="7648" y="6822"/>
              <a:chExt cx="2564" cy="2629"/>
            </a:xfrm>
          </p:grpSpPr>
          <p:pic>
            <p:nvPicPr>
              <p:cNvPr id="310" name="图片 309"/>
              <p:cNvPicPr>
                <a:picLocks noChangeAspect="1"/>
              </p:cNvPicPr>
              <p:nvPr/>
            </p:nvPicPr>
            <p:blipFill>
              <a:blip r:embed="rId13"/>
              <a:srcRect l="496" t="1499"/>
              <a:stretch>
                <a:fillRect/>
              </a:stretch>
            </p:blipFill>
            <p:spPr>
              <a:xfrm>
                <a:off x="7648" y="6822"/>
                <a:ext cx="2564" cy="2629"/>
              </a:xfrm>
              <a:prstGeom prst="rect">
                <a:avLst/>
              </a:prstGeom>
            </p:spPr>
          </p:pic>
          <p:sp>
            <p:nvSpPr>
              <p:cNvPr id="398" name="矩形 397"/>
              <p:cNvSpPr/>
              <p:nvPr/>
            </p:nvSpPr>
            <p:spPr>
              <a:xfrm>
                <a:off x="7765" y="7014"/>
                <a:ext cx="2297" cy="1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325" name="组合 324"/>
            <p:cNvGrpSpPr/>
            <p:nvPr/>
          </p:nvGrpSpPr>
          <p:grpSpPr>
            <a:xfrm>
              <a:off x="6861" y="7220"/>
              <a:ext cx="478" cy="2337"/>
              <a:chOff x="3657" y="7109"/>
              <a:chExt cx="460" cy="2338"/>
            </a:xfrm>
          </p:grpSpPr>
          <p:sp>
            <p:nvSpPr>
              <p:cNvPr id="326" name="文本框 325"/>
              <p:cNvSpPr txBox="1"/>
              <p:nvPr/>
            </p:nvSpPr>
            <p:spPr>
              <a:xfrm>
                <a:off x="3663" y="7109"/>
                <a:ext cx="454" cy="12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1.0</a:t>
                </a:r>
              </a:p>
            </p:txBody>
          </p:sp>
          <p:sp>
            <p:nvSpPr>
              <p:cNvPr id="327" name="文本框 326"/>
              <p:cNvSpPr txBox="1"/>
              <p:nvPr/>
            </p:nvSpPr>
            <p:spPr>
              <a:xfrm>
                <a:off x="3657" y="7556"/>
                <a:ext cx="454" cy="12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0.8</a:t>
                </a:r>
              </a:p>
            </p:txBody>
          </p:sp>
          <p:sp>
            <p:nvSpPr>
              <p:cNvPr id="328" name="文本框 327"/>
              <p:cNvSpPr txBox="1"/>
              <p:nvPr/>
            </p:nvSpPr>
            <p:spPr>
              <a:xfrm>
                <a:off x="3657" y="8016"/>
                <a:ext cx="454" cy="12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0.6</a:t>
                </a:r>
              </a:p>
            </p:txBody>
          </p:sp>
          <p:sp>
            <p:nvSpPr>
              <p:cNvPr id="329" name="文本框 328"/>
              <p:cNvSpPr txBox="1"/>
              <p:nvPr/>
            </p:nvSpPr>
            <p:spPr>
              <a:xfrm>
                <a:off x="3660" y="8453"/>
                <a:ext cx="454" cy="12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0.4</a:t>
                </a:r>
              </a:p>
            </p:txBody>
          </p:sp>
          <p:sp>
            <p:nvSpPr>
              <p:cNvPr id="330" name="文本框 329"/>
              <p:cNvSpPr txBox="1"/>
              <p:nvPr/>
            </p:nvSpPr>
            <p:spPr>
              <a:xfrm>
                <a:off x="3657" y="8903"/>
                <a:ext cx="454" cy="12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</a:t>
                </a:r>
              </a:p>
            </p:txBody>
          </p:sp>
          <p:sp>
            <p:nvSpPr>
              <p:cNvPr id="331" name="文本框 330"/>
              <p:cNvSpPr txBox="1"/>
              <p:nvPr/>
            </p:nvSpPr>
            <p:spPr>
              <a:xfrm>
                <a:off x="3657" y="9327"/>
                <a:ext cx="454" cy="12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0.0</a:t>
                </a:r>
              </a:p>
            </p:txBody>
          </p:sp>
        </p:grpSp>
        <p:grpSp>
          <p:nvGrpSpPr>
            <p:cNvPr id="58" name="组合 57"/>
            <p:cNvGrpSpPr/>
            <p:nvPr/>
          </p:nvGrpSpPr>
          <p:grpSpPr>
            <a:xfrm>
              <a:off x="7093" y="9577"/>
              <a:ext cx="2890" cy="112"/>
              <a:chOff x="7469" y="9469"/>
              <a:chExt cx="2890" cy="112"/>
            </a:xfrm>
          </p:grpSpPr>
          <p:sp>
            <p:nvSpPr>
              <p:cNvPr id="334" name="文本框 333"/>
              <p:cNvSpPr txBox="1"/>
              <p:nvPr/>
            </p:nvSpPr>
            <p:spPr>
              <a:xfrm rot="18900000">
                <a:off x="7469" y="9469"/>
                <a:ext cx="501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E3</a:t>
                </a:r>
              </a:p>
            </p:txBody>
          </p:sp>
          <p:sp>
            <p:nvSpPr>
              <p:cNvPr id="335" name="文本框 334"/>
              <p:cNvSpPr txBox="1"/>
              <p:nvPr/>
            </p:nvSpPr>
            <p:spPr>
              <a:xfrm rot="18900000">
                <a:off x="7595" y="9469"/>
                <a:ext cx="501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E1</a:t>
                </a:r>
              </a:p>
            </p:txBody>
          </p:sp>
          <p:sp>
            <p:nvSpPr>
              <p:cNvPr id="336" name="文本框 335"/>
              <p:cNvSpPr txBox="1"/>
              <p:nvPr/>
            </p:nvSpPr>
            <p:spPr>
              <a:xfrm rot="18900000">
                <a:off x="7721" y="9469"/>
                <a:ext cx="501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E2</a:t>
                </a:r>
              </a:p>
            </p:txBody>
          </p:sp>
          <p:sp>
            <p:nvSpPr>
              <p:cNvPr id="337" name="文本框 336"/>
              <p:cNvSpPr txBox="1"/>
              <p:nvPr/>
            </p:nvSpPr>
            <p:spPr>
              <a:xfrm rot="18900000">
                <a:off x="7846" y="9469"/>
                <a:ext cx="501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E0</a:t>
                </a:r>
              </a:p>
            </p:txBody>
          </p:sp>
          <p:sp>
            <p:nvSpPr>
              <p:cNvPr id="338" name="文本框 337"/>
              <p:cNvSpPr txBox="1"/>
              <p:nvPr/>
            </p:nvSpPr>
            <p:spPr>
              <a:xfrm rot="18900000">
                <a:off x="7972" y="9469"/>
                <a:ext cx="501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E5</a:t>
                </a:r>
              </a:p>
            </p:txBody>
          </p:sp>
          <p:sp>
            <p:nvSpPr>
              <p:cNvPr id="339" name="文本框 338"/>
              <p:cNvSpPr txBox="1"/>
              <p:nvPr/>
            </p:nvSpPr>
            <p:spPr>
              <a:xfrm rot="18900000">
                <a:off x="8098" y="9469"/>
                <a:ext cx="501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E4</a:t>
                </a:r>
              </a:p>
            </p:txBody>
          </p:sp>
          <p:sp>
            <p:nvSpPr>
              <p:cNvPr id="340" name="文本框 339"/>
              <p:cNvSpPr txBox="1"/>
              <p:nvPr/>
            </p:nvSpPr>
            <p:spPr>
              <a:xfrm rot="18900000">
                <a:off x="8224" y="9469"/>
                <a:ext cx="501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E40</a:t>
                </a:r>
              </a:p>
            </p:txBody>
          </p:sp>
          <p:sp>
            <p:nvSpPr>
              <p:cNvPr id="341" name="文本框 340"/>
              <p:cNvSpPr txBox="1"/>
              <p:nvPr/>
            </p:nvSpPr>
            <p:spPr>
              <a:xfrm rot="18900000">
                <a:off x="8350" y="9469"/>
                <a:ext cx="501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E52</a:t>
                </a:r>
              </a:p>
            </p:txBody>
          </p:sp>
          <p:sp>
            <p:nvSpPr>
              <p:cNvPr id="342" name="文本框 341"/>
              <p:cNvSpPr txBox="1"/>
              <p:nvPr/>
            </p:nvSpPr>
            <p:spPr>
              <a:xfrm rot="18900000">
                <a:off x="8475" y="9469"/>
                <a:ext cx="501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E59</a:t>
                </a:r>
              </a:p>
            </p:txBody>
          </p:sp>
          <p:sp>
            <p:nvSpPr>
              <p:cNvPr id="343" name="文本框 342"/>
              <p:cNvSpPr txBox="1"/>
              <p:nvPr/>
            </p:nvSpPr>
            <p:spPr>
              <a:xfrm rot="18900000">
                <a:off x="8601" y="9469"/>
                <a:ext cx="501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E20</a:t>
                </a:r>
              </a:p>
            </p:txBody>
          </p:sp>
          <p:sp>
            <p:nvSpPr>
              <p:cNvPr id="344" name="文本框 343"/>
              <p:cNvSpPr txBox="1"/>
              <p:nvPr/>
            </p:nvSpPr>
            <p:spPr>
              <a:xfrm rot="18900000">
                <a:off x="8727" y="9469"/>
                <a:ext cx="501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E58</a:t>
                </a:r>
              </a:p>
            </p:txBody>
          </p:sp>
          <p:sp>
            <p:nvSpPr>
              <p:cNvPr id="345" name="文本框 344"/>
              <p:cNvSpPr txBox="1"/>
              <p:nvPr/>
            </p:nvSpPr>
            <p:spPr>
              <a:xfrm rot="18900000">
                <a:off x="8853" y="9469"/>
                <a:ext cx="501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E63</a:t>
                </a:r>
              </a:p>
            </p:txBody>
          </p:sp>
          <p:sp>
            <p:nvSpPr>
              <p:cNvPr id="346" name="文本框 345"/>
              <p:cNvSpPr txBox="1"/>
              <p:nvPr/>
            </p:nvSpPr>
            <p:spPr>
              <a:xfrm rot="18900000">
                <a:off x="8979" y="9469"/>
                <a:ext cx="501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E9</a:t>
                </a:r>
              </a:p>
            </p:txBody>
          </p:sp>
          <p:sp>
            <p:nvSpPr>
              <p:cNvPr id="347" name="文本框 346"/>
              <p:cNvSpPr txBox="1"/>
              <p:nvPr/>
            </p:nvSpPr>
            <p:spPr>
              <a:xfrm rot="18900000">
                <a:off x="9104" y="9469"/>
                <a:ext cx="501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E29</a:t>
                </a:r>
              </a:p>
            </p:txBody>
          </p:sp>
          <p:sp>
            <p:nvSpPr>
              <p:cNvPr id="348" name="文本框 347"/>
              <p:cNvSpPr txBox="1"/>
              <p:nvPr/>
            </p:nvSpPr>
            <p:spPr>
              <a:xfrm rot="18900000">
                <a:off x="9230" y="9469"/>
                <a:ext cx="501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E35</a:t>
                </a:r>
              </a:p>
            </p:txBody>
          </p:sp>
          <p:sp>
            <p:nvSpPr>
              <p:cNvPr id="349" name="文本框 348"/>
              <p:cNvSpPr txBox="1"/>
              <p:nvPr/>
            </p:nvSpPr>
            <p:spPr>
              <a:xfrm rot="18900000">
                <a:off x="9356" y="9469"/>
                <a:ext cx="501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E24</a:t>
                </a:r>
              </a:p>
            </p:txBody>
          </p:sp>
          <p:sp>
            <p:nvSpPr>
              <p:cNvPr id="350" name="文本框 349"/>
              <p:cNvSpPr txBox="1"/>
              <p:nvPr/>
            </p:nvSpPr>
            <p:spPr>
              <a:xfrm rot="18900000">
                <a:off x="9482" y="9469"/>
                <a:ext cx="501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E10</a:t>
                </a:r>
              </a:p>
            </p:txBody>
          </p:sp>
          <p:sp>
            <p:nvSpPr>
              <p:cNvPr id="351" name="文本框 350"/>
              <p:cNvSpPr txBox="1"/>
              <p:nvPr/>
            </p:nvSpPr>
            <p:spPr>
              <a:xfrm rot="18900000">
                <a:off x="9608" y="9469"/>
                <a:ext cx="501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E55</a:t>
                </a:r>
              </a:p>
            </p:txBody>
          </p:sp>
          <p:sp>
            <p:nvSpPr>
              <p:cNvPr id="352" name="文本框 351"/>
              <p:cNvSpPr txBox="1"/>
              <p:nvPr/>
            </p:nvSpPr>
            <p:spPr>
              <a:xfrm rot="18900000">
                <a:off x="9734" y="9469"/>
                <a:ext cx="501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E17</a:t>
                </a:r>
              </a:p>
            </p:txBody>
          </p:sp>
          <p:sp>
            <p:nvSpPr>
              <p:cNvPr id="353" name="文本框 352"/>
              <p:cNvSpPr txBox="1"/>
              <p:nvPr/>
            </p:nvSpPr>
            <p:spPr>
              <a:xfrm rot="18900000">
                <a:off x="9859" y="9469"/>
                <a:ext cx="501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E42</a:t>
                </a:r>
              </a:p>
            </p:txBody>
          </p:sp>
        </p:grpSp>
        <p:grpSp>
          <p:nvGrpSpPr>
            <p:cNvPr id="427" name="组合 426"/>
            <p:cNvGrpSpPr/>
            <p:nvPr/>
          </p:nvGrpSpPr>
          <p:grpSpPr>
            <a:xfrm>
              <a:off x="7194" y="7151"/>
              <a:ext cx="2775" cy="120"/>
              <a:chOff x="7612" y="7079"/>
              <a:chExt cx="2575" cy="115"/>
            </a:xfrm>
          </p:grpSpPr>
          <p:grpSp>
            <p:nvGrpSpPr>
              <p:cNvPr id="426" name="组合 425"/>
              <p:cNvGrpSpPr/>
              <p:nvPr/>
            </p:nvGrpSpPr>
            <p:grpSpPr>
              <a:xfrm>
                <a:off x="7612" y="7079"/>
                <a:ext cx="2466" cy="112"/>
                <a:chOff x="7612" y="7064"/>
                <a:chExt cx="2466" cy="112"/>
              </a:xfrm>
            </p:grpSpPr>
            <p:sp>
              <p:nvSpPr>
                <p:cNvPr id="399" name="文本框 398"/>
                <p:cNvSpPr txBox="1"/>
                <p:nvPr/>
              </p:nvSpPr>
              <p:spPr>
                <a:xfrm>
                  <a:off x="7612" y="7064"/>
                  <a:ext cx="397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3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0.24</a:t>
                  </a:r>
                </a:p>
              </p:txBody>
            </p:sp>
            <p:sp>
              <p:nvSpPr>
                <p:cNvPr id="401" name="文本框 400"/>
                <p:cNvSpPr txBox="1"/>
                <p:nvPr/>
              </p:nvSpPr>
              <p:spPr>
                <a:xfrm>
                  <a:off x="7727" y="7064"/>
                  <a:ext cx="397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3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0.24</a:t>
                  </a:r>
                </a:p>
              </p:txBody>
            </p:sp>
            <p:sp>
              <p:nvSpPr>
                <p:cNvPr id="402" name="文本框 401"/>
                <p:cNvSpPr txBox="1"/>
                <p:nvPr/>
              </p:nvSpPr>
              <p:spPr>
                <a:xfrm>
                  <a:off x="7842" y="7064"/>
                  <a:ext cx="397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3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0.24</a:t>
                  </a:r>
                </a:p>
              </p:txBody>
            </p:sp>
            <p:sp>
              <p:nvSpPr>
                <p:cNvPr id="403" name="文本框 402"/>
                <p:cNvSpPr txBox="1"/>
                <p:nvPr/>
              </p:nvSpPr>
              <p:spPr>
                <a:xfrm>
                  <a:off x="7957" y="7064"/>
                  <a:ext cx="397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3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0.24</a:t>
                  </a:r>
                </a:p>
              </p:txBody>
            </p:sp>
            <p:sp>
              <p:nvSpPr>
                <p:cNvPr id="404" name="文本框 403"/>
                <p:cNvSpPr txBox="1"/>
                <p:nvPr/>
              </p:nvSpPr>
              <p:spPr>
                <a:xfrm>
                  <a:off x="8072" y="7064"/>
                  <a:ext cx="397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3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0.24</a:t>
                  </a:r>
                </a:p>
              </p:txBody>
            </p:sp>
            <p:sp>
              <p:nvSpPr>
                <p:cNvPr id="405" name="文本框 404"/>
                <p:cNvSpPr txBox="1"/>
                <p:nvPr/>
              </p:nvSpPr>
              <p:spPr>
                <a:xfrm>
                  <a:off x="8187" y="7064"/>
                  <a:ext cx="397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3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0.24</a:t>
                  </a:r>
                </a:p>
              </p:txBody>
            </p:sp>
            <p:sp>
              <p:nvSpPr>
                <p:cNvPr id="406" name="文本框 405"/>
                <p:cNvSpPr txBox="1"/>
                <p:nvPr/>
              </p:nvSpPr>
              <p:spPr>
                <a:xfrm>
                  <a:off x="8302" y="7064"/>
                  <a:ext cx="397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3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0.24</a:t>
                  </a:r>
                </a:p>
              </p:txBody>
            </p:sp>
            <p:sp>
              <p:nvSpPr>
                <p:cNvPr id="407" name="文本框 406"/>
                <p:cNvSpPr txBox="1"/>
                <p:nvPr/>
              </p:nvSpPr>
              <p:spPr>
                <a:xfrm>
                  <a:off x="8417" y="7064"/>
                  <a:ext cx="397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3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0.25</a:t>
                  </a:r>
                </a:p>
              </p:txBody>
            </p:sp>
            <p:sp>
              <p:nvSpPr>
                <p:cNvPr id="408" name="文本框 407"/>
                <p:cNvSpPr txBox="1"/>
                <p:nvPr/>
              </p:nvSpPr>
              <p:spPr>
                <a:xfrm>
                  <a:off x="8532" y="7064"/>
                  <a:ext cx="397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3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0.24</a:t>
                  </a:r>
                </a:p>
              </p:txBody>
            </p:sp>
            <p:sp>
              <p:nvSpPr>
                <p:cNvPr id="409" name="文本框 408"/>
                <p:cNvSpPr txBox="1"/>
                <p:nvPr/>
              </p:nvSpPr>
              <p:spPr>
                <a:xfrm>
                  <a:off x="8647" y="7064"/>
                  <a:ext cx="397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3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0.24</a:t>
                  </a:r>
                </a:p>
              </p:txBody>
            </p:sp>
            <p:sp>
              <p:nvSpPr>
                <p:cNvPr id="410" name="文本框 409"/>
                <p:cNvSpPr txBox="1"/>
                <p:nvPr/>
              </p:nvSpPr>
              <p:spPr>
                <a:xfrm>
                  <a:off x="8877" y="7064"/>
                  <a:ext cx="397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3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0.24</a:t>
                  </a:r>
                </a:p>
              </p:txBody>
            </p:sp>
            <p:sp>
              <p:nvSpPr>
                <p:cNvPr id="411" name="文本框 410"/>
                <p:cNvSpPr txBox="1"/>
                <p:nvPr/>
              </p:nvSpPr>
              <p:spPr>
                <a:xfrm>
                  <a:off x="8992" y="7064"/>
                  <a:ext cx="397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3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0.24</a:t>
                  </a:r>
                </a:p>
              </p:txBody>
            </p:sp>
            <p:sp>
              <p:nvSpPr>
                <p:cNvPr id="412" name="文本框 411"/>
                <p:cNvSpPr txBox="1"/>
                <p:nvPr/>
              </p:nvSpPr>
              <p:spPr>
                <a:xfrm>
                  <a:off x="9107" y="7064"/>
                  <a:ext cx="397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3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0.24</a:t>
                  </a:r>
                </a:p>
              </p:txBody>
            </p:sp>
            <p:sp>
              <p:nvSpPr>
                <p:cNvPr id="413" name="文本框 412"/>
                <p:cNvSpPr txBox="1"/>
                <p:nvPr/>
              </p:nvSpPr>
              <p:spPr>
                <a:xfrm>
                  <a:off x="9222" y="7064"/>
                  <a:ext cx="397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3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0.24</a:t>
                  </a:r>
                </a:p>
              </p:txBody>
            </p:sp>
            <p:sp>
              <p:nvSpPr>
                <p:cNvPr id="414" name="文本框 413"/>
                <p:cNvSpPr txBox="1"/>
                <p:nvPr/>
              </p:nvSpPr>
              <p:spPr>
                <a:xfrm>
                  <a:off x="9452" y="7064"/>
                  <a:ext cx="397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3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0.24</a:t>
                  </a:r>
                </a:p>
              </p:txBody>
            </p:sp>
            <p:sp>
              <p:nvSpPr>
                <p:cNvPr id="415" name="文本框 414"/>
                <p:cNvSpPr txBox="1"/>
                <p:nvPr/>
              </p:nvSpPr>
              <p:spPr>
                <a:xfrm>
                  <a:off x="9567" y="7064"/>
                  <a:ext cx="397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3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0.24</a:t>
                  </a:r>
                </a:p>
              </p:txBody>
            </p:sp>
            <p:sp>
              <p:nvSpPr>
                <p:cNvPr id="416" name="文本框 415"/>
                <p:cNvSpPr txBox="1"/>
                <p:nvPr/>
              </p:nvSpPr>
              <p:spPr>
                <a:xfrm>
                  <a:off x="8762" y="7064"/>
                  <a:ext cx="397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3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0.24</a:t>
                  </a:r>
                </a:p>
              </p:txBody>
            </p:sp>
            <p:sp>
              <p:nvSpPr>
                <p:cNvPr id="417" name="文本框 416"/>
                <p:cNvSpPr txBox="1"/>
                <p:nvPr/>
              </p:nvSpPr>
              <p:spPr>
                <a:xfrm>
                  <a:off x="9337" y="7064"/>
                  <a:ext cx="397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3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0.24</a:t>
                  </a:r>
                </a:p>
              </p:txBody>
            </p:sp>
            <p:sp>
              <p:nvSpPr>
                <p:cNvPr id="418" name="文本框 417"/>
                <p:cNvSpPr txBox="1"/>
                <p:nvPr/>
              </p:nvSpPr>
              <p:spPr>
                <a:xfrm>
                  <a:off x="9682" y="7064"/>
                  <a:ext cx="397" cy="113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3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0.25</a:t>
                  </a:r>
                </a:p>
              </p:txBody>
            </p:sp>
          </p:grpSp>
          <p:sp>
            <p:nvSpPr>
              <p:cNvPr id="419" name="文本框 418"/>
              <p:cNvSpPr txBox="1"/>
              <p:nvPr/>
            </p:nvSpPr>
            <p:spPr>
              <a:xfrm>
                <a:off x="9790" y="7081"/>
                <a:ext cx="397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3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0.24</a:t>
                </a:r>
              </a:p>
            </p:txBody>
          </p:sp>
        </p:grpSp>
        <p:sp>
          <p:nvSpPr>
            <p:cNvPr id="312" name="文本框 311"/>
            <p:cNvSpPr txBox="1"/>
            <p:nvPr/>
          </p:nvSpPr>
          <p:spPr>
            <a:xfrm>
              <a:off x="7602" y="6780"/>
              <a:ext cx="1979" cy="20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Expert Category Specialization</a:t>
              </a:r>
            </a:p>
          </p:txBody>
        </p:sp>
      </p:grpSp>
      <p:sp>
        <p:nvSpPr>
          <p:cNvPr id="437" name="文本框 436"/>
          <p:cNvSpPr txBox="1"/>
          <p:nvPr/>
        </p:nvSpPr>
        <p:spPr>
          <a:xfrm>
            <a:off x="4418821" y="4261169"/>
            <a:ext cx="252095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b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438" name="文本框 437"/>
          <p:cNvSpPr txBox="1"/>
          <p:nvPr/>
        </p:nvSpPr>
        <p:spPr>
          <a:xfrm>
            <a:off x="4428377" y="2368580"/>
            <a:ext cx="252030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b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448" name="文本框 447"/>
          <p:cNvSpPr txBox="1"/>
          <p:nvPr/>
        </p:nvSpPr>
        <p:spPr>
          <a:xfrm>
            <a:off x="24369" y="112050"/>
            <a:ext cx="359908" cy="3599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</a:p>
        </p:txBody>
      </p:sp>
      <p:sp>
        <p:nvSpPr>
          <p:cNvPr id="449" name="文本框 448"/>
          <p:cNvSpPr txBox="1"/>
          <p:nvPr/>
        </p:nvSpPr>
        <p:spPr>
          <a:xfrm>
            <a:off x="4652331" y="218703"/>
            <a:ext cx="445656" cy="1835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" b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</p:txBody>
      </p:sp>
      <p:sp>
        <p:nvSpPr>
          <p:cNvPr id="463" name="文本框 462"/>
          <p:cNvSpPr txBox="1"/>
          <p:nvPr/>
        </p:nvSpPr>
        <p:spPr>
          <a:xfrm>
            <a:off x="653415" y="7785419"/>
            <a:ext cx="615950" cy="13017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 ID</a:t>
            </a:r>
          </a:p>
        </p:txBody>
      </p:sp>
      <p:grpSp>
        <p:nvGrpSpPr>
          <p:cNvPr id="495" name="组合 494"/>
          <p:cNvGrpSpPr/>
          <p:nvPr/>
        </p:nvGrpSpPr>
        <p:grpSpPr>
          <a:xfrm>
            <a:off x="1609725" y="6641149"/>
            <a:ext cx="323850" cy="902335"/>
            <a:chOff x="2473" y="12575"/>
            <a:chExt cx="510" cy="1422"/>
          </a:xfrm>
        </p:grpSpPr>
        <p:sp>
          <p:nvSpPr>
            <p:cNvPr id="487" name="文本框 486"/>
            <p:cNvSpPr txBox="1"/>
            <p:nvPr/>
          </p:nvSpPr>
          <p:spPr>
            <a:xfrm>
              <a:off x="2473" y="13884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0.00</a:t>
              </a:r>
            </a:p>
          </p:txBody>
        </p:sp>
        <p:sp>
          <p:nvSpPr>
            <p:cNvPr id="488" name="文本框 487"/>
            <p:cNvSpPr txBox="1"/>
            <p:nvPr/>
          </p:nvSpPr>
          <p:spPr>
            <a:xfrm>
              <a:off x="2473" y="13697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0.05</a:t>
              </a:r>
            </a:p>
          </p:txBody>
        </p:sp>
        <p:sp>
          <p:nvSpPr>
            <p:cNvPr id="489" name="文本框 488"/>
            <p:cNvSpPr txBox="1"/>
            <p:nvPr/>
          </p:nvSpPr>
          <p:spPr>
            <a:xfrm>
              <a:off x="2473" y="13510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0.10</a:t>
              </a:r>
            </a:p>
          </p:txBody>
        </p:sp>
        <p:sp>
          <p:nvSpPr>
            <p:cNvPr id="490" name="文本框 489"/>
            <p:cNvSpPr txBox="1"/>
            <p:nvPr/>
          </p:nvSpPr>
          <p:spPr>
            <a:xfrm>
              <a:off x="2473" y="13323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0.15</a:t>
              </a:r>
            </a:p>
          </p:txBody>
        </p:sp>
        <p:sp>
          <p:nvSpPr>
            <p:cNvPr id="491" name="文本框 490"/>
            <p:cNvSpPr txBox="1"/>
            <p:nvPr/>
          </p:nvSpPr>
          <p:spPr>
            <a:xfrm>
              <a:off x="2473" y="13136"/>
              <a:ext cx="510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0.20</a:t>
              </a:r>
            </a:p>
          </p:txBody>
        </p:sp>
        <p:sp>
          <p:nvSpPr>
            <p:cNvPr id="492" name="文本框 491"/>
            <p:cNvSpPr txBox="1"/>
            <p:nvPr/>
          </p:nvSpPr>
          <p:spPr>
            <a:xfrm>
              <a:off x="2473" y="12949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0.25</a:t>
              </a:r>
            </a:p>
          </p:txBody>
        </p:sp>
        <p:sp>
          <p:nvSpPr>
            <p:cNvPr id="493" name="文本框 492"/>
            <p:cNvSpPr txBox="1"/>
            <p:nvPr/>
          </p:nvSpPr>
          <p:spPr>
            <a:xfrm>
              <a:off x="2473" y="12762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0.30</a:t>
              </a:r>
            </a:p>
          </p:txBody>
        </p:sp>
        <p:sp>
          <p:nvSpPr>
            <p:cNvPr id="494" name="文本框 493"/>
            <p:cNvSpPr txBox="1"/>
            <p:nvPr/>
          </p:nvSpPr>
          <p:spPr>
            <a:xfrm>
              <a:off x="2473" y="12575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0.35</a:t>
              </a:r>
            </a:p>
          </p:txBody>
        </p:sp>
      </p:grpSp>
      <p:pic>
        <p:nvPicPr>
          <p:cNvPr id="455" name="图片 45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3705" y="6551613"/>
            <a:ext cx="1266332" cy="1116000"/>
          </a:xfrm>
          <a:prstGeom prst="rect">
            <a:avLst/>
          </a:prstGeom>
        </p:spPr>
      </p:pic>
      <p:sp>
        <p:nvSpPr>
          <p:cNvPr id="458" name="文本框 457"/>
          <p:cNvSpPr txBox="1"/>
          <p:nvPr/>
        </p:nvSpPr>
        <p:spPr>
          <a:xfrm>
            <a:off x="721995" y="6406834"/>
            <a:ext cx="615950" cy="13017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Switch-8</a:t>
            </a:r>
          </a:p>
        </p:txBody>
      </p:sp>
      <p:grpSp>
        <p:nvGrpSpPr>
          <p:cNvPr id="477" name="组合 476"/>
          <p:cNvGrpSpPr/>
          <p:nvPr/>
        </p:nvGrpSpPr>
        <p:grpSpPr>
          <a:xfrm>
            <a:off x="-101600" y="6590348"/>
            <a:ext cx="625475" cy="999490"/>
            <a:chOff x="-199" y="12483"/>
            <a:chExt cx="985" cy="1575"/>
          </a:xfrm>
        </p:grpSpPr>
        <p:sp>
          <p:nvSpPr>
            <p:cNvPr id="469" name="文本框 468"/>
            <p:cNvSpPr txBox="1"/>
            <p:nvPr/>
          </p:nvSpPr>
          <p:spPr>
            <a:xfrm>
              <a:off x="-190" y="12483"/>
              <a:ext cx="97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scientific</a:t>
              </a:r>
            </a:p>
          </p:txBody>
        </p:sp>
        <p:sp>
          <p:nvSpPr>
            <p:cNvPr id="470" name="文本框 469"/>
            <p:cNvSpPr txBox="1"/>
            <p:nvPr/>
          </p:nvSpPr>
          <p:spPr>
            <a:xfrm>
              <a:off x="-189" y="12726"/>
              <a:ext cx="97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social</a:t>
              </a:r>
            </a:p>
          </p:txBody>
        </p:sp>
        <p:sp>
          <p:nvSpPr>
            <p:cNvPr id="471" name="文本框 470"/>
            <p:cNvSpPr txBox="1"/>
            <p:nvPr/>
          </p:nvSpPr>
          <p:spPr>
            <a:xfrm>
              <a:off x="-189" y="12979"/>
              <a:ext cx="97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emotional</a:t>
              </a:r>
            </a:p>
          </p:txBody>
        </p:sp>
        <p:sp>
          <p:nvSpPr>
            <p:cNvPr id="472" name="文本框 471"/>
            <p:cNvSpPr txBox="1"/>
            <p:nvPr/>
          </p:nvSpPr>
          <p:spPr>
            <a:xfrm>
              <a:off x="-189" y="13227"/>
              <a:ext cx="97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procedural</a:t>
              </a:r>
            </a:p>
          </p:txBody>
        </p:sp>
        <p:sp>
          <p:nvSpPr>
            <p:cNvPr id="473" name="文本框 472"/>
            <p:cNvSpPr txBox="1"/>
            <p:nvPr/>
          </p:nvSpPr>
          <p:spPr>
            <a:xfrm>
              <a:off x="-184" y="13463"/>
              <a:ext cx="97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narrative</a:t>
              </a:r>
            </a:p>
          </p:txBody>
        </p:sp>
        <p:sp>
          <p:nvSpPr>
            <p:cNvPr id="474" name="文本框 473"/>
            <p:cNvSpPr txBox="1"/>
            <p:nvPr/>
          </p:nvSpPr>
          <p:spPr>
            <a:xfrm>
              <a:off x="-184" y="13701"/>
              <a:ext cx="97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mathematical</a:t>
              </a:r>
            </a:p>
          </p:txBody>
        </p:sp>
        <p:sp>
          <p:nvSpPr>
            <p:cNvPr id="475" name="文本框 474"/>
            <p:cNvSpPr txBox="1"/>
            <p:nvPr/>
          </p:nvSpPr>
          <p:spPr>
            <a:xfrm>
              <a:off x="-199" y="13946"/>
              <a:ext cx="97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risk_decision</a:t>
              </a:r>
            </a:p>
          </p:txBody>
        </p:sp>
      </p:grpSp>
      <p:sp>
        <p:nvSpPr>
          <p:cNvPr id="466" name="文本框 465"/>
          <p:cNvSpPr txBox="1"/>
          <p:nvPr/>
        </p:nvSpPr>
        <p:spPr>
          <a:xfrm rot="16200000">
            <a:off x="-316865" y="7031673"/>
            <a:ext cx="712470" cy="762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Category</a:t>
            </a:r>
          </a:p>
        </p:txBody>
      </p:sp>
      <p:grpSp>
        <p:nvGrpSpPr>
          <p:cNvPr id="153" name="组合 152"/>
          <p:cNvGrpSpPr/>
          <p:nvPr/>
        </p:nvGrpSpPr>
        <p:grpSpPr>
          <a:xfrm>
            <a:off x="377826" y="7691438"/>
            <a:ext cx="1265555" cy="78740"/>
            <a:chOff x="595" y="12135"/>
            <a:chExt cx="1993" cy="124"/>
          </a:xfrm>
        </p:grpSpPr>
        <p:sp>
          <p:nvSpPr>
            <p:cNvPr id="478" name="文本框 477"/>
            <p:cNvSpPr txBox="1"/>
            <p:nvPr/>
          </p:nvSpPr>
          <p:spPr>
            <a:xfrm>
              <a:off x="595" y="12135"/>
              <a:ext cx="454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E0</a:t>
              </a:r>
            </a:p>
          </p:txBody>
        </p:sp>
        <p:sp>
          <p:nvSpPr>
            <p:cNvPr id="479" name="文本框 478"/>
            <p:cNvSpPr txBox="1"/>
            <p:nvPr/>
          </p:nvSpPr>
          <p:spPr>
            <a:xfrm>
              <a:off x="816" y="12135"/>
              <a:ext cx="453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</a:t>
              </a:r>
            </a:p>
          </p:txBody>
        </p:sp>
        <p:sp>
          <p:nvSpPr>
            <p:cNvPr id="480" name="文本框 479"/>
            <p:cNvSpPr txBox="1"/>
            <p:nvPr/>
          </p:nvSpPr>
          <p:spPr>
            <a:xfrm>
              <a:off x="1036" y="12135"/>
              <a:ext cx="453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E2</a:t>
              </a:r>
            </a:p>
          </p:txBody>
        </p:sp>
        <p:sp>
          <p:nvSpPr>
            <p:cNvPr id="481" name="文本框 480"/>
            <p:cNvSpPr txBox="1"/>
            <p:nvPr/>
          </p:nvSpPr>
          <p:spPr>
            <a:xfrm>
              <a:off x="1256" y="12135"/>
              <a:ext cx="453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E3</a:t>
              </a:r>
            </a:p>
          </p:txBody>
        </p:sp>
        <p:sp>
          <p:nvSpPr>
            <p:cNvPr id="482" name="文本框 481"/>
            <p:cNvSpPr txBox="1"/>
            <p:nvPr/>
          </p:nvSpPr>
          <p:spPr>
            <a:xfrm>
              <a:off x="1476" y="12135"/>
              <a:ext cx="453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E4</a:t>
              </a:r>
            </a:p>
          </p:txBody>
        </p:sp>
        <p:sp>
          <p:nvSpPr>
            <p:cNvPr id="483" name="文本框 482"/>
            <p:cNvSpPr txBox="1"/>
            <p:nvPr/>
          </p:nvSpPr>
          <p:spPr>
            <a:xfrm>
              <a:off x="1696" y="12139"/>
              <a:ext cx="453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E5</a:t>
              </a:r>
            </a:p>
          </p:txBody>
        </p:sp>
        <p:sp>
          <p:nvSpPr>
            <p:cNvPr id="484" name="文本框 483"/>
            <p:cNvSpPr txBox="1"/>
            <p:nvPr/>
          </p:nvSpPr>
          <p:spPr>
            <a:xfrm>
              <a:off x="1916" y="12135"/>
              <a:ext cx="453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E6</a:t>
              </a:r>
            </a:p>
          </p:txBody>
        </p:sp>
        <p:sp>
          <p:nvSpPr>
            <p:cNvPr id="485" name="文本框 484"/>
            <p:cNvSpPr txBox="1"/>
            <p:nvPr/>
          </p:nvSpPr>
          <p:spPr>
            <a:xfrm>
              <a:off x="2136" y="12135"/>
              <a:ext cx="453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E7</a:t>
              </a:r>
            </a:p>
          </p:txBody>
        </p:sp>
      </p:grpSp>
      <p:sp>
        <p:nvSpPr>
          <p:cNvPr id="613" name="文本框 612"/>
          <p:cNvSpPr txBox="1"/>
          <p:nvPr/>
        </p:nvSpPr>
        <p:spPr>
          <a:xfrm>
            <a:off x="5214163" y="6319486"/>
            <a:ext cx="1714060" cy="130142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MoE Model Comparison: Multi-Metric Radar</a:t>
            </a:r>
          </a:p>
        </p:txBody>
      </p:sp>
      <p:grpSp>
        <p:nvGrpSpPr>
          <p:cNvPr id="622" name="组合 621"/>
          <p:cNvGrpSpPr/>
          <p:nvPr/>
        </p:nvGrpSpPr>
        <p:grpSpPr>
          <a:xfrm>
            <a:off x="5289073" y="6497901"/>
            <a:ext cx="1658830" cy="1309669"/>
            <a:chOff x="4345" y="12928"/>
            <a:chExt cx="2613" cy="2063"/>
          </a:xfrm>
        </p:grpSpPr>
        <p:pic>
          <p:nvPicPr>
            <p:cNvPr id="454" name="图片 453" descr="fig_multi_moe_radar"/>
            <p:cNvPicPr>
              <a:picLocks noChangeAspect="1"/>
            </p:cNvPicPr>
            <p:nvPr/>
          </p:nvPicPr>
          <p:blipFill>
            <a:blip r:embed="rId15"/>
            <a:srcRect l="1544" t="10216" r="17191" b="4426"/>
            <a:stretch>
              <a:fillRect/>
            </a:stretch>
          </p:blipFill>
          <p:spPr>
            <a:xfrm>
              <a:off x="4720" y="13168"/>
              <a:ext cx="1753" cy="1645"/>
            </a:xfrm>
            <a:prstGeom prst="ellipse">
              <a:avLst/>
            </a:prstGeom>
          </p:spPr>
        </p:pic>
        <p:grpSp>
          <p:nvGrpSpPr>
            <p:cNvPr id="617" name="组合 616"/>
            <p:cNvGrpSpPr/>
            <p:nvPr/>
          </p:nvGrpSpPr>
          <p:grpSpPr>
            <a:xfrm>
              <a:off x="6217" y="13913"/>
              <a:ext cx="741" cy="220"/>
              <a:chOff x="6217" y="13913"/>
              <a:chExt cx="741" cy="220"/>
            </a:xfrm>
          </p:grpSpPr>
          <p:sp>
            <p:nvSpPr>
              <p:cNvPr id="616" name="矩形 615"/>
              <p:cNvSpPr/>
              <p:nvPr/>
            </p:nvSpPr>
            <p:spPr>
              <a:xfrm>
                <a:off x="6356" y="13933"/>
                <a:ext cx="195" cy="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5" name="文本框 614"/>
              <p:cNvSpPr txBox="1"/>
              <p:nvPr/>
            </p:nvSpPr>
            <p:spPr>
              <a:xfrm>
                <a:off x="6217" y="13913"/>
                <a:ext cx="741" cy="20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Gini </a:t>
                </a:r>
              </a:p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(Sparsity)</a:t>
                </a:r>
              </a:p>
            </p:txBody>
          </p:sp>
        </p:grpSp>
        <p:sp>
          <p:nvSpPr>
            <p:cNvPr id="618" name="文本框 617"/>
            <p:cNvSpPr txBox="1"/>
            <p:nvPr/>
          </p:nvSpPr>
          <p:spPr>
            <a:xfrm>
              <a:off x="5077" y="12928"/>
              <a:ext cx="1070" cy="20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Entropy Sparsity</a:t>
              </a:r>
            </a:p>
          </p:txBody>
        </p:sp>
        <p:sp>
          <p:nvSpPr>
            <p:cNvPr id="619" name="文本框 618"/>
            <p:cNvSpPr txBox="1"/>
            <p:nvPr/>
          </p:nvSpPr>
          <p:spPr>
            <a:xfrm>
              <a:off x="4361" y="13140"/>
              <a:ext cx="997" cy="20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Concentration </a:t>
              </a:r>
            </a:p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Ratio</a:t>
              </a:r>
            </a:p>
          </p:txBody>
        </p:sp>
        <p:sp>
          <p:nvSpPr>
            <p:cNvPr id="620" name="文本框 619"/>
            <p:cNvSpPr txBox="1"/>
            <p:nvPr/>
          </p:nvSpPr>
          <p:spPr>
            <a:xfrm>
              <a:off x="4345" y="14548"/>
              <a:ext cx="997" cy="20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Mean</a:t>
              </a:r>
            </a:p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Selectivity</a:t>
              </a:r>
            </a:p>
          </p:txBody>
        </p:sp>
        <p:sp>
          <p:nvSpPr>
            <p:cNvPr id="621" name="文本框 620"/>
            <p:cNvSpPr txBox="1"/>
            <p:nvPr/>
          </p:nvSpPr>
          <p:spPr>
            <a:xfrm>
              <a:off x="5473" y="14786"/>
              <a:ext cx="1343" cy="20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Specialization Rate</a:t>
              </a:r>
            </a:p>
          </p:txBody>
        </p:sp>
      </p:grpSp>
      <p:sp>
        <p:nvSpPr>
          <p:cNvPr id="623" name="文本框 622"/>
          <p:cNvSpPr txBox="1"/>
          <p:nvPr/>
        </p:nvSpPr>
        <p:spPr>
          <a:xfrm>
            <a:off x="24664" y="6234739"/>
            <a:ext cx="359318" cy="3599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</a:p>
        </p:txBody>
      </p:sp>
      <p:sp>
        <p:nvSpPr>
          <p:cNvPr id="624" name="文本框 623"/>
          <p:cNvSpPr txBox="1"/>
          <p:nvPr/>
        </p:nvSpPr>
        <p:spPr>
          <a:xfrm>
            <a:off x="5074159" y="6234739"/>
            <a:ext cx="359318" cy="35990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</a:p>
        </p:txBody>
      </p:sp>
      <p:grpSp>
        <p:nvGrpSpPr>
          <p:cNvPr id="631" name="组合 630"/>
          <p:cNvGrpSpPr/>
          <p:nvPr/>
        </p:nvGrpSpPr>
        <p:grpSpPr>
          <a:xfrm>
            <a:off x="6298419" y="6504214"/>
            <a:ext cx="792911" cy="172676"/>
            <a:chOff x="5578" y="13024"/>
            <a:chExt cx="1249" cy="272"/>
          </a:xfrm>
        </p:grpSpPr>
        <p:sp>
          <p:nvSpPr>
            <p:cNvPr id="629" name="文本框 628"/>
            <p:cNvSpPr txBox="1"/>
            <p:nvPr/>
          </p:nvSpPr>
          <p:spPr>
            <a:xfrm>
              <a:off x="5579" y="13230"/>
              <a:ext cx="1248" cy="5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DeepSeek-16B</a:t>
              </a:r>
            </a:p>
          </p:txBody>
        </p:sp>
        <p:sp>
          <p:nvSpPr>
            <p:cNvPr id="627" name="文本框 626"/>
            <p:cNvSpPr txBox="1"/>
            <p:nvPr/>
          </p:nvSpPr>
          <p:spPr>
            <a:xfrm>
              <a:off x="5578" y="13024"/>
              <a:ext cx="1248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Switch-8</a:t>
              </a:r>
            </a:p>
          </p:txBody>
        </p:sp>
        <p:sp>
          <p:nvSpPr>
            <p:cNvPr id="628" name="文本框 627"/>
            <p:cNvSpPr txBox="1"/>
            <p:nvPr/>
          </p:nvSpPr>
          <p:spPr>
            <a:xfrm>
              <a:off x="5579" y="13128"/>
              <a:ext cx="1248" cy="5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Qwen-MoE</a:t>
              </a:r>
            </a:p>
          </p:txBody>
        </p:sp>
        <p:pic>
          <p:nvPicPr>
            <p:cNvPr id="625" name="图片 624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596" y="13024"/>
              <a:ext cx="120" cy="272"/>
            </a:xfrm>
            <a:prstGeom prst="rect">
              <a:avLst/>
            </a:prstGeom>
          </p:spPr>
        </p:pic>
      </p:grpSp>
      <p:grpSp>
        <p:nvGrpSpPr>
          <p:cNvPr id="45" name="组合 44"/>
          <p:cNvGrpSpPr/>
          <p:nvPr/>
        </p:nvGrpSpPr>
        <p:grpSpPr>
          <a:xfrm>
            <a:off x="1678163" y="2598708"/>
            <a:ext cx="735141" cy="78720"/>
            <a:chOff x="6454" y="4116"/>
            <a:chExt cx="1158" cy="124"/>
          </a:xfrm>
        </p:grpSpPr>
        <p:pic>
          <p:nvPicPr>
            <p:cNvPr id="52" name="图片 51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454" y="4116"/>
              <a:ext cx="188" cy="124"/>
            </a:xfrm>
            <a:prstGeom prst="rect">
              <a:avLst/>
            </a:prstGeom>
          </p:spPr>
        </p:pic>
        <p:sp>
          <p:nvSpPr>
            <p:cNvPr id="56" name="文本框 55"/>
            <p:cNvSpPr txBox="1"/>
            <p:nvPr/>
          </p:nvSpPr>
          <p:spPr>
            <a:xfrm>
              <a:off x="6535" y="4119"/>
              <a:ext cx="1077" cy="12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Uniform(0.1250)</a:t>
              </a:r>
            </a:p>
          </p:txBody>
        </p:sp>
      </p:grpSp>
      <p:sp>
        <p:nvSpPr>
          <p:cNvPr id="81" name="文本框 80"/>
          <p:cNvSpPr txBox="1"/>
          <p:nvPr/>
        </p:nvSpPr>
        <p:spPr>
          <a:xfrm rot="16200000">
            <a:off x="-205740" y="5188904"/>
            <a:ext cx="929640" cy="13017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Distribution</a:t>
            </a:r>
          </a:p>
        </p:txBody>
      </p:sp>
      <p:grpSp>
        <p:nvGrpSpPr>
          <p:cNvPr id="112" name="组合 111"/>
          <p:cNvGrpSpPr/>
          <p:nvPr/>
        </p:nvGrpSpPr>
        <p:grpSpPr>
          <a:xfrm>
            <a:off x="287655" y="4287838"/>
            <a:ext cx="1866900" cy="2029460"/>
            <a:chOff x="453" y="6750"/>
            <a:chExt cx="2940" cy="3196"/>
          </a:xfrm>
        </p:grpSpPr>
        <p:sp>
          <p:nvSpPr>
            <p:cNvPr id="80" name="文本框 79"/>
            <p:cNvSpPr txBox="1"/>
            <p:nvPr/>
          </p:nvSpPr>
          <p:spPr>
            <a:xfrm>
              <a:off x="1452" y="9742"/>
              <a:ext cx="970" cy="20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Expert ID</a:t>
              </a:r>
            </a:p>
          </p:txBody>
        </p:sp>
        <p:pic>
          <p:nvPicPr>
            <p:cNvPr id="79" name="图片 78"/>
            <p:cNvPicPr>
              <a:picLocks noChangeAspect="1"/>
            </p:cNvPicPr>
            <p:nvPr/>
          </p:nvPicPr>
          <p:blipFill>
            <a:blip r:embed="rId17"/>
            <a:srcRect l="374" t="725"/>
            <a:stretch>
              <a:fillRect/>
            </a:stretch>
          </p:blipFill>
          <p:spPr>
            <a:xfrm>
              <a:off x="785" y="6885"/>
              <a:ext cx="2608" cy="2685"/>
            </a:xfrm>
            <a:prstGeom prst="rect">
              <a:avLst/>
            </a:prstGeom>
          </p:spPr>
        </p:pic>
        <p:grpSp>
          <p:nvGrpSpPr>
            <p:cNvPr id="110" name="组合 109"/>
            <p:cNvGrpSpPr/>
            <p:nvPr/>
          </p:nvGrpSpPr>
          <p:grpSpPr>
            <a:xfrm>
              <a:off x="453" y="7157"/>
              <a:ext cx="454" cy="2459"/>
              <a:chOff x="453" y="7157"/>
              <a:chExt cx="454" cy="2459"/>
            </a:xfrm>
          </p:grpSpPr>
          <p:sp>
            <p:nvSpPr>
              <p:cNvPr id="100" name="文本框 99"/>
              <p:cNvSpPr txBox="1"/>
              <p:nvPr/>
            </p:nvSpPr>
            <p:spPr>
              <a:xfrm>
                <a:off x="453" y="7157"/>
                <a:ext cx="454" cy="14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0.0</a:t>
                </a:r>
              </a:p>
            </p:txBody>
          </p:sp>
          <p:sp>
            <p:nvSpPr>
              <p:cNvPr id="101" name="文本框 100"/>
              <p:cNvSpPr txBox="1"/>
              <p:nvPr/>
            </p:nvSpPr>
            <p:spPr>
              <a:xfrm>
                <a:off x="453" y="7620"/>
                <a:ext cx="454" cy="14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</a:t>
                </a:r>
              </a:p>
            </p:txBody>
          </p:sp>
          <p:sp>
            <p:nvSpPr>
              <p:cNvPr id="102" name="文本框 101"/>
              <p:cNvSpPr txBox="1"/>
              <p:nvPr/>
            </p:nvSpPr>
            <p:spPr>
              <a:xfrm>
                <a:off x="453" y="8083"/>
                <a:ext cx="454" cy="14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0.4</a:t>
                </a:r>
              </a:p>
            </p:txBody>
          </p:sp>
          <p:sp>
            <p:nvSpPr>
              <p:cNvPr id="103" name="文本框 102"/>
              <p:cNvSpPr txBox="1"/>
              <p:nvPr/>
            </p:nvSpPr>
            <p:spPr>
              <a:xfrm>
                <a:off x="453" y="8546"/>
                <a:ext cx="454" cy="14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0.6</a:t>
                </a:r>
              </a:p>
            </p:txBody>
          </p:sp>
          <p:sp>
            <p:nvSpPr>
              <p:cNvPr id="104" name="文本框 103"/>
              <p:cNvSpPr txBox="1"/>
              <p:nvPr/>
            </p:nvSpPr>
            <p:spPr>
              <a:xfrm>
                <a:off x="453" y="9009"/>
                <a:ext cx="454" cy="14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0.8</a:t>
                </a:r>
              </a:p>
            </p:txBody>
          </p:sp>
          <p:sp>
            <p:nvSpPr>
              <p:cNvPr id="105" name="文本框 104"/>
              <p:cNvSpPr txBox="1"/>
              <p:nvPr/>
            </p:nvSpPr>
            <p:spPr>
              <a:xfrm>
                <a:off x="453" y="9472"/>
                <a:ext cx="454" cy="14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1.0</a:t>
                </a:r>
              </a:p>
            </p:txBody>
          </p:sp>
        </p:grpSp>
        <p:grpSp>
          <p:nvGrpSpPr>
            <p:cNvPr id="106" name="组合 105"/>
            <p:cNvGrpSpPr/>
            <p:nvPr/>
          </p:nvGrpSpPr>
          <p:grpSpPr>
            <a:xfrm>
              <a:off x="810" y="9597"/>
              <a:ext cx="2547" cy="112"/>
              <a:chOff x="810" y="9597"/>
              <a:chExt cx="2547" cy="112"/>
            </a:xfrm>
          </p:grpSpPr>
          <p:sp>
            <p:nvSpPr>
              <p:cNvPr id="121" name="文本框 120"/>
              <p:cNvSpPr txBox="1"/>
              <p:nvPr/>
            </p:nvSpPr>
            <p:spPr>
              <a:xfrm>
                <a:off x="810" y="9597"/>
                <a:ext cx="454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E0</a:t>
                </a:r>
              </a:p>
            </p:txBody>
          </p:sp>
          <p:sp>
            <p:nvSpPr>
              <p:cNvPr id="122" name="文本框 121"/>
              <p:cNvSpPr txBox="1"/>
              <p:nvPr/>
            </p:nvSpPr>
            <p:spPr>
              <a:xfrm>
                <a:off x="1109" y="9597"/>
                <a:ext cx="454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E1</a:t>
                </a:r>
              </a:p>
            </p:txBody>
          </p:sp>
          <p:sp>
            <p:nvSpPr>
              <p:cNvPr id="123" name="文本框 122"/>
              <p:cNvSpPr txBox="1"/>
              <p:nvPr/>
            </p:nvSpPr>
            <p:spPr>
              <a:xfrm>
                <a:off x="1408" y="9597"/>
                <a:ext cx="454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E2</a:t>
                </a:r>
              </a:p>
            </p:txBody>
          </p:sp>
          <p:sp>
            <p:nvSpPr>
              <p:cNvPr id="124" name="文本框 123"/>
              <p:cNvSpPr txBox="1"/>
              <p:nvPr/>
            </p:nvSpPr>
            <p:spPr>
              <a:xfrm>
                <a:off x="1707" y="9597"/>
                <a:ext cx="454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E3</a:t>
                </a:r>
              </a:p>
            </p:txBody>
          </p:sp>
          <p:sp>
            <p:nvSpPr>
              <p:cNvPr id="125" name="文本框 124"/>
              <p:cNvSpPr txBox="1"/>
              <p:nvPr/>
            </p:nvSpPr>
            <p:spPr>
              <a:xfrm>
                <a:off x="2006" y="9597"/>
                <a:ext cx="454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E4</a:t>
                </a:r>
              </a:p>
            </p:txBody>
          </p:sp>
          <p:sp>
            <p:nvSpPr>
              <p:cNvPr id="126" name="文本框 125"/>
              <p:cNvSpPr txBox="1"/>
              <p:nvPr/>
            </p:nvSpPr>
            <p:spPr>
              <a:xfrm>
                <a:off x="2305" y="9597"/>
                <a:ext cx="454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E5</a:t>
                </a:r>
              </a:p>
            </p:txBody>
          </p:sp>
          <p:sp>
            <p:nvSpPr>
              <p:cNvPr id="127" name="文本框 126"/>
              <p:cNvSpPr txBox="1"/>
              <p:nvPr/>
            </p:nvSpPr>
            <p:spPr>
              <a:xfrm>
                <a:off x="2604" y="9597"/>
                <a:ext cx="454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E6</a:t>
                </a:r>
              </a:p>
            </p:txBody>
          </p:sp>
          <p:sp>
            <p:nvSpPr>
              <p:cNvPr id="128" name="文本框 127"/>
              <p:cNvSpPr txBox="1"/>
              <p:nvPr/>
            </p:nvSpPr>
            <p:spPr>
              <a:xfrm>
                <a:off x="2903" y="9597"/>
                <a:ext cx="454" cy="11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E7</a:t>
                </a:r>
              </a:p>
            </p:txBody>
          </p:sp>
        </p:grpSp>
        <p:sp>
          <p:nvSpPr>
            <p:cNvPr id="66" name="文本框 65"/>
            <p:cNvSpPr txBox="1"/>
            <p:nvPr/>
          </p:nvSpPr>
          <p:spPr>
            <a:xfrm>
              <a:off x="1082" y="6750"/>
              <a:ext cx="1979" cy="20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Expert Category Specialization</a:t>
              </a: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6203951" y="4381819"/>
            <a:ext cx="827405" cy="494665"/>
            <a:chOff x="9904" y="6898"/>
            <a:chExt cx="1303" cy="779"/>
          </a:xfrm>
        </p:grpSpPr>
        <p:grpSp>
          <p:nvGrpSpPr>
            <p:cNvPr id="70" name="组合 69"/>
            <p:cNvGrpSpPr/>
            <p:nvPr/>
          </p:nvGrpSpPr>
          <p:grpSpPr>
            <a:xfrm>
              <a:off x="9904" y="6898"/>
              <a:ext cx="1303" cy="760"/>
              <a:chOff x="9904" y="6898"/>
              <a:chExt cx="1303" cy="760"/>
            </a:xfrm>
          </p:grpSpPr>
          <p:grpSp>
            <p:nvGrpSpPr>
              <p:cNvPr id="315" name="组合 314"/>
              <p:cNvGrpSpPr/>
              <p:nvPr/>
            </p:nvGrpSpPr>
            <p:grpSpPr>
              <a:xfrm>
                <a:off x="10006" y="7025"/>
                <a:ext cx="1201" cy="633"/>
                <a:chOff x="7820" y="8152"/>
                <a:chExt cx="1201" cy="633"/>
              </a:xfrm>
            </p:grpSpPr>
            <p:sp>
              <p:nvSpPr>
                <p:cNvPr id="316" name="文本框 315"/>
                <p:cNvSpPr txBox="1"/>
                <p:nvPr/>
              </p:nvSpPr>
              <p:spPr>
                <a:xfrm>
                  <a:off x="7820" y="8152"/>
                  <a:ext cx="1191" cy="57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Scientific</a:t>
                  </a:r>
                </a:p>
              </p:txBody>
            </p:sp>
            <p:sp>
              <p:nvSpPr>
                <p:cNvPr id="317" name="文本框 316"/>
                <p:cNvSpPr txBox="1"/>
                <p:nvPr/>
              </p:nvSpPr>
              <p:spPr>
                <a:xfrm>
                  <a:off x="7822" y="8248"/>
                  <a:ext cx="1191" cy="57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Social</a:t>
                  </a:r>
                </a:p>
              </p:txBody>
            </p:sp>
            <p:sp>
              <p:nvSpPr>
                <p:cNvPr id="318" name="文本框 317"/>
                <p:cNvSpPr txBox="1"/>
                <p:nvPr/>
              </p:nvSpPr>
              <p:spPr>
                <a:xfrm>
                  <a:off x="7823" y="8344"/>
                  <a:ext cx="1191" cy="57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Emotional</a:t>
                  </a:r>
                </a:p>
              </p:txBody>
            </p:sp>
            <p:sp>
              <p:nvSpPr>
                <p:cNvPr id="319" name="文本框 318"/>
                <p:cNvSpPr txBox="1"/>
                <p:nvPr/>
              </p:nvSpPr>
              <p:spPr>
                <a:xfrm>
                  <a:off x="7826" y="8440"/>
                  <a:ext cx="1191" cy="57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Procedural</a:t>
                  </a:r>
                </a:p>
              </p:txBody>
            </p:sp>
            <p:sp>
              <p:nvSpPr>
                <p:cNvPr id="320" name="文本框 319"/>
                <p:cNvSpPr txBox="1"/>
                <p:nvPr/>
              </p:nvSpPr>
              <p:spPr>
                <a:xfrm>
                  <a:off x="7827" y="8536"/>
                  <a:ext cx="1191" cy="57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Narrative</a:t>
                  </a:r>
                </a:p>
              </p:txBody>
            </p:sp>
            <p:sp>
              <p:nvSpPr>
                <p:cNvPr id="321" name="文本框 320"/>
                <p:cNvSpPr txBox="1"/>
                <p:nvPr/>
              </p:nvSpPr>
              <p:spPr>
                <a:xfrm>
                  <a:off x="7830" y="8632"/>
                  <a:ext cx="1191" cy="57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Mathematical</a:t>
                  </a:r>
                </a:p>
              </p:txBody>
            </p:sp>
            <p:sp>
              <p:nvSpPr>
                <p:cNvPr id="322" name="文本框 321"/>
                <p:cNvSpPr txBox="1"/>
                <p:nvPr/>
              </p:nvSpPr>
              <p:spPr>
                <a:xfrm>
                  <a:off x="7826" y="8728"/>
                  <a:ext cx="1191" cy="57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r>
                    <a:rPr lang="en-US" altLang="zh-CN" sz="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Risk Decision</a:t>
                  </a:r>
                </a:p>
              </p:txBody>
            </p:sp>
          </p:grpSp>
          <p:sp>
            <p:nvSpPr>
              <p:cNvPr id="324" name="文本框 323"/>
              <p:cNvSpPr txBox="1"/>
              <p:nvPr/>
            </p:nvSpPr>
            <p:spPr>
              <a:xfrm>
                <a:off x="9904" y="6898"/>
                <a:ext cx="1191" cy="5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Category</a:t>
                </a:r>
              </a:p>
            </p:txBody>
          </p:sp>
        </p:grpSp>
        <p:pic>
          <p:nvPicPr>
            <p:cNvPr id="323" name="图片 322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flipH="1">
              <a:off x="9997" y="7027"/>
              <a:ext cx="153" cy="650"/>
            </a:xfrm>
            <a:prstGeom prst="rect">
              <a:avLst/>
            </a:prstGeom>
          </p:spPr>
        </p:pic>
      </p:grpSp>
      <p:sp>
        <p:nvSpPr>
          <p:cNvPr id="78" name="矩形 77"/>
          <p:cNvSpPr/>
          <p:nvPr/>
        </p:nvSpPr>
        <p:spPr>
          <a:xfrm>
            <a:off x="579136" y="4510016"/>
            <a:ext cx="1476000" cy="761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1" name="组合 60"/>
          <p:cNvGrpSpPr/>
          <p:nvPr/>
        </p:nvGrpSpPr>
        <p:grpSpPr>
          <a:xfrm>
            <a:off x="504826" y="4524693"/>
            <a:ext cx="1607185" cy="71120"/>
            <a:chOff x="657" y="7107"/>
            <a:chExt cx="2531" cy="112"/>
          </a:xfrm>
        </p:grpSpPr>
        <p:sp>
          <p:nvSpPr>
            <p:cNvPr id="82" name="文本框 81"/>
            <p:cNvSpPr txBox="1"/>
            <p:nvPr/>
          </p:nvSpPr>
          <p:spPr>
            <a:xfrm>
              <a:off x="657" y="7107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0.23</a:t>
              </a: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973" y="7107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0.22</a:t>
              </a:r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1251" y="7107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0.25</a:t>
              </a:r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1545" y="7107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0.24</a:t>
              </a:r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1807" y="7107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0.26</a:t>
              </a: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2114" y="7107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0.22</a:t>
              </a: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2392" y="7107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0.26</a:t>
              </a: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2678" y="7107"/>
              <a:ext cx="510" cy="113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0.22</a:t>
              </a:r>
            </a:p>
          </p:txBody>
        </p:sp>
      </p:grpSp>
      <p:grpSp>
        <p:nvGrpSpPr>
          <p:cNvPr id="159" name="组合 158"/>
          <p:cNvGrpSpPr/>
          <p:nvPr/>
        </p:nvGrpSpPr>
        <p:grpSpPr>
          <a:xfrm>
            <a:off x="3791585" y="7714933"/>
            <a:ext cx="1697990" cy="38100"/>
            <a:chOff x="3065" y="12134"/>
            <a:chExt cx="2674" cy="60"/>
          </a:xfrm>
        </p:grpSpPr>
        <p:sp>
          <p:nvSpPr>
            <p:cNvPr id="160" name="文本框 159"/>
            <p:cNvSpPr txBox="1"/>
            <p:nvPr/>
          </p:nvSpPr>
          <p:spPr>
            <a:xfrm rot="18900000">
              <a:off x="3065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E0</a:t>
              </a:r>
            </a:p>
          </p:txBody>
        </p:sp>
        <p:sp>
          <p:nvSpPr>
            <p:cNvPr id="161" name="文本框 160"/>
            <p:cNvSpPr txBox="1"/>
            <p:nvPr/>
          </p:nvSpPr>
          <p:spPr>
            <a:xfrm rot="18900000">
              <a:off x="3167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</a:t>
              </a:r>
            </a:p>
          </p:txBody>
        </p:sp>
        <p:sp>
          <p:nvSpPr>
            <p:cNvPr id="185" name="文本框 184"/>
            <p:cNvSpPr txBox="1"/>
            <p:nvPr/>
          </p:nvSpPr>
          <p:spPr>
            <a:xfrm rot="18900000">
              <a:off x="3269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E2</a:t>
              </a:r>
            </a:p>
          </p:txBody>
        </p:sp>
        <p:sp>
          <p:nvSpPr>
            <p:cNvPr id="187" name="文本框 186"/>
            <p:cNvSpPr txBox="1"/>
            <p:nvPr/>
          </p:nvSpPr>
          <p:spPr>
            <a:xfrm rot="18900000">
              <a:off x="3371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E3</a:t>
              </a:r>
            </a:p>
          </p:txBody>
        </p:sp>
        <p:sp>
          <p:nvSpPr>
            <p:cNvPr id="209" name="文本框 208"/>
            <p:cNvSpPr txBox="1"/>
            <p:nvPr/>
          </p:nvSpPr>
          <p:spPr>
            <a:xfrm rot="18900000">
              <a:off x="3473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E4</a:t>
              </a:r>
            </a:p>
          </p:txBody>
        </p:sp>
        <p:sp>
          <p:nvSpPr>
            <p:cNvPr id="210" name="文本框 209"/>
            <p:cNvSpPr txBox="1"/>
            <p:nvPr/>
          </p:nvSpPr>
          <p:spPr>
            <a:xfrm rot="18900000">
              <a:off x="3575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E5</a:t>
              </a:r>
            </a:p>
          </p:txBody>
        </p:sp>
        <p:sp>
          <p:nvSpPr>
            <p:cNvPr id="215" name="文本框 214"/>
            <p:cNvSpPr txBox="1"/>
            <p:nvPr/>
          </p:nvSpPr>
          <p:spPr>
            <a:xfrm rot="18900000">
              <a:off x="3677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E6</a:t>
              </a:r>
            </a:p>
          </p:txBody>
        </p:sp>
        <p:sp>
          <p:nvSpPr>
            <p:cNvPr id="231" name="文本框 230"/>
            <p:cNvSpPr txBox="1"/>
            <p:nvPr/>
          </p:nvSpPr>
          <p:spPr>
            <a:xfrm rot="18900000">
              <a:off x="3779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E7</a:t>
              </a:r>
            </a:p>
          </p:txBody>
        </p:sp>
        <p:sp>
          <p:nvSpPr>
            <p:cNvPr id="232" name="文本框 231"/>
            <p:cNvSpPr txBox="1"/>
            <p:nvPr/>
          </p:nvSpPr>
          <p:spPr>
            <a:xfrm rot="18900000">
              <a:off x="3881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E8</a:t>
              </a:r>
            </a:p>
          </p:txBody>
        </p:sp>
        <p:sp>
          <p:nvSpPr>
            <p:cNvPr id="247" name="文本框 246"/>
            <p:cNvSpPr txBox="1"/>
            <p:nvPr/>
          </p:nvSpPr>
          <p:spPr>
            <a:xfrm rot="18900000">
              <a:off x="3983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E9</a:t>
              </a:r>
            </a:p>
          </p:txBody>
        </p:sp>
        <p:sp>
          <p:nvSpPr>
            <p:cNvPr id="248" name="文本框 247"/>
            <p:cNvSpPr txBox="1"/>
            <p:nvPr/>
          </p:nvSpPr>
          <p:spPr>
            <a:xfrm rot="18900000">
              <a:off x="4085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E10</a:t>
              </a:r>
            </a:p>
          </p:txBody>
        </p:sp>
        <p:sp>
          <p:nvSpPr>
            <p:cNvPr id="249" name="文本框 248"/>
            <p:cNvSpPr txBox="1"/>
            <p:nvPr/>
          </p:nvSpPr>
          <p:spPr>
            <a:xfrm rot="18900000">
              <a:off x="4187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E11</a:t>
              </a:r>
            </a:p>
          </p:txBody>
        </p:sp>
        <p:sp>
          <p:nvSpPr>
            <p:cNvPr id="275" name="文本框 274"/>
            <p:cNvSpPr txBox="1"/>
            <p:nvPr/>
          </p:nvSpPr>
          <p:spPr>
            <a:xfrm rot="18900000">
              <a:off x="4289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E12</a:t>
              </a:r>
            </a:p>
          </p:txBody>
        </p:sp>
        <p:sp>
          <p:nvSpPr>
            <p:cNvPr id="276" name="文本框 275"/>
            <p:cNvSpPr txBox="1"/>
            <p:nvPr/>
          </p:nvSpPr>
          <p:spPr>
            <a:xfrm rot="18900000">
              <a:off x="4391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E13</a:t>
              </a:r>
            </a:p>
          </p:txBody>
        </p:sp>
        <p:sp>
          <p:nvSpPr>
            <p:cNvPr id="278" name="文本框 277"/>
            <p:cNvSpPr txBox="1"/>
            <p:nvPr/>
          </p:nvSpPr>
          <p:spPr>
            <a:xfrm rot="18900000">
              <a:off x="4493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E14</a:t>
              </a:r>
            </a:p>
          </p:txBody>
        </p:sp>
        <p:sp>
          <p:nvSpPr>
            <p:cNvPr id="279" name="文本框 278"/>
            <p:cNvSpPr txBox="1"/>
            <p:nvPr/>
          </p:nvSpPr>
          <p:spPr>
            <a:xfrm rot="18900000">
              <a:off x="4595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E15</a:t>
              </a:r>
            </a:p>
          </p:txBody>
        </p:sp>
        <p:sp>
          <p:nvSpPr>
            <p:cNvPr id="281" name="文本框 280"/>
            <p:cNvSpPr txBox="1"/>
            <p:nvPr/>
          </p:nvSpPr>
          <p:spPr>
            <a:xfrm rot="18900000">
              <a:off x="4697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E16</a:t>
              </a:r>
            </a:p>
          </p:txBody>
        </p:sp>
        <p:sp>
          <p:nvSpPr>
            <p:cNvPr id="293" name="文本框 292"/>
            <p:cNvSpPr txBox="1"/>
            <p:nvPr/>
          </p:nvSpPr>
          <p:spPr>
            <a:xfrm rot="18900000">
              <a:off x="4799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E17</a:t>
              </a:r>
            </a:p>
          </p:txBody>
        </p:sp>
        <p:sp>
          <p:nvSpPr>
            <p:cNvPr id="294" name="文本框 293"/>
            <p:cNvSpPr txBox="1"/>
            <p:nvPr/>
          </p:nvSpPr>
          <p:spPr>
            <a:xfrm rot="18900000">
              <a:off x="4901" y="12138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E18</a:t>
              </a:r>
            </a:p>
          </p:txBody>
        </p:sp>
        <p:sp>
          <p:nvSpPr>
            <p:cNvPr id="311" name="文本框 310"/>
            <p:cNvSpPr txBox="1"/>
            <p:nvPr/>
          </p:nvSpPr>
          <p:spPr>
            <a:xfrm rot="18900000">
              <a:off x="5003" y="12134"/>
              <a:ext cx="737" cy="5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E19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2EED8A77-BAB2-E0B8-DC5C-CACFB8AC90F7}"/>
              </a:ext>
            </a:extLst>
          </p:cNvPr>
          <p:cNvGrpSpPr/>
          <p:nvPr/>
        </p:nvGrpSpPr>
        <p:grpSpPr>
          <a:xfrm>
            <a:off x="173164" y="2451291"/>
            <a:ext cx="6902280" cy="1900760"/>
            <a:chOff x="173164" y="2451291"/>
            <a:chExt cx="6902280" cy="1900760"/>
          </a:xfrm>
        </p:grpSpPr>
        <p:grpSp>
          <p:nvGrpSpPr>
            <p:cNvPr id="5" name="组合 54">
              <a:extLst>
                <a:ext uri="{FF2B5EF4-FFF2-40B4-BE49-F238E27FC236}">
                  <a16:creationId xmlns:a16="http://schemas.microsoft.com/office/drawing/2014/main" id="{BBBC8D38-6471-92FB-A31C-2D2612D1EFAD}"/>
                </a:ext>
              </a:extLst>
            </p:cNvPr>
            <p:cNvGrpSpPr/>
            <p:nvPr/>
          </p:nvGrpSpPr>
          <p:grpSpPr>
            <a:xfrm>
              <a:off x="4585622" y="2463613"/>
              <a:ext cx="2272378" cy="1886589"/>
              <a:chOff x="7042" y="4045"/>
              <a:chExt cx="3607" cy="3062"/>
            </a:xfrm>
          </p:grpSpPr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95ED0B20-DC6B-EBBF-31B7-2C0CE7D828F1}"/>
                  </a:ext>
                </a:extLst>
              </p:cNvPr>
              <p:cNvGrpSpPr/>
              <p:nvPr/>
            </p:nvGrpSpPr>
            <p:grpSpPr>
              <a:xfrm>
                <a:off x="7155" y="4270"/>
                <a:ext cx="510" cy="2259"/>
                <a:chOff x="3590" y="4443"/>
                <a:chExt cx="510" cy="2259"/>
              </a:xfrm>
            </p:grpSpPr>
            <p:sp>
              <p:nvSpPr>
                <p:cNvPr id="45" name="文本框 37">
                  <a:extLst>
                    <a:ext uri="{FF2B5EF4-FFF2-40B4-BE49-F238E27FC236}">
                      <a16:creationId xmlns:a16="http://schemas.microsoft.com/office/drawing/2014/main" id="{D2D9FC81-DDB0-9870-B105-6BF42165802E}"/>
                    </a:ext>
                  </a:extLst>
                </p:cNvPr>
                <p:cNvSpPr txBox="1"/>
                <p:nvPr/>
              </p:nvSpPr>
              <p:spPr>
                <a:xfrm>
                  <a:off x="3590" y="4443"/>
                  <a:ext cx="510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0.84</a:t>
                  </a:r>
                </a:p>
              </p:txBody>
            </p:sp>
            <p:sp>
              <p:nvSpPr>
                <p:cNvPr id="46" name="文本框 38">
                  <a:extLst>
                    <a:ext uri="{FF2B5EF4-FFF2-40B4-BE49-F238E27FC236}">
                      <a16:creationId xmlns:a16="http://schemas.microsoft.com/office/drawing/2014/main" id="{7EE30D25-4406-857E-4F8B-6DFC2C59053D}"/>
                    </a:ext>
                  </a:extLst>
                </p:cNvPr>
                <p:cNvSpPr txBox="1"/>
                <p:nvPr/>
              </p:nvSpPr>
              <p:spPr>
                <a:xfrm>
                  <a:off x="3590" y="4797"/>
                  <a:ext cx="510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0.83</a:t>
                  </a:r>
                </a:p>
              </p:txBody>
            </p:sp>
            <p:sp>
              <p:nvSpPr>
                <p:cNvPr id="47" name="文本框 39">
                  <a:extLst>
                    <a:ext uri="{FF2B5EF4-FFF2-40B4-BE49-F238E27FC236}">
                      <a16:creationId xmlns:a16="http://schemas.microsoft.com/office/drawing/2014/main" id="{A45F560D-F42B-32AC-B432-668537236354}"/>
                    </a:ext>
                  </a:extLst>
                </p:cNvPr>
                <p:cNvSpPr txBox="1"/>
                <p:nvPr/>
              </p:nvSpPr>
              <p:spPr>
                <a:xfrm>
                  <a:off x="3590" y="5131"/>
                  <a:ext cx="510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0.82</a:t>
                  </a:r>
                </a:p>
              </p:txBody>
            </p:sp>
            <p:sp>
              <p:nvSpPr>
                <p:cNvPr id="48" name="文本框 40">
                  <a:extLst>
                    <a:ext uri="{FF2B5EF4-FFF2-40B4-BE49-F238E27FC236}">
                      <a16:creationId xmlns:a16="http://schemas.microsoft.com/office/drawing/2014/main" id="{9DADE354-89E5-05EE-B56A-0D570D15DE61}"/>
                    </a:ext>
                  </a:extLst>
                </p:cNvPr>
                <p:cNvSpPr txBox="1"/>
                <p:nvPr/>
              </p:nvSpPr>
              <p:spPr>
                <a:xfrm>
                  <a:off x="3590" y="6193"/>
                  <a:ext cx="510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0.79</a:t>
                  </a:r>
                </a:p>
              </p:txBody>
            </p:sp>
            <p:sp>
              <p:nvSpPr>
                <p:cNvPr id="49" name="文本框 41">
                  <a:extLst>
                    <a:ext uri="{FF2B5EF4-FFF2-40B4-BE49-F238E27FC236}">
                      <a16:creationId xmlns:a16="http://schemas.microsoft.com/office/drawing/2014/main" id="{9A304AB8-C146-87C6-1DA4-D46C58CF34FC}"/>
                    </a:ext>
                  </a:extLst>
                </p:cNvPr>
                <p:cNvSpPr txBox="1"/>
                <p:nvPr/>
              </p:nvSpPr>
              <p:spPr>
                <a:xfrm>
                  <a:off x="3590" y="5485"/>
                  <a:ext cx="510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0.81</a:t>
                  </a:r>
                </a:p>
              </p:txBody>
            </p:sp>
            <p:sp>
              <p:nvSpPr>
                <p:cNvPr id="50" name="文本框 42">
                  <a:extLst>
                    <a:ext uri="{FF2B5EF4-FFF2-40B4-BE49-F238E27FC236}">
                      <a16:creationId xmlns:a16="http://schemas.microsoft.com/office/drawing/2014/main" id="{5E2A00AC-FD23-D49B-DF52-059FF973241C}"/>
                    </a:ext>
                  </a:extLst>
                </p:cNvPr>
                <p:cNvSpPr txBox="1"/>
                <p:nvPr/>
              </p:nvSpPr>
              <p:spPr>
                <a:xfrm>
                  <a:off x="3590" y="5839"/>
                  <a:ext cx="510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0.80</a:t>
                  </a:r>
                </a:p>
              </p:txBody>
            </p:sp>
            <p:sp>
              <p:nvSpPr>
                <p:cNvPr id="51" name="文本框 43">
                  <a:extLst>
                    <a:ext uri="{FF2B5EF4-FFF2-40B4-BE49-F238E27FC236}">
                      <a16:creationId xmlns:a16="http://schemas.microsoft.com/office/drawing/2014/main" id="{85BB58FA-92E3-F301-37B0-8B1410ADB2DC}"/>
                    </a:ext>
                  </a:extLst>
                </p:cNvPr>
                <p:cNvSpPr txBox="1"/>
                <p:nvPr/>
              </p:nvSpPr>
              <p:spPr>
                <a:xfrm>
                  <a:off x="3590" y="6557"/>
                  <a:ext cx="510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0.78</a:t>
                  </a:r>
                </a:p>
              </p:txBody>
            </p:sp>
          </p:grpSp>
          <p:grpSp>
            <p:nvGrpSpPr>
              <p:cNvPr id="38" name="组合 7">
                <a:extLst>
                  <a:ext uri="{FF2B5EF4-FFF2-40B4-BE49-F238E27FC236}">
                    <a16:creationId xmlns:a16="http://schemas.microsoft.com/office/drawing/2014/main" id="{32A9A6F3-86D9-C743-A6B1-134A863BFB19}"/>
                  </a:ext>
                </a:extLst>
              </p:cNvPr>
              <p:cNvGrpSpPr/>
              <p:nvPr/>
            </p:nvGrpSpPr>
            <p:grpSpPr>
              <a:xfrm>
                <a:off x="7542" y="4188"/>
                <a:ext cx="3107" cy="2608"/>
                <a:chOff x="7542" y="4188"/>
                <a:chExt cx="3107" cy="2608"/>
              </a:xfrm>
            </p:grpSpPr>
            <p:pic>
              <p:nvPicPr>
                <p:cNvPr id="43" name="图片 5">
                  <a:extLst>
                    <a:ext uri="{FF2B5EF4-FFF2-40B4-BE49-F238E27FC236}">
                      <a16:creationId xmlns:a16="http://schemas.microsoft.com/office/drawing/2014/main" id="{FA6EEC3A-D150-288A-4EE5-2B7F5F42A4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t="4153"/>
                <a:stretch>
                  <a:fillRect/>
                </a:stretch>
              </p:blipFill>
              <p:spPr>
                <a:xfrm>
                  <a:off x="7542" y="4188"/>
                  <a:ext cx="3106" cy="2608"/>
                </a:xfrm>
                <a:prstGeom prst="rect">
                  <a:avLst/>
                </a:prstGeom>
              </p:spPr>
            </p:pic>
            <p:sp>
              <p:nvSpPr>
                <p:cNvPr id="44" name="矩形 6">
                  <a:extLst>
                    <a:ext uri="{FF2B5EF4-FFF2-40B4-BE49-F238E27FC236}">
                      <a16:creationId xmlns:a16="http://schemas.microsoft.com/office/drawing/2014/main" id="{807A975A-06F7-63BD-7FC8-0AB5C98AE9CD}"/>
                    </a:ext>
                  </a:extLst>
                </p:cNvPr>
                <p:cNvSpPr/>
                <p:nvPr/>
              </p:nvSpPr>
              <p:spPr>
                <a:xfrm>
                  <a:off x="10425" y="4750"/>
                  <a:ext cx="224" cy="29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39" name="文本框 9">
                <a:extLst>
                  <a:ext uri="{FF2B5EF4-FFF2-40B4-BE49-F238E27FC236}">
                    <a16:creationId xmlns:a16="http://schemas.microsoft.com/office/drawing/2014/main" id="{2A9D8390-5B94-9721-B253-7B81D60E7785}"/>
                  </a:ext>
                </a:extLst>
              </p:cNvPr>
              <p:cNvSpPr txBox="1"/>
              <p:nvPr/>
            </p:nvSpPr>
            <p:spPr>
              <a:xfrm>
                <a:off x="8210" y="4045"/>
                <a:ext cx="1677" cy="14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Participation </a:t>
                </a:r>
                <a:r>
                  <a:rPr lang="en-US" altLang="zh-CN" sz="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Coefficientns</a:t>
                </a:r>
                <a:endParaRPr lang="en-US" altLang="zh-CN" sz="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文本框 13">
                <a:extLst>
                  <a:ext uri="{FF2B5EF4-FFF2-40B4-BE49-F238E27FC236}">
                    <a16:creationId xmlns:a16="http://schemas.microsoft.com/office/drawing/2014/main" id="{73DC131A-0EA2-9FDF-7CA3-57258C385476}"/>
                  </a:ext>
                </a:extLst>
              </p:cNvPr>
              <p:cNvSpPr txBox="1"/>
              <p:nvPr/>
            </p:nvSpPr>
            <p:spPr>
              <a:xfrm rot="16200000">
                <a:off x="6289" y="5333"/>
                <a:ext cx="1752" cy="247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Participation Coefficientns</a:t>
                </a:r>
              </a:p>
            </p:txBody>
          </p:sp>
          <p:sp>
            <p:nvSpPr>
              <p:cNvPr id="41" name="文本框 16">
                <a:extLst>
                  <a:ext uri="{FF2B5EF4-FFF2-40B4-BE49-F238E27FC236}">
                    <a16:creationId xmlns:a16="http://schemas.microsoft.com/office/drawing/2014/main" id="{543E9B50-A7E8-70DB-DADA-4B9A1D6C61DA}"/>
                  </a:ext>
                </a:extLst>
              </p:cNvPr>
              <p:cNvSpPr txBox="1"/>
              <p:nvPr/>
            </p:nvSpPr>
            <p:spPr>
              <a:xfrm>
                <a:off x="7794" y="6824"/>
                <a:ext cx="1052" cy="28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</a:t>
                </a:r>
              </a:p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Efficency</a:t>
                </a:r>
              </a:p>
            </p:txBody>
          </p:sp>
          <p:sp>
            <p:nvSpPr>
              <p:cNvPr id="42" name="文本框 17">
                <a:extLst>
                  <a:ext uri="{FF2B5EF4-FFF2-40B4-BE49-F238E27FC236}">
                    <a16:creationId xmlns:a16="http://schemas.microsoft.com/office/drawing/2014/main" id="{3925961E-AFB8-78C5-AD43-B36CB77D7C2D}"/>
                  </a:ext>
                </a:extLst>
              </p:cNvPr>
              <p:cNvSpPr txBox="1"/>
              <p:nvPr/>
            </p:nvSpPr>
            <p:spPr>
              <a:xfrm>
                <a:off x="9425" y="6824"/>
                <a:ext cx="792" cy="28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</a:t>
                </a:r>
              </a:p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Efficency</a:t>
                </a:r>
              </a:p>
            </p:txBody>
          </p:sp>
        </p:grpSp>
        <p:grpSp>
          <p:nvGrpSpPr>
            <p:cNvPr id="6" name="组合 52">
              <a:extLst>
                <a:ext uri="{FF2B5EF4-FFF2-40B4-BE49-F238E27FC236}">
                  <a16:creationId xmlns:a16="http://schemas.microsoft.com/office/drawing/2014/main" id="{F98BC6FB-FF6D-C89A-31F2-EA92EB62F23A}"/>
                </a:ext>
              </a:extLst>
            </p:cNvPr>
            <p:cNvGrpSpPr/>
            <p:nvPr/>
          </p:nvGrpSpPr>
          <p:grpSpPr>
            <a:xfrm>
              <a:off x="173164" y="2451291"/>
              <a:ext cx="2267968" cy="1900760"/>
              <a:chOff x="38" y="4009"/>
              <a:chExt cx="3600" cy="3085"/>
            </a:xfrm>
          </p:grpSpPr>
          <p:pic>
            <p:nvPicPr>
              <p:cNvPr id="25" name="图片 3">
                <a:extLst>
                  <a:ext uri="{FF2B5EF4-FFF2-40B4-BE49-F238E27FC236}">
                    <a16:creationId xmlns:a16="http://schemas.microsoft.com/office/drawing/2014/main" id="{231A5285-1566-5A9B-AE85-13FD9DCC05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478" t="5025"/>
              <a:stretch>
                <a:fillRect/>
              </a:stretch>
            </p:blipFill>
            <p:spPr>
              <a:xfrm>
                <a:off x="512" y="4188"/>
                <a:ext cx="3126" cy="2608"/>
              </a:xfrm>
              <a:prstGeom prst="rect">
                <a:avLst/>
              </a:prstGeom>
            </p:spPr>
          </p:pic>
          <p:sp>
            <p:nvSpPr>
              <p:cNvPr id="26" name="文本框 279">
                <a:extLst>
                  <a:ext uri="{FF2B5EF4-FFF2-40B4-BE49-F238E27FC236}">
                    <a16:creationId xmlns:a16="http://schemas.microsoft.com/office/drawing/2014/main" id="{F25DE55B-61EC-1336-934D-91B41A2EA73A}"/>
                  </a:ext>
                </a:extLst>
              </p:cNvPr>
              <p:cNvSpPr txBox="1"/>
              <p:nvPr/>
            </p:nvSpPr>
            <p:spPr>
              <a:xfrm>
                <a:off x="1222" y="4009"/>
                <a:ext cx="1677" cy="14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Modularity Index(Q)</a:t>
                </a:r>
              </a:p>
            </p:txBody>
          </p:sp>
          <p:sp>
            <p:nvSpPr>
              <p:cNvPr id="27" name="文本框 11">
                <a:extLst>
                  <a:ext uri="{FF2B5EF4-FFF2-40B4-BE49-F238E27FC236}">
                    <a16:creationId xmlns:a16="http://schemas.microsoft.com/office/drawing/2014/main" id="{57348A43-CC6D-4734-3533-003EC4E343E3}"/>
                  </a:ext>
                </a:extLst>
              </p:cNvPr>
              <p:cNvSpPr txBox="1"/>
              <p:nvPr/>
            </p:nvSpPr>
            <p:spPr>
              <a:xfrm rot="16200000">
                <a:off x="-728" y="5406"/>
                <a:ext cx="1677" cy="14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Modularity Index(Q)</a:t>
                </a:r>
              </a:p>
            </p:txBody>
          </p:sp>
          <p:sp>
            <p:nvSpPr>
              <p:cNvPr id="28" name="文本框 23">
                <a:extLst>
                  <a:ext uri="{FF2B5EF4-FFF2-40B4-BE49-F238E27FC236}">
                    <a16:creationId xmlns:a16="http://schemas.microsoft.com/office/drawing/2014/main" id="{0A202ADF-A6F6-F87E-4865-519844ECE77E}"/>
                  </a:ext>
                </a:extLst>
              </p:cNvPr>
              <p:cNvSpPr txBox="1"/>
              <p:nvPr/>
            </p:nvSpPr>
            <p:spPr>
              <a:xfrm>
                <a:off x="754" y="6808"/>
                <a:ext cx="1052" cy="28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</a:t>
                </a:r>
              </a:p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Efficency</a:t>
                </a:r>
              </a:p>
            </p:txBody>
          </p:sp>
          <p:sp>
            <p:nvSpPr>
              <p:cNvPr id="29" name="文本框 24">
                <a:extLst>
                  <a:ext uri="{FF2B5EF4-FFF2-40B4-BE49-F238E27FC236}">
                    <a16:creationId xmlns:a16="http://schemas.microsoft.com/office/drawing/2014/main" id="{5C301D1D-E522-CD6E-716C-3DA0CEF1DA79}"/>
                  </a:ext>
                </a:extLst>
              </p:cNvPr>
              <p:cNvSpPr txBox="1"/>
              <p:nvPr/>
            </p:nvSpPr>
            <p:spPr>
              <a:xfrm>
                <a:off x="2395" y="6811"/>
                <a:ext cx="792" cy="28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</a:t>
                </a:r>
              </a:p>
              <a:p>
                <a:pPr algn="ctr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Efficency</a:t>
                </a:r>
              </a:p>
            </p:txBody>
          </p:sp>
          <p:grpSp>
            <p:nvGrpSpPr>
              <p:cNvPr id="30" name="组合 22">
                <a:extLst>
                  <a:ext uri="{FF2B5EF4-FFF2-40B4-BE49-F238E27FC236}">
                    <a16:creationId xmlns:a16="http://schemas.microsoft.com/office/drawing/2014/main" id="{055B8F56-0833-D822-36D0-E1C479A8E235}"/>
                  </a:ext>
                </a:extLst>
              </p:cNvPr>
              <p:cNvGrpSpPr/>
              <p:nvPr/>
            </p:nvGrpSpPr>
            <p:grpSpPr>
              <a:xfrm>
                <a:off x="80" y="4413"/>
                <a:ext cx="566" cy="2144"/>
                <a:chOff x="80" y="4413"/>
                <a:chExt cx="566" cy="2144"/>
              </a:xfrm>
            </p:grpSpPr>
            <p:sp>
              <p:nvSpPr>
                <p:cNvPr id="32" name="文本框 28">
                  <a:extLst>
                    <a:ext uri="{FF2B5EF4-FFF2-40B4-BE49-F238E27FC236}">
                      <a16:creationId xmlns:a16="http://schemas.microsoft.com/office/drawing/2014/main" id="{EFA1C8FA-6E26-45BC-2055-0A999EA6E378}"/>
                    </a:ext>
                  </a:extLst>
                </p:cNvPr>
                <p:cNvSpPr txBox="1"/>
                <p:nvPr/>
              </p:nvSpPr>
              <p:spPr>
                <a:xfrm>
                  <a:off x="80" y="4413"/>
                  <a:ext cx="567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0.095</a:t>
                  </a:r>
                </a:p>
              </p:txBody>
            </p:sp>
            <p:sp>
              <p:nvSpPr>
                <p:cNvPr id="33" name="文本框 18">
                  <a:extLst>
                    <a:ext uri="{FF2B5EF4-FFF2-40B4-BE49-F238E27FC236}">
                      <a16:creationId xmlns:a16="http://schemas.microsoft.com/office/drawing/2014/main" id="{8C93BF35-0D55-2EF0-B8E9-7E28BEB5B001}"/>
                    </a:ext>
                  </a:extLst>
                </p:cNvPr>
                <p:cNvSpPr txBox="1"/>
                <p:nvPr/>
              </p:nvSpPr>
              <p:spPr>
                <a:xfrm>
                  <a:off x="80" y="4913"/>
                  <a:ext cx="567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0.090</a:t>
                  </a:r>
                </a:p>
              </p:txBody>
            </p:sp>
            <p:sp>
              <p:nvSpPr>
                <p:cNvPr id="34" name="文本框 19">
                  <a:extLst>
                    <a:ext uri="{FF2B5EF4-FFF2-40B4-BE49-F238E27FC236}">
                      <a16:creationId xmlns:a16="http://schemas.microsoft.com/office/drawing/2014/main" id="{E3976869-F9F2-8966-C6AF-236F504597F5}"/>
                    </a:ext>
                  </a:extLst>
                </p:cNvPr>
                <p:cNvSpPr txBox="1"/>
                <p:nvPr/>
              </p:nvSpPr>
              <p:spPr>
                <a:xfrm>
                  <a:off x="80" y="5413"/>
                  <a:ext cx="567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0.085</a:t>
                  </a:r>
                </a:p>
              </p:txBody>
            </p:sp>
            <p:sp>
              <p:nvSpPr>
                <p:cNvPr id="35" name="文本框 20">
                  <a:extLst>
                    <a:ext uri="{FF2B5EF4-FFF2-40B4-BE49-F238E27FC236}">
                      <a16:creationId xmlns:a16="http://schemas.microsoft.com/office/drawing/2014/main" id="{B0FF8431-727C-D437-47EB-B2CCCA8B49BB}"/>
                    </a:ext>
                  </a:extLst>
                </p:cNvPr>
                <p:cNvSpPr txBox="1"/>
                <p:nvPr/>
              </p:nvSpPr>
              <p:spPr>
                <a:xfrm>
                  <a:off x="80" y="5913"/>
                  <a:ext cx="567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0.080</a:t>
                  </a:r>
                </a:p>
              </p:txBody>
            </p:sp>
            <p:sp>
              <p:nvSpPr>
                <p:cNvPr id="36" name="文本框 21">
                  <a:extLst>
                    <a:ext uri="{FF2B5EF4-FFF2-40B4-BE49-F238E27FC236}">
                      <a16:creationId xmlns:a16="http://schemas.microsoft.com/office/drawing/2014/main" id="{4557F7BF-C9ED-4E14-D446-050A90B58AD5}"/>
                    </a:ext>
                  </a:extLst>
                </p:cNvPr>
                <p:cNvSpPr txBox="1"/>
                <p:nvPr/>
              </p:nvSpPr>
              <p:spPr>
                <a:xfrm>
                  <a:off x="80" y="6413"/>
                  <a:ext cx="567" cy="145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Autofit/>
                </a:bodyPr>
                <a:lstStyle/>
                <a:p>
                  <a:pPr algn="ctr"/>
                  <a:r>
                    <a:rPr lang="en-US" altLang="zh-CN" sz="6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0.075</a:t>
                  </a:r>
                </a:p>
              </p:txBody>
            </p:sp>
          </p:grpSp>
        </p:grpSp>
        <p:grpSp>
          <p:nvGrpSpPr>
            <p:cNvPr id="8" name="组合 35">
              <a:extLst>
                <a:ext uri="{FF2B5EF4-FFF2-40B4-BE49-F238E27FC236}">
                  <a16:creationId xmlns:a16="http://schemas.microsoft.com/office/drawing/2014/main" id="{A8EBE695-D33C-68DB-AC84-2C955007A00F}"/>
                </a:ext>
              </a:extLst>
            </p:cNvPr>
            <p:cNvGrpSpPr/>
            <p:nvPr/>
          </p:nvGrpSpPr>
          <p:grpSpPr>
            <a:xfrm>
              <a:off x="2448692" y="2696510"/>
              <a:ext cx="321295" cy="1483641"/>
              <a:chOff x="3590" y="4423"/>
              <a:chExt cx="510" cy="2408"/>
            </a:xfrm>
          </p:grpSpPr>
          <p:sp>
            <p:nvSpPr>
              <p:cNvPr id="18" name="文本框 27">
                <a:extLst>
                  <a:ext uri="{FF2B5EF4-FFF2-40B4-BE49-F238E27FC236}">
                    <a16:creationId xmlns:a16="http://schemas.microsoft.com/office/drawing/2014/main" id="{3A48430F-CE76-6C9C-FCD4-299C62A440FB}"/>
                  </a:ext>
                </a:extLst>
              </p:cNvPr>
              <p:cNvSpPr txBox="1"/>
              <p:nvPr/>
            </p:nvSpPr>
            <p:spPr>
              <a:xfrm>
                <a:off x="3590" y="4423"/>
                <a:ext cx="510" cy="14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0.31</a:t>
                </a:r>
              </a:p>
            </p:txBody>
          </p:sp>
          <p:sp>
            <p:nvSpPr>
              <p:cNvPr id="19" name="文本框 29">
                <a:extLst>
                  <a:ext uri="{FF2B5EF4-FFF2-40B4-BE49-F238E27FC236}">
                    <a16:creationId xmlns:a16="http://schemas.microsoft.com/office/drawing/2014/main" id="{2E822333-EFE8-D843-5234-80F2F9C49559}"/>
                  </a:ext>
                </a:extLst>
              </p:cNvPr>
              <p:cNvSpPr txBox="1"/>
              <p:nvPr/>
            </p:nvSpPr>
            <p:spPr>
              <a:xfrm>
                <a:off x="3590" y="4797"/>
                <a:ext cx="510" cy="14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0.30</a:t>
                </a:r>
              </a:p>
            </p:txBody>
          </p:sp>
          <p:sp>
            <p:nvSpPr>
              <p:cNvPr id="20" name="文本框 30">
                <a:extLst>
                  <a:ext uri="{FF2B5EF4-FFF2-40B4-BE49-F238E27FC236}">
                    <a16:creationId xmlns:a16="http://schemas.microsoft.com/office/drawing/2014/main" id="{A51A2731-44DD-134A-3905-9697E90DE973}"/>
                  </a:ext>
                </a:extLst>
              </p:cNvPr>
              <p:cNvSpPr txBox="1"/>
              <p:nvPr/>
            </p:nvSpPr>
            <p:spPr>
              <a:xfrm>
                <a:off x="3590" y="5171"/>
                <a:ext cx="510" cy="14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0.29</a:t>
                </a:r>
              </a:p>
            </p:txBody>
          </p:sp>
          <p:sp>
            <p:nvSpPr>
              <p:cNvPr id="21" name="文本框 31">
                <a:extLst>
                  <a:ext uri="{FF2B5EF4-FFF2-40B4-BE49-F238E27FC236}">
                    <a16:creationId xmlns:a16="http://schemas.microsoft.com/office/drawing/2014/main" id="{AED2E793-D7CD-CFFA-8E51-EE15189F03FC}"/>
                  </a:ext>
                </a:extLst>
              </p:cNvPr>
              <p:cNvSpPr txBox="1"/>
              <p:nvPr/>
            </p:nvSpPr>
            <p:spPr>
              <a:xfrm>
                <a:off x="3590" y="6313"/>
                <a:ext cx="510" cy="14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0.26</a:t>
                </a:r>
              </a:p>
            </p:txBody>
          </p:sp>
          <p:sp>
            <p:nvSpPr>
              <p:cNvPr id="22" name="文本框 32">
                <a:extLst>
                  <a:ext uri="{FF2B5EF4-FFF2-40B4-BE49-F238E27FC236}">
                    <a16:creationId xmlns:a16="http://schemas.microsoft.com/office/drawing/2014/main" id="{74CFCA76-FB38-88B8-313F-D895E0EB6D68}"/>
                  </a:ext>
                </a:extLst>
              </p:cNvPr>
              <p:cNvSpPr txBox="1"/>
              <p:nvPr/>
            </p:nvSpPr>
            <p:spPr>
              <a:xfrm>
                <a:off x="3590" y="5565"/>
                <a:ext cx="510" cy="14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0.28</a:t>
                </a:r>
              </a:p>
            </p:txBody>
          </p:sp>
          <p:sp>
            <p:nvSpPr>
              <p:cNvPr id="23" name="文本框 33">
                <a:extLst>
                  <a:ext uri="{FF2B5EF4-FFF2-40B4-BE49-F238E27FC236}">
                    <a16:creationId xmlns:a16="http://schemas.microsoft.com/office/drawing/2014/main" id="{B1DFD509-68EE-3D3D-869C-F5ED5B89BE0B}"/>
                  </a:ext>
                </a:extLst>
              </p:cNvPr>
              <p:cNvSpPr txBox="1"/>
              <p:nvPr/>
            </p:nvSpPr>
            <p:spPr>
              <a:xfrm>
                <a:off x="3590" y="5939"/>
                <a:ext cx="510" cy="14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0.27</a:t>
                </a:r>
              </a:p>
            </p:txBody>
          </p:sp>
          <p:sp>
            <p:nvSpPr>
              <p:cNvPr id="24" name="文本框 34">
                <a:extLst>
                  <a:ext uri="{FF2B5EF4-FFF2-40B4-BE49-F238E27FC236}">
                    <a16:creationId xmlns:a16="http://schemas.microsoft.com/office/drawing/2014/main" id="{D1B270FB-DFEF-0D66-A025-DC609CA0192D}"/>
                  </a:ext>
                </a:extLst>
              </p:cNvPr>
              <p:cNvSpPr txBox="1"/>
              <p:nvPr/>
            </p:nvSpPr>
            <p:spPr>
              <a:xfrm>
                <a:off x="3590" y="6687"/>
                <a:ext cx="510" cy="145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ctr"/>
                <a:r>
                  <a:rPr lang="en-US" altLang="zh-CN" sz="6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0.25</a:t>
                </a:r>
              </a:p>
            </p:txBody>
          </p:sp>
        </p:grpSp>
        <p:pic>
          <p:nvPicPr>
            <p:cNvPr id="9" name="图片 4">
              <a:extLst>
                <a:ext uri="{FF2B5EF4-FFF2-40B4-BE49-F238E27FC236}">
                  <a16:creationId xmlns:a16="http://schemas.microsoft.com/office/drawing/2014/main" id="{F01463F0-F2EB-F689-1CE6-070F8BF0497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78639" y="2551720"/>
              <a:ext cx="1925253" cy="1606867"/>
            </a:xfrm>
            <a:prstGeom prst="rect">
              <a:avLst/>
            </a:prstGeom>
          </p:spPr>
        </p:pic>
        <p:sp>
          <p:nvSpPr>
            <p:cNvPr id="10" name="文本框 8">
              <a:extLst>
                <a:ext uri="{FF2B5EF4-FFF2-40B4-BE49-F238E27FC236}">
                  <a16:creationId xmlns:a16="http://schemas.microsoft.com/office/drawing/2014/main" id="{95254320-F80D-3AD4-7C08-96E89B914D16}"/>
                </a:ext>
              </a:extLst>
            </p:cNvPr>
            <p:cNvSpPr txBox="1"/>
            <p:nvPr/>
          </p:nvSpPr>
          <p:spPr>
            <a:xfrm>
              <a:off x="3112703" y="2463613"/>
              <a:ext cx="1056495" cy="89339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Network Segregation</a:t>
              </a:r>
            </a:p>
          </p:txBody>
        </p:sp>
        <p:sp>
          <p:nvSpPr>
            <p:cNvPr id="11" name="文本框 12">
              <a:extLst>
                <a:ext uri="{FF2B5EF4-FFF2-40B4-BE49-F238E27FC236}">
                  <a16:creationId xmlns:a16="http://schemas.microsoft.com/office/drawing/2014/main" id="{965483FB-A8A5-3E36-6CDF-37DBFA368A7C}"/>
                </a:ext>
              </a:extLst>
            </p:cNvPr>
            <p:cNvSpPr txBox="1"/>
            <p:nvPr/>
          </p:nvSpPr>
          <p:spPr>
            <a:xfrm rot="16200000">
              <a:off x="1914743" y="3247390"/>
              <a:ext cx="1033250" cy="218607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Network Segregation</a:t>
              </a:r>
            </a:p>
          </p:txBody>
        </p:sp>
        <p:sp>
          <p:nvSpPr>
            <p:cNvPr id="12" name="文本框 14">
              <a:extLst>
                <a:ext uri="{FF2B5EF4-FFF2-40B4-BE49-F238E27FC236}">
                  <a16:creationId xmlns:a16="http://schemas.microsoft.com/office/drawing/2014/main" id="{1D817E8F-A6EF-4F6E-11F1-F85E94D2623A}"/>
                </a:ext>
              </a:extLst>
            </p:cNvPr>
            <p:cNvSpPr txBox="1"/>
            <p:nvPr/>
          </p:nvSpPr>
          <p:spPr>
            <a:xfrm>
              <a:off x="2841807" y="4175838"/>
              <a:ext cx="662751" cy="17436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High</a:t>
              </a:r>
            </a:p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Efficency</a:t>
              </a:r>
            </a:p>
          </p:txBody>
        </p:sp>
        <p:sp>
          <p:nvSpPr>
            <p:cNvPr id="13" name="文本框 15">
              <a:extLst>
                <a:ext uri="{FF2B5EF4-FFF2-40B4-BE49-F238E27FC236}">
                  <a16:creationId xmlns:a16="http://schemas.microsoft.com/office/drawing/2014/main" id="{2C669A64-5395-E6D8-F3AC-7FD29D4604FD}"/>
                </a:ext>
              </a:extLst>
            </p:cNvPr>
            <p:cNvSpPr txBox="1"/>
            <p:nvPr/>
          </p:nvSpPr>
          <p:spPr>
            <a:xfrm>
              <a:off x="3875622" y="4175838"/>
              <a:ext cx="498953" cy="174365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Low</a:t>
              </a:r>
            </a:p>
            <a:p>
              <a:pPr algn="ctr"/>
              <a:r>
                <a:rPr lang="en-US" altLang="zh-CN" sz="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Efficency</a:t>
              </a:r>
            </a:p>
          </p:txBody>
        </p:sp>
        <p:grpSp>
          <p:nvGrpSpPr>
            <p:cNvPr id="14" name="组合 48">
              <a:extLst>
                <a:ext uri="{FF2B5EF4-FFF2-40B4-BE49-F238E27FC236}">
                  <a16:creationId xmlns:a16="http://schemas.microsoft.com/office/drawing/2014/main" id="{E513A64A-A2D8-DB3B-F314-478647138CF0}"/>
                </a:ext>
              </a:extLst>
            </p:cNvPr>
            <p:cNvGrpSpPr/>
            <p:nvPr/>
          </p:nvGrpSpPr>
          <p:grpSpPr>
            <a:xfrm>
              <a:off x="6265905" y="2463613"/>
              <a:ext cx="809539" cy="193465"/>
              <a:chOff x="6496" y="3891"/>
              <a:chExt cx="1285" cy="314"/>
            </a:xfrm>
          </p:grpSpPr>
          <p:pic>
            <p:nvPicPr>
              <p:cNvPr id="15" name="图片 45">
                <a:extLst>
                  <a:ext uri="{FF2B5EF4-FFF2-40B4-BE49-F238E27FC236}">
                    <a16:creationId xmlns:a16="http://schemas.microsoft.com/office/drawing/2014/main" id="{75D88C69-5BC9-A8E2-181A-C8650B6378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 rot="10800000" flipH="1" flipV="1">
                <a:off x="6496" y="3906"/>
                <a:ext cx="336" cy="277"/>
              </a:xfrm>
              <a:prstGeom prst="rect">
                <a:avLst/>
              </a:prstGeom>
            </p:spPr>
          </p:pic>
          <p:sp>
            <p:nvSpPr>
              <p:cNvPr id="16" name="文本框 46">
                <a:extLst>
                  <a:ext uri="{FF2B5EF4-FFF2-40B4-BE49-F238E27FC236}">
                    <a16:creationId xmlns:a16="http://schemas.microsoft.com/office/drawing/2014/main" id="{59897003-66E7-20FB-12FF-40DABAC6AA1C}"/>
                  </a:ext>
                </a:extLst>
              </p:cNvPr>
              <p:cNvSpPr txBox="1"/>
              <p:nvPr/>
            </p:nvSpPr>
            <p:spPr>
              <a:xfrm>
                <a:off x="6696" y="3891"/>
                <a:ext cx="1077" cy="17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l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 Efficency</a:t>
                </a:r>
              </a:p>
            </p:txBody>
          </p:sp>
          <p:sp>
            <p:nvSpPr>
              <p:cNvPr id="17" name="文本框 47">
                <a:extLst>
                  <a:ext uri="{FF2B5EF4-FFF2-40B4-BE49-F238E27FC236}">
                    <a16:creationId xmlns:a16="http://schemas.microsoft.com/office/drawing/2014/main" id="{60B24932-F39D-7862-158F-625DC6AE2DAC}"/>
                  </a:ext>
                </a:extLst>
              </p:cNvPr>
              <p:cNvSpPr txBox="1"/>
              <p:nvPr/>
            </p:nvSpPr>
            <p:spPr>
              <a:xfrm>
                <a:off x="6704" y="4035"/>
                <a:ext cx="1077" cy="170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l"/>
                <a:r>
                  <a:rPr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 Efficency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9043947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</TotalTime>
  <Words>1150</Words>
  <Application>Microsoft Macintosh PowerPoint</Application>
  <PresentationFormat>A4 Paper (210x297 mm)</PresentationFormat>
  <Paragraphs>719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Xiaoyan Li</cp:lastModifiedBy>
  <cp:revision>197</cp:revision>
  <dcterms:created xsi:type="dcterms:W3CDTF">2019-06-19T02:08:00Z</dcterms:created>
  <dcterms:modified xsi:type="dcterms:W3CDTF">2026-01-27T15:33:56Z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A0999B3E97274925B940A7C518D34E0B_13</vt:lpwstr>
  </property>
</Properties>
</file>